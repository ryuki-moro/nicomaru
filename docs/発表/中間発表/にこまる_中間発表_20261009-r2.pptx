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9d382bfa034866" /><Relationship Type="http://schemas.openxmlformats.org/officeDocument/2006/relationships/extended-properties" Target="/docProps/app.xml" Id="Rd0c9f1a8968a4d2c" /><Relationship Type="http://schemas.openxmlformats.org/officeDocument/2006/relationships/officeDocument" Target="/ppt/presentation.xml" Id="Rdfde42d12baf413e" /></Relationships>
</file>

<file path=ppt/presentation.xml><?xml version="1.0" encoding="utf-8"?>
<p:presentation xmlns:p="http://schemas.openxmlformats.org/presentationml/2006/main">
  <p:sldMasterIdLst>
    <p:sldMasterId xmlns:r="http://schemas.openxmlformats.org/officeDocument/2006/relationships" id="2147483648" r:id="R02366cbab06f480a"/>
  </p:sldMasterIdLst>
  <p:notesMasterIdLst>
    <p:notesMasterId xmlns:r="http://schemas.openxmlformats.org/officeDocument/2006/relationships" r:id="R2884cbd33b3e48b9"/>
  </p:notesMasterIdLst>
  <p:sldIdLst>
    <p:sldId xmlns:r="http://schemas.openxmlformats.org/officeDocument/2006/relationships" id="256" r:id="Re38b12e03a844842"/>
    <p:sldId xmlns:r="http://schemas.openxmlformats.org/officeDocument/2006/relationships" id="257" r:id="R53c539f46b2c4fa3"/>
    <p:sldId xmlns:r="http://schemas.openxmlformats.org/officeDocument/2006/relationships" id="258" r:id="R5628d0d2b4f64487"/>
    <p:sldId xmlns:r="http://schemas.openxmlformats.org/officeDocument/2006/relationships" id="259" r:id="R6aecfdbbbef34cb7"/>
    <p:sldId xmlns:r="http://schemas.openxmlformats.org/officeDocument/2006/relationships" id="260" r:id="Rd57af46a9c384cfb"/>
    <p:sldId xmlns:r="http://schemas.openxmlformats.org/officeDocument/2006/relationships" id="261" r:id="Rb199f68424cf4ce1"/>
    <p:sldId xmlns:r="http://schemas.openxmlformats.org/officeDocument/2006/relationships" id="262" r:id="Rf298cd4510774120"/>
    <p:sldId xmlns:r="http://schemas.openxmlformats.org/officeDocument/2006/relationships" id="263" r:id="R8c216a9a253a4d27"/>
    <p:sldId xmlns:r="http://schemas.openxmlformats.org/officeDocument/2006/relationships" id="264" r:id="R7acfd8b27b454be3"/>
    <p:sldId xmlns:r="http://schemas.openxmlformats.org/officeDocument/2006/relationships" id="265" r:id="R51c479298c8145da"/>
    <p:sldId xmlns:r="http://schemas.openxmlformats.org/officeDocument/2006/relationships" id="266" r:id="R6a9257684b744178"/>
    <p:sldId xmlns:r="http://schemas.openxmlformats.org/officeDocument/2006/relationships" id="267" r:id="R17c9566c1d8c46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9b885e29814ef9" /><Relationship Type="http://schemas.openxmlformats.org/officeDocument/2006/relationships/slideMaster" Target="/ppt/slideMasters/slideMaster1.xml" Id="R02366cbab06f480a" /><Relationship Type="http://schemas.openxmlformats.org/officeDocument/2006/relationships/notesMaster" Target="/ppt/notesMasters/notesMaster1.xml" Id="R2884cbd33b3e48b9" /><Relationship Type="http://schemas.openxmlformats.org/officeDocument/2006/relationships/presProps" Target="/ppt/presProps.xml" Id="Rfd778538504b4375" /><Relationship Type="http://schemas.openxmlformats.org/officeDocument/2006/relationships/tableStyles" Target="/ppt/tableStyles.xml" Id="Rcde905553d704d2d" /><Relationship Type="http://schemas.openxmlformats.org/officeDocument/2006/relationships/slide" Target="/ppt/slides/slide1.xml" Id="Re38b12e03a844842" /><Relationship Type="http://schemas.openxmlformats.org/officeDocument/2006/relationships/slide" Target="/ppt/slides/slide2.xml" Id="R53c539f46b2c4fa3" /><Relationship Type="http://schemas.openxmlformats.org/officeDocument/2006/relationships/slide" Target="/ppt/slides/slide3.xml" Id="R5628d0d2b4f64487" /><Relationship Type="http://schemas.openxmlformats.org/officeDocument/2006/relationships/slide" Target="/ppt/slides/slide4.xml" Id="R6aecfdbbbef34cb7" /><Relationship Type="http://schemas.openxmlformats.org/officeDocument/2006/relationships/slide" Target="/ppt/slides/slide5.xml" Id="Rd57af46a9c384cfb" /><Relationship Type="http://schemas.openxmlformats.org/officeDocument/2006/relationships/slide" Target="/ppt/slides/slide6.xml" Id="Rb199f68424cf4ce1" /><Relationship Type="http://schemas.openxmlformats.org/officeDocument/2006/relationships/slide" Target="/ppt/slides/slide7.xml" Id="Rf298cd4510774120" /><Relationship Type="http://schemas.openxmlformats.org/officeDocument/2006/relationships/slide" Target="/ppt/slides/slide8.xml" Id="R8c216a9a253a4d27" /><Relationship Type="http://schemas.openxmlformats.org/officeDocument/2006/relationships/slide" Target="/ppt/slides/slide9.xml" Id="R7acfd8b27b454be3" /><Relationship Type="http://schemas.openxmlformats.org/officeDocument/2006/relationships/slide" Target="/ppt/slides/slide10.xml" Id="R51c479298c8145da" /><Relationship Type="http://schemas.openxmlformats.org/officeDocument/2006/relationships/slide" Target="/ppt/slides/slide11.xml" Id="R6a9257684b744178" /><Relationship Type="http://schemas.openxmlformats.org/officeDocument/2006/relationships/slide" Target="/ppt/slides/slide12.xml" Id="R17c9566c1d8c46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162ce9f7c04f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56ea968491449e" /><Relationship Type="http://schemas.openxmlformats.org/officeDocument/2006/relationships/notesMaster" Target="/ppt/notesMasters/notesMaster1.xml" Id="R973619d5bc9940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57269c2e2f477e" /><Relationship Type="http://schemas.openxmlformats.org/officeDocument/2006/relationships/notesMaster" Target="/ppt/notesMasters/notesMaster1.xml" Id="R002e8bee3b3249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d3555851c542b2" /><Relationship Type="http://schemas.openxmlformats.org/officeDocument/2006/relationships/notesMaster" Target="/ppt/notesMasters/notesMaster1.xml" Id="Ra8551df6450548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8314fe60794d47" /><Relationship Type="http://schemas.openxmlformats.org/officeDocument/2006/relationships/notesMaster" Target="/ppt/notesMasters/notesMaster1.xml" Id="R69eebeb2e14740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a0b46677094eb4" /><Relationship Type="http://schemas.openxmlformats.org/officeDocument/2006/relationships/notesMaster" Target="/ppt/notesMasters/notesMaster1.xml" Id="R5c81596a5ee34d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bc5337cae2438f" /><Relationship Type="http://schemas.openxmlformats.org/officeDocument/2006/relationships/notesMaster" Target="/ppt/notesMasters/notesMaster1.xml" Id="Rc96eb03eba5f40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01a19706334989" /><Relationship Type="http://schemas.openxmlformats.org/officeDocument/2006/relationships/notesMaster" Target="/ppt/notesMasters/notesMaster1.xml" Id="R7c6fff86df8f43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e1be4637834c67" /><Relationship Type="http://schemas.openxmlformats.org/officeDocument/2006/relationships/notesMaster" Target="/ppt/notesMasters/notesMaster1.xml" Id="R9101ee70b42d42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838c34ca874baa" /><Relationship Type="http://schemas.openxmlformats.org/officeDocument/2006/relationships/notesMaster" Target="/ppt/notesMasters/notesMaster1.xml" Id="R1d87968b852d47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d89c33255f4a6f" /><Relationship Type="http://schemas.openxmlformats.org/officeDocument/2006/relationships/notesMaster" Target="/ppt/notesMasters/notesMaster1.xml" Id="Rd594a4da25b14f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f7bfd087624ae9" /><Relationship Type="http://schemas.openxmlformats.org/officeDocument/2006/relationships/notesMaster" Target="/ppt/notesMasters/notesMaster1.xml" Id="R42bfa510287942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4691576c7f4644" /><Relationship Type="http://schemas.openxmlformats.org/officeDocument/2006/relationships/notesMaster" Target="/ppt/notesMasters/notesMaster1.xml" Id="R2ab292031e1440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婚式準備の進行管理アプリ「にこまる」の中間発表です。新郎新婦の提出物と、プランナーによる確認を同じ場所で扱います。本日は、解決したい課題、実装した流れ、検証の状況と今後の学校発表までの進め方を説明します。</a:t>
            </a:r>
          </a:p>
          <a:p xmlns:a="http://schemas.openxmlformats.org/drawingml/2006/main">
            <a:r>
              <a:t/>
            </a:r>
          </a:p>
          <a:p xmlns:a="http://schemas.openxmlformats.org/drawingml/2006/main">
            <a:r>
              <a:t>出典: docs/にこまる_要件定義書_完成版.docx、docs/学校制作スケジュール.md</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要件で扱う課題は、期限と提出内容が分散し、何が未提出なのか、確認待ちなのかを把握しにくいことです。そこで、案件ごとの宿題、提出物、確認結果をまとめます。新郎新婦には次に行う作業を示し、プランナーには確認やフォローが必要な案件を示します。作業時間が短くなるかどうかは、これから校内の模擬評価で確かめます。</a:t>
            </a:r>
          </a:p>
          <a:p xmlns:a="http://schemas.openxmlformats.org/drawingml/2006/main">
            <a:r>
              <a:t/>
            </a:r>
          </a:p>
          <a:p xmlns:a="http://schemas.openxmlformats.org/drawingml/2006/main">
            <a:r>
              <a:t>出典: docs/にこまる_要件定義書_完成版.docx、docs/BridalHub_基本設計書.docx</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利用者は4種類です。新郎新婦は自分の案件だけ、プランナーは担当案件を扱います。式場管理者は同じ式場の利用者や設定を管理し、システム管理者は式場の登録とシステム全体の状況を確認します。画面の出し分けだけではなく、データベースのRLSでも範囲を制限します。役割を変えたり別案件のIDを指定したりしても、許可されていないデータを操作できないことを試験します。</a:t>
            </a:r>
          </a:p>
          <a:p xmlns:a="http://schemas.openxmlformats.org/drawingml/2006/main">
            <a:r>
              <a:t/>
            </a:r>
          </a:p>
          <a:p xmlns:a="http://schemas.openxmlformats.org/drawingml/2006/main">
            <a:r>
              <a:t>出典: src/lib/constants.ts、supabase/migrations/20260828000500_rls_policies.sql、tests/db/rls.test.ts</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心となる流れです。プランナーが案件を作り、宿題と期限を用意します。新郎新婦はマイページで宿題を確認し、本文やファイルを提出します。プランナーは提出物確認画面で確認済みにするか、不備の理由を付けて差し戻します。差し戻された場合は再提出します。この一連の状態変更を、提出者と確認者の両方の視点で確認します。</a:t>
            </a:r>
          </a:p>
          <a:p xmlns:a="http://schemas.openxmlformats.org/drawingml/2006/main">
            <a:r>
              <a:t/>
            </a:r>
          </a:p>
          <a:p xmlns:a="http://schemas.openxmlformats.org/drawingml/2006/main">
            <a:r>
              <a:t>出典: src/app/(staff)/cases、src/app/(couple)/mypage、src/app/(staff)/submissions、tests/e2e/core-flow.spec.ts</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ちらは保存済みの画面例です。氏名や案件は撮影用の模擬データです。挙式までの日数と、次に行う宿題を表示し、宿題一覧や準備タイムラインへ進めます。発表では、未提出の宿題を開いて入力し、提出後に状態が変わるところを見せます。スクリーンショットは既存版のため、今回の変更を含む最新画面との照合は発表前に行います。</a:t>
            </a:r>
          </a:p>
          <a:p xmlns:a="http://schemas.openxmlformats.org/drawingml/2006/main">
            <a:r>
              <a:t/>
            </a:r>
          </a:p>
          <a:p xmlns:a="http://schemas.openxmlformats.org/drawingml/2006/main">
            <a:r>
              <a:t>出典: docs/screenshots/12-mobile-couple-mypage.png、scripts/screenshot-tour.mts、tests/e2e/core-flow.spec.ts</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ンナーは、案件ごとに届いた提出物を確認します。確認済み、または不備ありを選び、必要ならコメントを返します。画面例には、AI補助を利用できない状態でもコメントを手入力できる案内があります。AIを停止した状態でも、提出と確認という中心の作業は続けられます。誤った案件を操作できないことと、二重操作や再提出の状態も確認対象にしています。</a:t>
            </a:r>
          </a:p>
          <a:p xmlns:a="http://schemas.openxmlformats.org/drawingml/2006/main">
            <a:r>
              <a:t/>
            </a:r>
          </a:p>
          <a:p xmlns:a="http://schemas.openxmlformats.org/drawingml/2006/main">
            <a:r>
              <a:t>出典: docs/screenshots/06-submission-review.png、src/app/(staff)/submissions、tests/db/rls-submission.test.ts</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アプリはNext.jsで作り、ブラウザーから操作します。認証、データベース、ファイル保管はSupabaseを使います。通常の利用者の操作は本人のセッションとRLSで制限します。定期処理は内部シークレットで入口を分けます。AIを使う場合は、ローカルのワーカーがジョブを取り出し、Ollamaで生成します。校内のサーバーを外部公開しない構成を採り、個人情報を外部のAI APIへ送らない方針です。学校の最終発表でデモする予定で、現時点で本番運用の予定はありません。</a:t>
            </a:r>
          </a:p>
          <a:p xmlns:a="http://schemas.openxmlformats.org/drawingml/2006/main">
            <a:r>
              <a:t/>
            </a:r>
          </a:p>
          <a:p xmlns:a="http://schemas.openxmlformats.org/drawingml/2006/main">
            <a:r>
              <a:t>出典: docs/BridalHub_基本設計書.docx 2章・6章・7章、src/lib/supabase、worker/ai-worker.ts</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アプリのAI補助は、自由記述の分類や文章の下書きなどを支援します。生成結果をそのまま確定せず、担当者が確認して利用します。AIが使えない場合は手動の確認と入力で作業を続けます。開発用のCodexと、アプリに組み込むローカルAIは別のものです。他のメンバーがAgent AIを契約しなくても、動作確認、資料編集、発表練習やWBSの記録を担当できます。</a:t>
            </a:r>
          </a:p>
          <a:p xmlns:a="http://schemas.openxmlformats.org/drawingml/2006/main">
            <a:r>
              <a:t/>
            </a:r>
          </a:p>
          <a:p xmlns:a="http://schemas.openxmlformats.org/drawingml/2006/main">
            <a:r>
              <a:t>出典: docs/BridalHub_基本設計書.docx 7章、docs/学校制作スケジュール.md、src/components/ai</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記録済みの検証結果です。PR #79 / CI全4ジョブ成功では単体やDB関連の成功834件、PCとスマートフォンを模擬したブラウザー操作の成功84件を記録しています。単体・DBジョブのskip15件は、実PostgreSQLの別ジョブで15件成功しています。主要3モジュールの分岐網羅率100%。依存監査の脆弱性件数は全重大度で0です。コードはmain統合済み・共有DB反映は未完了。検証対象commitとmain統合commitはノートに分けて記録しています。共有環境への反映や人による評価の完了とは区別します。</a:t>
            </a:r>
          </a:p>
          <a:p xmlns:a="http://schemas.openxmlformats.org/drawingml/2006/main">
            <a:r>
              <a:t/>
            </a:r>
          </a:p>
          <a:p xmlns:a="http://schemas.openxmlformats.org/drawingml/2006/main">
            <a:r>
              <a:t>出典: docs/implementation-progress.json、https://github.com/ryuki-moro/Nicomaru/pull/79、https://github.com/ryuki-moro/Nicomaru/actions/runs/37878283145、presentation-status.json</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は、自動試験と人による確認を分けます。権限や業務状態に加え、DBやStorageの失敗を再現して確かめます。CI負荷試験については、Chromiumの負荷試験1件を完走しましたが、初回画面3秒の目標は未達です。30ブラウザーとSSR・DBが4 CPU・約16 GBの同一ホストで動く条件です。実端末・分離ホストでの確認が必要で、CPU競合は原因候補の仮説です 実端末・使い勝手・人の作業時間は未評価。CIの模擬データで測った応答性能を、人が実際に操作した作業時間や満足度として扱いません。人による評価は校内で同じシナリオを試し、所要時間と詰まった箇所を記録します。校内評価を実際の式場での導入効果とも区別します。</a:t>
            </a:r>
          </a:p>
          <a:p xmlns:a="http://schemas.openxmlformats.org/drawingml/2006/main">
            <a:r>
              <a:t/>
            </a:r>
          </a:p>
          <a:p xmlns:a="http://schemas.openxmlformats.org/drawingml/2006/main">
            <a:r>
              <a:t>出典: tests/db、tests/unit、tests/e2e/performance-load.spec.ts、docs/テスト/README.md、docs/検証/performance-37878283145.json、https://github.com/ryuki-moro/Nicomaru/actions/runs/37878283145</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校の予定に合わせ、10月は実装と発表資料、11月は追加実装、テスト技法、中間発表とAWSの課題に取り組みます。12月はテスト仕様書と試験の証拠を揃え、1月は最終コードと発表資料を固めます。2月は学校の最終発表とデモを行い、作業実績を記入したWBSで振り返ります。前倒しはできますが、学校が示す提出日より後にはしません。具体的な日程と担当者はチームで確定します。</a:t>
            </a:r>
          </a:p>
          <a:p xmlns:a="http://schemas.openxmlformats.org/drawingml/2006/main">
            <a:r>
              <a:t/>
            </a:r>
          </a:p>
          <a:p xmlns:a="http://schemas.openxmlformats.org/drawingml/2006/main">
            <a:r>
              <a:t>出典: docs/学校制作スケジュール.md、https://github.com/ryuki-moro/Nicomaru/issues/53</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は、追加機能を含む同じ版でデモを再現し、メンバーによる操作確認と発表練習を行います。人が測った結果と作業実績を残し、2月の学校発表につなげます。以上で説明を終わります。ご質問をお願いします。</a:t>
            </a:r>
          </a:p>
          <a:p xmlns:a="http://schemas.openxmlformats.org/drawingml/2006/main">
            <a:r>
              <a:t/>
            </a:r>
          </a:p>
          <a:p xmlns:a="http://schemas.openxmlformats.org/drawingml/2006/main">
            <a:r>
              <a:t>出典: docs/学校制作スケジュール.md、https://github.com/ryuki-moro/Nicomaru</a:t>
            </a:r>
          </a:p>
          <a:p xmlns:a="http://schemas.openxmlformats.org/drawingml/2006/main">
            <a:r>
              <a:t>状態基準日: 2026-10-09</a:t>
            </a:r>
          </a:p>
          <a:p xmlns:a="http://schemas.openxmlformats.org/drawingml/2006/main">
            <a:r>
              <a:t>検証対象commit: c6048b2acef8449d4bf99d80ce32880ae98ae46b</a:t>
            </a:r>
          </a:p>
          <a:p xmlns:a="http://schemas.openxmlformats.org/drawingml/2006/main">
            <a:r>
              <a:t>main統合commit: 214b041d6965bd335d596b5791b261a5671696a2</a:t>
            </a:r>
          </a:p>
          <a:p xmlns:a="http://schemas.openxmlformats.org/drawingml/2006/main">
            <a:r>
              <a:t>CI実行: https://github.com/ryuki-moro/Nicomaru/actions/runs/37878283145</a:t>
            </a:r>
          </a:p>
          <a:p xmlns:a="http://schemas.openxmlformats.org/drawingml/2006/main">
            <a:r>
              <a:t>単体・DB成功: 834 / 同ジョブのskip: 15 / 実PostgreSQL別ジョブ成功: 15</a:t>
            </a:r>
          </a:p>
          <a:p xmlns:a="http://schemas.openxmlformats.org/drawingml/2006/main">
            <a:r>
              <a:t>E2E成功: 84 / 負荷用skip: 2 / 対象: ChromiumとWebKit（iPhone 13設定の模擬端末）</a:t>
            </a:r>
          </a:p>
          <a:p xmlns:a="http://schemas.openxmlformats.org/drawingml/2006/main">
            <a:r>
              <a:t>主要3モジュールの分岐網羅率100%</a:t>
            </a:r>
          </a:p>
          <a:p xmlns:a="http://schemas.openxmlformats.org/drawingml/2006/main">
            <a:r>
              <a:t>分岐網羅率の対象: risk、schedule、session</a:t>
            </a:r>
          </a:p>
          <a:p xmlns:a="http://schemas.openxmlformats.org/drawingml/2006/main">
            <a:r>
              <a:t>依存監査: 全重大度0件 / 秘密情報検出: 0件</a:t>
            </a:r>
          </a:p>
          <a:p xmlns:a="http://schemas.openxmlformats.org/drawingml/2006/main">
            <a:r>
              <a:t>共有環境: 共有Supabaseへの追加6migration適用は未完了。新機能の共有環境での稼働確認は未完了</a:t>
            </a:r>
          </a:p>
          <a:p xmlns:a="http://schemas.openxmlformats.org/drawingml/2006/main">
            <a:r>
              <a:t>CI負荷試験: Chromiumの負荷試験1件を完走しましたが、初回画面3秒の目標は未達です。30ブラウザーとSSR・DBが4 CPU・約16 GBの同一ホストで動く条件です。実端末・分離ホストでの確認が必要で、CPU競合は原因候補の仮説です</a:t>
            </a:r>
          </a:p>
          <a:p xmlns:a="http://schemas.openxmlformats.org/drawingml/2006/main">
            <a:r>
              <a:t>負荷試験実行: success / 成功件数: 1 / 出典: docs/検証/performance-37878283145.json</a:t>
            </a:r>
          </a:p>
          <a:p xmlns:a="http://schemas.openxmlformats.org/drawingml/2006/main">
            <a:r>
              <a:t>負荷測定値: 専用300案件・既存10案件、2400宿題、30同時利用（planner 15・couple 15）</a:t>
            </a:r>
          </a:p>
          <a:p xmlns:a="http://schemas.openxmlformats.org/drawingml/2006/main">
            <a:r>
              <a:t>負荷測定値: dashboard初回表示: p50 5016 ms / p95 5989 ms / 3秒超10件・15試行</a:t>
            </a:r>
          </a:p>
          <a:p xmlns:a="http://schemas.openxmlformats.org/drawingml/2006/main">
            <a:r>
              <a:t>負荷測定値: mypage初回表示: p50 4415 ms / p95 5287 ms / 3秒超14件・15試行</a:t>
            </a:r>
          </a:p>
          <a:p xmlns:a="http://schemas.openxmlformats.org/drawingml/2006/main">
            <a:r>
              <a:t>負荷測定値: 案件一覧: p50 808 ms / p95 833 ms / 3秒超0件・15試行</a:t>
            </a:r>
          </a:p>
          <a:p xmlns:a="http://schemas.openxmlformats.org/drawingml/2006/main">
            <a:r>
              <a:t>負荷測定値: 不要な先読み0件、試験データのcleanup成功</a:t>
            </a:r>
          </a:p>
          <a:p xmlns:a="http://schemas.openxmlformats.org/drawingml/2006/main">
            <a:r>
              <a:t>負荷測定値: firstScreenMsは対象見出しの表示を連続描画フレームで確認した時刻。LCPや操作準備完了とは異なる</a:t>
            </a:r>
          </a:p>
          <a:p xmlns:a="http://schemas.openxmlformats.org/drawingml/2006/main">
            <a:r>
              <a:t>負荷測定値: 監視・日次集計の併走、実端末性能、商用SLAは未測定</a:t>
            </a:r>
          </a:p>
          <a:p xmlns:a="http://schemas.openxmlformats.org/drawingml/2006/main">
            <a:r>
              <a:t>人の評価: 実端末・使い勝手・人の作業時間は未評価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5b363f9f9544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a3507d5b5244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08879ee92740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8daa2b8dc245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15d95f8a724f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959f9a691348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5E86A9-5E9D-4DCF-8209-C66703929B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D287B61-97A6-48FD-BA8B-CB1AF80374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874DE5-2C76-405A-884F-9FCC666769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C55E1F-9679-4B8B-94EC-926B2E6EF3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3A694A-864B-41DA-A444-B206F542CF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C37224-A4EE-45DD-8F3F-BB40E9148B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E8D0BE-F7FB-4B4E-A88A-F6B46D71FA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761DCA-9183-41CD-98FE-1872F482F9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747BAF-5F44-4C3A-8253-5E2CD54209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783C73-EEA6-43C0-9C69-2B5136F9EA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283845b604463a" /><Relationship Type="http://schemas.openxmlformats.org/officeDocument/2006/relationships/slideLayout" Target="/ppt/slideLayouts/slideLayout1.xml" Id="R6e25c7ef7e614234" /><Relationship Type="http://schemas.openxmlformats.org/officeDocument/2006/relationships/slideLayout" Target="/ppt/slideLayouts/slideLayout2.xml" Id="R980eab3f870f4a09" /><Relationship Type="http://schemas.openxmlformats.org/officeDocument/2006/relationships/slideLayout" Target="/ppt/slideLayouts/slideLayout3.xml" Id="R650c52c190424c6b" /><Relationship Type="http://schemas.openxmlformats.org/officeDocument/2006/relationships/slideLayout" Target="/ppt/slideLayouts/slideLayout4.xml" Id="R73f2ecb3b4124c7b" /><Relationship Type="http://schemas.openxmlformats.org/officeDocument/2006/relationships/slideLayout" Target="/ppt/slideLayouts/slideLayout5.xml" Id="R5df79303d7044278" /><Relationship Type="http://schemas.openxmlformats.org/officeDocument/2006/relationships/slideLayout" Target="/ppt/slideLayouts/slideLayout6.xml" Id="Rb76998c31d6944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25c7ef7e614234"/>
    <p:sldLayoutId xmlns:r="http://schemas.openxmlformats.org/officeDocument/2006/relationships" id="2147483650" r:id="R980eab3f870f4a09"/>
    <p:sldLayoutId xmlns:r="http://schemas.openxmlformats.org/officeDocument/2006/relationships" id="2147483651" r:id="R650c52c190424c6b"/>
    <p:sldLayoutId xmlns:r="http://schemas.openxmlformats.org/officeDocument/2006/relationships" id="2147483652" r:id="R73f2ecb3b4124c7b"/>
    <p:sldLayoutId xmlns:r="http://schemas.openxmlformats.org/officeDocument/2006/relationships" id="2147483653" r:id="R5df79303d7044278"/>
    <p:sldLayoutId xmlns:r="http://schemas.openxmlformats.org/officeDocument/2006/relationships" id="2147483654" r:id="Rb76998c31d6944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4bf01c55324de5" /><Relationship Type="http://schemas.openxmlformats.org/officeDocument/2006/relationships/notesSlide" Target="/ppt/notesSlides/notesSlide1.xml" Id="R211608172c2943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b4fccfe5d74f1a" /><Relationship Type="http://schemas.openxmlformats.org/officeDocument/2006/relationships/notesSlide" Target="/ppt/notesSlides/notesSlide2.xml" Id="R6a2a0818b50343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8f65ce4dd54f2a" /><Relationship Type="http://schemas.openxmlformats.org/officeDocument/2006/relationships/notesSlide" Target="/ppt/notesSlides/notesSlide3.xml" Id="Rb1673ff3375b44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ece9788c004fd2" /><Relationship Type="http://schemas.openxmlformats.org/officeDocument/2006/relationships/notesSlide" Target="/ppt/notesSlides/notesSlide4.xml" Id="Rbc1f11d91d4a41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aa6717f38f4d07" /><Relationship Type="http://schemas.openxmlformats.org/officeDocument/2006/relationships/image" Target="/ppt/media/image.png" Id="Ra9519af22645416c" /><Relationship Type="http://schemas.openxmlformats.org/officeDocument/2006/relationships/notesSlide" Target="/ppt/notesSlides/notesSlide5.xml" Id="R4d575833c1f545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3abc2b33fd4a3b" /><Relationship Type="http://schemas.openxmlformats.org/officeDocument/2006/relationships/image" Target="/ppt/media/image2.png" Id="R6a52bc24c3b94c6d" /><Relationship Type="http://schemas.openxmlformats.org/officeDocument/2006/relationships/notesSlide" Target="/ppt/notesSlides/notesSlide6.xml" Id="R5c63be426e3946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a134683e6e42ee" /><Relationship Type="http://schemas.openxmlformats.org/officeDocument/2006/relationships/notesSlide" Target="/ppt/notesSlides/notesSlide7.xml" Id="Rb3fae8d6410f43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28e56ff45d43c5" /><Relationship Type="http://schemas.openxmlformats.org/officeDocument/2006/relationships/notesSlide" Target="/ppt/notesSlides/notesSlide8.xml" Id="R122ceaf1640d42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3771849a5544c6" /><Relationship Type="http://schemas.openxmlformats.org/officeDocument/2006/relationships/notesSlide" Target="/ppt/notesSlides/notesSlide9.xml" Id="Rf75de887bc5b46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b4b3932e85464a" /><Relationship Type="http://schemas.openxmlformats.org/officeDocument/2006/relationships/notesSlide" Target="/ppt/notesSlides/notesSlide10.xml" Id="R52acb81f4ece4c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c5da1632b2049bc" /><Relationship Type="http://schemas.openxmlformats.org/officeDocument/2006/relationships/notesSlide" Target="/ppt/notesSlides/notesSlide11.xml" Id="R91f3a53920e54d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e38a8c5db747a2" /><Relationship Type="http://schemas.openxmlformats.org/officeDocument/2006/relationships/notesSlide" Target="/ppt/notesSlides/notesSlide12.xml" Id="R539c4ad370674bd4" /></Relationships>
</file>

<file path=ppt/slides/slide1.xml><?xml version="1.0" encoding="utf-8"?>
<p:sld xmlns:p="http://schemas.openxmlformats.org/presentationml/2006/main">
  <p:cSld>
    <p:bg>
      <p:bgPr>
        <a:solidFill xmlns:a="http://schemas.openxmlformats.org/drawingml/2006/main">
          <a:srgbClr val="20394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25057A-3A91-4A7B-94F8-498C34F7718A}"/>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Yu Gothic"/>
                <a:ea typeface="Yu Gothic"/>
                <a:cs typeface="Yu Gothic"/>
              </a:defRPr>
            </a:defPPr>
          </a:lstStyle>
          <a:p xmlns:a="http://schemas.openxmlformats.org/drawingml/2006/main">
            <a:pPr>
              <a:defRPr sz="3300" b="1">
                <a:solidFill>
                  <a:srgbClr val="FFFFFF"/>
                </a:solidFill>
                <a:latin typeface="Yu Gothic"/>
                <a:ea typeface="Yu Gothic"/>
                <a:cs typeface="Yu Gothic"/>
              </a:defRPr>
            </a:pPr>
            <a:r>
              <a:rPr sz="3300" b="1">
                <a:solidFill>
                  <a:srgbClr val="FFFFFF"/>
                </a:solidFill>
                <a:latin typeface="Yu Gothic"/>
                <a:ea typeface="Yu Gothic"/>
                <a:cs typeface="Yu Gothic"/>
              </a:rPr>
              <a:t>にこまる</a:t>
            </a:r>
          </a:p>
        </p:txBody>
      </p:sp>
      <p:sp>
        <p:nvSpPr>
          <p:cNvPr id="2" name="">
            <a:extLst xmlns:a="http://schemas.openxmlformats.org/drawingml/2006/main">
              <a:ext uri="{FF2B5EF4-FFF2-40B4-BE49-F238E27FC236}">
                <a16:creationId xmlns:a16="http://schemas.microsoft.com/office/drawing/2014/main" id="{1BAA22B4-4EF5-4558-805E-3E58FFDE8B11}"/>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CBD5DC"/>
                </a:solidFill>
                <a:latin typeface="Yu Gothic"/>
                <a:ea typeface="Yu Gothic"/>
                <a:cs typeface="Yu Gothic"/>
              </a:defRPr>
            </a:defPPr>
          </a:lstStyle>
          <a:p xmlns:a="http://schemas.openxmlformats.org/drawingml/2006/main">
            <a:pPr algn="r">
              <a:defRPr sz="1350">
                <a:solidFill>
                  <a:srgbClr val="CBD5DC"/>
                </a:solidFill>
                <a:latin typeface="Yu Gothic"/>
                <a:ea typeface="Yu Gothic"/>
                <a:cs typeface="Yu Gothic"/>
              </a:defRPr>
            </a:pPr>
            <a:r>
              <a:rPr sz="1350">
                <a:solidFill>
                  <a:srgbClr val="CBD5DC"/>
                </a:solidFill>
                <a:latin typeface="Yu Gothic"/>
                <a:ea typeface="Yu Gothic"/>
                <a:cs typeface="Yu Gothic"/>
              </a:rPr>
              <a:t>1</a:t>
            </a:r>
          </a:p>
        </p:txBody>
      </p:sp>
      <p:sp>
        <p:nvSpPr>
          <p:cNvPr id="3" name="">
            <a:extLst xmlns:a="http://schemas.openxmlformats.org/drawingml/2006/main">
              <a:ext uri="{FF2B5EF4-FFF2-40B4-BE49-F238E27FC236}">
                <a16:creationId xmlns:a16="http://schemas.microsoft.com/office/drawing/2014/main" id="{BB1AF278-372E-45FD-AF69-C5ED7FBACD16}"/>
              </a:ext>
            </a:extLst>
          </p:cNvPr>
          <p:cNvSpPr>
            <a:spLocks xmlns:a="http://schemas.openxmlformats.org/drawingml/2006/main" noGrp="1"/>
          </p:cNvSpPr>
          <p:nvPr/>
        </p:nvSpPr>
        <p:spPr>
          <a:xfrm xmlns:a="http://schemas.openxmlformats.org/drawingml/2006/main">
            <a:off x="609600" y="2238375"/>
            <a:ext cx="10477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Yu Gothic"/>
                <a:ea typeface="Yu Gothic"/>
                <a:cs typeface="Yu Gothic"/>
              </a:defRPr>
            </a:defPPr>
          </a:lstStyle>
          <a:p xmlns:a="http://schemas.openxmlformats.org/drawingml/2006/main">
            <a:pPr>
              <a:defRPr sz="4800" b="1">
                <a:solidFill>
                  <a:srgbClr val="FFFFFF"/>
                </a:solidFill>
                <a:latin typeface="Yu Gothic"/>
                <a:ea typeface="Yu Gothic"/>
                <a:cs typeface="Yu Gothic"/>
              </a:defRPr>
            </a:pPr>
            <a:r>
              <a:rPr sz="4800" b="1">
                <a:solidFill>
                  <a:srgbClr val="FFFFFF"/>
                </a:solidFill>
                <a:latin typeface="Yu Gothic"/>
                <a:ea typeface="Yu Gothic"/>
                <a:cs typeface="Yu Gothic"/>
              </a:rPr>
              <a:t>結婚式準備の</a:t>
            </a:r>
          </a:p>
          <a:p xmlns:a="http://schemas.openxmlformats.org/drawingml/2006/main">
            <a:pPr>
              <a:defRPr sz="4800" b="1">
                <a:solidFill>
                  <a:srgbClr val="FFFFFF"/>
                </a:solidFill>
                <a:latin typeface="Yu Gothic"/>
                <a:ea typeface="Yu Gothic"/>
                <a:cs typeface="Yu Gothic"/>
              </a:defRPr>
            </a:pPr>
            <a:r>
              <a:rPr sz="4800" b="1">
                <a:solidFill>
                  <a:srgbClr val="FFFFFF"/>
                </a:solidFill>
                <a:latin typeface="Yu Gothic"/>
                <a:ea typeface="Yu Gothic"/>
                <a:cs typeface="Yu Gothic"/>
              </a:rPr>
              <a:t>提出・確認を支える</a:t>
            </a:r>
          </a:p>
        </p:txBody>
      </p:sp>
      <p:sp>
        <p:nvSpPr>
          <p:cNvPr id="4" name="">
            <a:extLst xmlns:a="http://schemas.openxmlformats.org/drawingml/2006/main">
              <a:ext uri="{FF2B5EF4-FFF2-40B4-BE49-F238E27FC236}">
                <a16:creationId xmlns:a16="http://schemas.microsoft.com/office/drawing/2014/main" id="{63955C12-6706-4D70-952A-D5A7893F2897}"/>
              </a:ext>
            </a:extLst>
          </p:cNvPr>
          <p:cNvSpPr>
            <a:spLocks xmlns:a="http://schemas.openxmlformats.org/drawingml/2006/main" noGrp="1"/>
          </p:cNvSpPr>
          <p:nvPr/>
        </p:nvSpPr>
        <p:spPr>
          <a:xfrm xmlns:a="http://schemas.openxmlformats.org/drawingml/2006/main">
            <a:off x="647700" y="51911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DCE4E8"/>
                </a:solidFill>
                <a:latin typeface="Yu Gothic"/>
                <a:ea typeface="Yu Gothic"/>
                <a:cs typeface="Yu Gothic"/>
              </a:defRPr>
            </a:defPPr>
          </a:lstStyle>
          <a:p xmlns:a="http://schemas.openxmlformats.org/drawingml/2006/main">
            <a:pPr>
              <a:defRPr sz="2100">
                <a:solidFill>
                  <a:srgbClr val="DCE4E8"/>
                </a:solidFill>
                <a:latin typeface="Yu Gothic"/>
                <a:ea typeface="Yu Gothic"/>
                <a:cs typeface="Yu Gothic"/>
              </a:defRPr>
            </a:pPr>
            <a:r>
              <a:rPr sz="2100">
                <a:solidFill>
                  <a:srgbClr val="DCE4E8"/>
                </a:solidFill>
                <a:latin typeface="Yu Gothic"/>
                <a:ea typeface="Yu Gothic"/>
                <a:cs typeface="Yu Gothic"/>
              </a:rPr>
              <a:t>中間発表　2026-10-09 時点</a:t>
            </a:r>
          </a:p>
        </p:txBody>
      </p:sp>
    </p:spTree>
    <p:extLst>
      <p:ext uri="{BB962C8B-B14F-4D97-AF65-F5344CB8AC3E}">
        <p14:creationId xmlns:p14="http://schemas.microsoft.com/office/powerpoint/2010/main" val="691027795"/>
      </p:ext>
    </p:extLst>
  </p:cSld>
</p:sld>
</file>

<file path=ppt/slides/slide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9D86C1-B506-4DDB-A2CB-331289566674}"/>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準備状況を共有するための課題</a:t>
            </a:r>
          </a:p>
        </p:txBody>
      </p:sp>
      <p:sp>
        <p:nvSpPr>
          <p:cNvPr id="2" name="">
            <a:extLst xmlns:a="http://schemas.openxmlformats.org/drawingml/2006/main">
              <a:ext uri="{FF2B5EF4-FFF2-40B4-BE49-F238E27FC236}">
                <a16:creationId xmlns:a16="http://schemas.microsoft.com/office/drawing/2014/main" id="{5B5EF9AA-C245-400B-B743-4CAF43C439D3}"/>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2</a:t>
            </a:r>
          </a:p>
        </p:txBody>
      </p:sp>
      <p:sp>
        <p:nvSpPr>
          <p:cNvPr id="3" name="">
            <a:extLst xmlns:a="http://schemas.openxmlformats.org/drawingml/2006/main">
              <a:ext uri="{FF2B5EF4-FFF2-40B4-BE49-F238E27FC236}">
                <a16:creationId xmlns:a16="http://schemas.microsoft.com/office/drawing/2014/main" id="{B652BBC6-B202-4DBC-B235-76C0D0454AF5}"/>
              </a:ext>
            </a:extLst>
          </p:cNvPr>
          <p:cNvSpPr>
            <a:spLocks xmlns:a="http://schemas.openxmlformats.org/drawingml/2006/main" noGrp="1"/>
          </p:cNvSpPr>
          <p:nvPr/>
        </p:nvSpPr>
        <p:spPr>
          <a:xfrm xmlns:a="http://schemas.openxmlformats.org/drawingml/2006/main">
            <a:off x="609600" y="16668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C54F76"/>
                </a:solidFill>
                <a:latin typeface="Yu Gothic"/>
                <a:ea typeface="Yu Gothic"/>
                <a:cs typeface="Yu Gothic"/>
              </a:defRPr>
            </a:defPPr>
          </a:lstStyle>
          <a:p xmlns:a="http://schemas.openxmlformats.org/drawingml/2006/main">
            <a:pPr>
              <a:defRPr sz="2400" b="1">
                <a:solidFill>
                  <a:srgbClr val="C54F76"/>
                </a:solidFill>
                <a:latin typeface="Yu Gothic"/>
                <a:ea typeface="Yu Gothic"/>
                <a:cs typeface="Yu Gothic"/>
              </a:defRPr>
            </a:pPr>
            <a:r>
              <a:rPr sz="2400" b="1">
                <a:solidFill>
                  <a:srgbClr val="C54F76"/>
                </a:solidFill>
                <a:latin typeface="Yu Gothic"/>
                <a:ea typeface="Yu Gothic"/>
                <a:cs typeface="Yu Gothic"/>
              </a:rPr>
              <a:t>準備で困ること</a:t>
            </a:r>
          </a:p>
        </p:txBody>
      </p:sp>
      <p:sp>
        <p:nvSpPr>
          <p:cNvPr id="4" name="">
            <a:extLst xmlns:a="http://schemas.openxmlformats.org/drawingml/2006/main">
              <a:ext uri="{FF2B5EF4-FFF2-40B4-BE49-F238E27FC236}">
                <a16:creationId xmlns:a16="http://schemas.microsoft.com/office/drawing/2014/main" id="{58BAB333-9129-4606-93C7-6082DB19ABF1}"/>
              </a:ext>
            </a:extLst>
          </p:cNvPr>
          <p:cNvSpPr>
            <a:spLocks xmlns:a="http://schemas.openxmlformats.org/drawingml/2006/main" noGrp="1"/>
          </p:cNvSpPr>
          <p:nvPr/>
        </p:nvSpPr>
        <p:spPr>
          <a:xfrm xmlns:a="http://schemas.openxmlformats.org/drawingml/2006/main">
            <a:off x="609600" y="2457450"/>
            <a:ext cx="5334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203948"/>
                </a:solidFill>
                <a:latin typeface="Yu Gothic"/>
                <a:ea typeface="Yu Gothic"/>
                <a:cs typeface="Yu Gothic"/>
              </a:defRPr>
            </a:defPPr>
          </a:lstStyle>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期限が複数の連絡に分散する</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提出後の確認状況が分かりにくい</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担当者が変わると経緯を追いにくい</a:t>
            </a:r>
          </a:p>
        </p:txBody>
      </p:sp>
      <p:sp>
        <p:nvSpPr>
          <p:cNvPr id="5" name="">
            <a:extLst xmlns:a="http://schemas.openxmlformats.org/drawingml/2006/main">
              <a:ext uri="{FF2B5EF4-FFF2-40B4-BE49-F238E27FC236}">
                <a16:creationId xmlns:a16="http://schemas.microsoft.com/office/drawing/2014/main" id="{A36D9DFF-2EE4-4FC0-9A6C-88B285F2D03E}"/>
              </a:ext>
            </a:extLst>
          </p:cNvPr>
          <p:cNvSpPr>
            <a:spLocks xmlns:a="http://schemas.openxmlformats.org/drawingml/2006/main" noGrp="1"/>
          </p:cNvSpPr>
          <p:nvPr/>
        </p:nvSpPr>
        <p:spPr>
          <a:xfrm xmlns:a="http://schemas.openxmlformats.org/drawingml/2006/main">
            <a:off x="6477000" y="16668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C54F76"/>
                </a:solidFill>
                <a:latin typeface="Yu Gothic"/>
                <a:ea typeface="Yu Gothic"/>
                <a:cs typeface="Yu Gothic"/>
              </a:defRPr>
            </a:defPPr>
          </a:lstStyle>
          <a:p xmlns:a="http://schemas.openxmlformats.org/drawingml/2006/main">
            <a:pPr>
              <a:defRPr sz="2400" b="1">
                <a:solidFill>
                  <a:srgbClr val="C54F76"/>
                </a:solidFill>
                <a:latin typeface="Yu Gothic"/>
                <a:ea typeface="Yu Gothic"/>
                <a:cs typeface="Yu Gothic"/>
              </a:defRPr>
            </a:pPr>
            <a:r>
              <a:rPr sz="2400" b="1">
                <a:solidFill>
                  <a:srgbClr val="C54F76"/>
                </a:solidFill>
                <a:latin typeface="Yu Gothic"/>
                <a:ea typeface="Yu Gothic"/>
                <a:cs typeface="Yu Gothic"/>
              </a:rPr>
              <a:t>アプリで扱うこと</a:t>
            </a:r>
          </a:p>
        </p:txBody>
      </p:sp>
      <p:sp>
        <p:nvSpPr>
          <p:cNvPr id="6" name="">
            <a:extLst xmlns:a="http://schemas.openxmlformats.org/drawingml/2006/main">
              <a:ext uri="{FF2B5EF4-FFF2-40B4-BE49-F238E27FC236}">
                <a16:creationId xmlns:a16="http://schemas.microsoft.com/office/drawing/2014/main" id="{1F58ED9B-0944-4247-9519-FFBF7E30F6F1}"/>
              </a:ext>
            </a:extLst>
          </p:cNvPr>
          <p:cNvSpPr>
            <a:spLocks xmlns:a="http://schemas.openxmlformats.org/drawingml/2006/main" noGrp="1"/>
          </p:cNvSpPr>
          <p:nvPr/>
        </p:nvSpPr>
        <p:spPr>
          <a:xfrm xmlns:a="http://schemas.openxmlformats.org/drawingml/2006/main">
            <a:off x="6477000" y="2457450"/>
            <a:ext cx="504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203948"/>
                </a:solidFill>
                <a:latin typeface="Yu Gothic"/>
                <a:ea typeface="Yu Gothic"/>
                <a:cs typeface="Yu Gothic"/>
              </a:defRPr>
            </a:defPPr>
          </a:lstStyle>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案件ごとの宿題と期限</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提出・差し戻し・確認済みの状態</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連絡履歴と打ち合わせ準備</a:t>
            </a:r>
          </a:p>
        </p:txBody>
      </p:sp>
      <p:sp>
        <p:nvSpPr>
          <p:cNvPr id="7" name="">
            <a:extLst xmlns:a="http://schemas.openxmlformats.org/drawingml/2006/main">
              <a:ext uri="{FF2B5EF4-FFF2-40B4-BE49-F238E27FC236}">
                <a16:creationId xmlns:a16="http://schemas.microsoft.com/office/drawing/2014/main" id="{EAF82420-379A-4B85-AAD8-F3DABADB17BB}"/>
              </a:ext>
            </a:extLst>
          </p:cNvPr>
          <p:cNvSpPr>
            <a:spLocks xmlns:a="http://schemas.openxmlformats.org/drawingml/2006/main" noGrp="1"/>
          </p:cNvSpPr>
          <p:nvPr/>
        </p:nvSpPr>
        <p:spPr>
          <a:xfrm xmlns:a="http://schemas.openxmlformats.org/drawingml/2006/main">
            <a:off x="609600" y="560070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60747F"/>
                </a:solidFill>
                <a:latin typeface="Yu Gothic"/>
                <a:ea typeface="Yu Gothic"/>
                <a:cs typeface="Yu Gothic"/>
              </a:defRPr>
            </a:defPPr>
          </a:lstStyle>
          <a:p xmlns:a="http://schemas.openxmlformats.org/drawingml/2006/main">
            <a:pPr>
              <a:defRPr sz="1950">
                <a:solidFill>
                  <a:srgbClr val="60747F"/>
                </a:solidFill>
                <a:latin typeface="Yu Gothic"/>
                <a:ea typeface="Yu Gothic"/>
                <a:cs typeface="Yu Gothic"/>
              </a:defRPr>
            </a:pPr>
            <a:r>
              <a:rPr sz="1950">
                <a:solidFill>
                  <a:srgbClr val="60747F"/>
                </a:solidFill>
                <a:latin typeface="Yu Gothic"/>
                <a:ea typeface="Yu Gothic"/>
                <a:cs typeface="Yu Gothic"/>
              </a:rPr>
              <a:t>効果は校内の模擬評価で確認する予定です</a:t>
            </a:r>
          </a:p>
        </p:txBody>
      </p:sp>
    </p:spTree>
    <p:extLst>
      <p:ext uri="{BB962C8B-B14F-4D97-AF65-F5344CB8AC3E}">
        <p14:creationId xmlns:p14="http://schemas.microsoft.com/office/powerpoint/2010/main" val="1907611833"/>
      </p:ext>
    </p:extLst>
  </p:cSld>
</p:sld>
</file>

<file path=ppt/slides/slide3.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88940B-4458-49EC-8DF5-7F2BA9B19B53}"/>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4つの利用者と参照範囲</a:t>
            </a:r>
          </a:p>
        </p:txBody>
      </p:sp>
      <p:sp>
        <p:nvSpPr>
          <p:cNvPr id="2" name="">
            <a:extLst xmlns:a="http://schemas.openxmlformats.org/drawingml/2006/main">
              <a:ext uri="{FF2B5EF4-FFF2-40B4-BE49-F238E27FC236}">
                <a16:creationId xmlns:a16="http://schemas.microsoft.com/office/drawing/2014/main" id="{A66134B1-D374-4F01-8802-A315C6A70C06}"/>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3</a:t>
            </a:r>
          </a:p>
        </p:txBody>
      </p:sp>
      <p:graphicFrame>
        <p:nvGraphicFramePr>
          <p:cNvPr id="3" name="">
            <a:extLst xmlns:a="http://schemas.openxmlformats.org/drawingml/2006/main">
              <a:ext uri="{FF2B5EF4-FFF2-40B4-BE49-F238E27FC236}">
                <a16:creationId xmlns:a16="http://schemas.microsoft.com/office/drawing/2014/main" id="{AF5B05EF-5EFD-4C37-A174-5ADF25EE81BB}"/>
              </a:ext>
            </a:extLst>
          </p:cNvPr>
          <p:cNvGraphicFramePr/>
          <p:nvPr/>
        </p:nvGraphicFramePr>
        <p:xfrm>
          <a:off xmlns:a="http://schemas.openxmlformats.org/drawingml/2006/main" x="609600" y="1600200"/>
          <a:ext xmlns:a="http://schemas.openxmlformats.org/drawingml/2006/main" cx="10972800" cy="4114800"/>
        </p:xfrm>
        <a:graphic xmlns:a="http://schemas.openxmlformats.org/drawingml/2006/main">
          <a:graphicData uri="http://schemas.openxmlformats.org/drawingml/2006/table">
            <a:tbl>
              <a:tblPr/>
              <a:tblGrid>
                <a:gridCol w="2667000"/>
                <a:gridCol w="4476750"/>
                <a:gridCol w="3829050"/>
              </a:tblGrid>
              <a:tr h="822960">
                <a:tc>
                  <a:txBody>
                    <a:bodyPr/>
                    <a:lstStyle/>
                    <a:p>
                      <a:r>
                        <a:rPr sz="2100" b="1">
                          <a:solidFill>
                            <a:srgbClr val="FFFFFF"/>
                          </a:solidFill>
                          <a:latin typeface="Yu Gothic"/>
                          <a:ea typeface="Yu Gothic"/>
                          <a:cs typeface="Yu Gothic"/>
                        </a:rPr>
                        <a:t>利用者</a:t>
                      </a:r>
                    </a:p>
                  </a:txBody>
                  <a:tcPr marL="171450" marR="133350" marT="142875" marB="114300" anchor="ctr">
                    <a:solidFill>
                      <a:srgbClr val="203948"/>
                    </a:solidFill>
                  </a:tcPr>
                </a:tc>
                <a:tc>
                  <a:txBody>
                    <a:bodyPr/>
                    <a:lstStyle/>
                    <a:p>
                      <a:r>
                        <a:rPr sz="2100" b="1">
                          <a:solidFill>
                            <a:srgbClr val="FFFFFF"/>
                          </a:solidFill>
                          <a:latin typeface="Yu Gothic"/>
                          <a:ea typeface="Yu Gothic"/>
                          <a:cs typeface="Yu Gothic"/>
                        </a:rPr>
                        <a:t>主な操作</a:t>
                      </a:r>
                    </a:p>
                  </a:txBody>
                  <a:tcPr marL="171450" marR="133350" marT="142875" marB="114300" anchor="ctr">
                    <a:solidFill>
                      <a:srgbClr val="203948"/>
                    </a:solidFill>
                  </a:tcPr>
                </a:tc>
                <a:tc>
                  <a:txBody>
                    <a:bodyPr/>
                    <a:lstStyle/>
                    <a:p>
                      <a:r>
                        <a:rPr sz="2100" b="1">
                          <a:solidFill>
                            <a:srgbClr val="FFFFFF"/>
                          </a:solidFill>
                          <a:latin typeface="Yu Gothic"/>
                          <a:ea typeface="Yu Gothic"/>
                          <a:cs typeface="Yu Gothic"/>
                        </a:rPr>
                        <a:t>参照する範囲</a:t>
                      </a:r>
                    </a:p>
                  </a:txBody>
                  <a:tcPr marL="171450" marR="133350" marT="142875" marB="114300" anchor="ctr">
                    <a:solidFill>
                      <a:srgbClr val="203948"/>
                    </a:solidFill>
                  </a:tcPr>
                </a:tc>
              </a:tr>
              <a:tr h="822960">
                <a:tc>
                  <a:txBody>
                    <a:bodyPr/>
                    <a:lstStyle/>
                    <a:p>
                      <a:r>
                        <a:rPr sz="2100">
                          <a:solidFill>
                            <a:srgbClr val="203948"/>
                          </a:solidFill>
                          <a:latin typeface="Yu Gothic"/>
                          <a:ea typeface="Yu Gothic"/>
                          <a:cs typeface="Yu Gothic"/>
                        </a:rPr>
                        <a:t>新郎新婦</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宿題の確認・提出</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本人の案件</a:t>
                      </a:r>
                    </a:p>
                  </a:txBody>
                  <a:tcPr marL="171450" marR="133350" marT="142875" marB="114300" anchor="ctr">
                    <a:solidFill>
                      <a:srgbClr val="FFFFFF"/>
                    </a:solidFill>
                  </a:tcPr>
                </a:tc>
              </a:tr>
              <a:tr h="822960">
                <a:tc>
                  <a:txBody>
                    <a:bodyPr/>
                    <a:lstStyle/>
                    <a:p>
                      <a:r>
                        <a:rPr sz="2100">
                          <a:solidFill>
                            <a:srgbClr val="203948"/>
                          </a:solidFill>
                          <a:latin typeface="Yu Gothic"/>
                          <a:ea typeface="Yu Gothic"/>
                          <a:cs typeface="Yu Gothic"/>
                        </a:rPr>
                        <a:t>プランナー</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提出確認・フォロー</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担当案件</a:t>
                      </a:r>
                    </a:p>
                  </a:txBody>
                  <a:tcPr marL="171450" marR="133350" marT="142875" marB="114300" anchor="ctr">
                    <a:solidFill>
                      <a:srgbClr val="FFFFFF"/>
                    </a:solidFill>
                  </a:tcPr>
                </a:tc>
              </a:tr>
              <a:tr h="822960">
                <a:tc>
                  <a:txBody>
                    <a:bodyPr/>
                    <a:lstStyle/>
                    <a:p>
                      <a:r>
                        <a:rPr sz="2100">
                          <a:solidFill>
                            <a:srgbClr val="203948"/>
                          </a:solidFill>
                          <a:latin typeface="Yu Gothic"/>
                          <a:ea typeface="Yu Gothic"/>
                          <a:cs typeface="Yu Gothic"/>
                        </a:rPr>
                        <a:t>式場管理者</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利用者・テンプレート管理</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自分の式場</a:t>
                      </a:r>
                    </a:p>
                  </a:txBody>
                  <a:tcPr marL="171450" marR="133350" marT="142875" marB="114300" anchor="ctr">
                    <a:solidFill>
                      <a:srgbClr val="FFFFFF"/>
                    </a:solidFill>
                  </a:tcPr>
                </a:tc>
              </a:tr>
              <a:tr h="822960">
                <a:tc>
                  <a:txBody>
                    <a:bodyPr/>
                    <a:lstStyle/>
                    <a:p>
                      <a:r>
                        <a:rPr sz="2100">
                          <a:solidFill>
                            <a:srgbClr val="203948"/>
                          </a:solidFill>
                          <a:latin typeface="Yu Gothic"/>
                          <a:ea typeface="Yu Gothic"/>
                          <a:cs typeface="Yu Gothic"/>
                        </a:rPr>
                        <a:t>システム管理者</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式場登録・利用状況の確認</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全体の管理情報</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933BEE5-1141-475F-8EC4-852643C2B6D9}"/>
              </a:ext>
            </a:extLst>
          </p:cNvPr>
          <p:cNvSpPr>
            <a:spLocks xmlns:a="http://schemas.openxmlformats.org/drawingml/2006/main" noGrp="1"/>
          </p:cNvSpPr>
          <p:nvPr/>
        </p:nvSpPr>
        <p:spPr>
          <a:xfrm xmlns:a="http://schemas.openxmlformats.org/drawingml/2006/main">
            <a:off x="609600" y="59721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権限は画面とデータベースの両方で検証します</a:t>
            </a:r>
          </a:p>
        </p:txBody>
      </p:sp>
    </p:spTree>
    <p:extLst>
      <p:ext uri="{BB962C8B-B14F-4D97-AF65-F5344CB8AC3E}">
        <p14:creationId xmlns:p14="http://schemas.microsoft.com/office/powerpoint/2010/main" val="1749177440"/>
      </p:ext>
    </p:extLst>
  </p:cSld>
</p:sld>
</file>

<file path=ppt/slides/slide4.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716A2D61-1DDC-4EE3-B226-713CE8D0EC19}"/>
              </a:ext>
            </a:extLst>
          </p:cNvPr>
          <p:cNvCxnSpPr>
            <a:stCxn xmlns:a="http://schemas.openxmlformats.org/drawingml/2006/main" id="8" idx="0"/>
            <a:endCxn xmlns:a="http://schemas.openxmlformats.org/drawingml/2006/main" id="4" idx="2"/>
          </p:cNvCxnSpPr>
          <p:nvPr/>
        </p:nvCxnSpPr>
        <p:spPr>
          <a:xfrm xmlns:a="http://schemas.openxmlformats.org/drawingml/2006/main" flipV="1">
            <a:off x="6072188" y="2809875"/>
            <a:ext cx="0" cy="1266825"/>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11" name="">
            <a:extLst xmlns:a="http://schemas.openxmlformats.org/drawingml/2006/main">
              <a:ext uri="{FF2B5EF4-FFF2-40B4-BE49-F238E27FC236}">
                <a16:creationId xmlns:a16="http://schemas.microsoft.com/office/drawing/2014/main" id="{8260A6F5-8453-4689-801D-08B1F4C52283}"/>
              </a:ext>
            </a:extLst>
          </p:cNvPr>
          <p:cNvCxnSpPr>
            <a:stCxn xmlns:a="http://schemas.openxmlformats.org/drawingml/2006/main" id="5" idx="2"/>
            <a:endCxn xmlns:a="http://schemas.openxmlformats.org/drawingml/2006/main" id="8" idx="3"/>
          </p:cNvCxnSpPr>
          <p:nvPr/>
        </p:nvCxnSpPr>
        <p:spPr>
          <a:xfrm xmlns:a="http://schemas.openxmlformats.org/drawingml/2006/main" flipH="1">
            <a:off x="7286625" y="2809875"/>
            <a:ext cx="3024188" cy="1695450"/>
          </a:xfrm>
          <a:prstGeom xmlns:a="http://schemas.openxmlformats.org/drawingml/2006/main" prst="bentConnector5">
            <a:avLst>
              <a:gd name="adj1" fmla="val 0"/>
              <a:gd name="adj2" fmla="val 13483"/>
              <a:gd name="adj3" fmla="val 92441"/>
            </a:avLst>
          </a:prstGeom>
          <a:ln xmlns:a="http://schemas.openxmlformats.org/drawingml/2006/main" w="28575">
            <a:solidFill>
              <a:srgbClr val="C54F76"/>
            </a:solidFill>
            <a:tailEnd type="arrow" w="med" len="med"/>
          </a:ln>
        </p:spPr>
      </p:cxnSp>
      <p:cxnSp>
        <p:nvCxnSpPr>
          <p:cNvPr id="10" name="">
            <a:extLst xmlns:a="http://schemas.openxmlformats.org/drawingml/2006/main">
              <a:ext uri="{FF2B5EF4-FFF2-40B4-BE49-F238E27FC236}">
                <a16:creationId xmlns:a16="http://schemas.microsoft.com/office/drawing/2014/main" id="{CC4C2CFF-F314-4D73-901E-D00A5A711B3F}"/>
              </a:ext>
            </a:extLst>
          </p:cNvPr>
          <p:cNvCxnSpPr>
            <a:stCxn xmlns:a="http://schemas.openxmlformats.org/drawingml/2006/main" id="5" idx="2"/>
            <a:endCxn xmlns:a="http://schemas.openxmlformats.org/drawingml/2006/main" id="9" idx="0"/>
          </p:cNvCxnSpPr>
          <p:nvPr/>
        </p:nvCxnSpPr>
        <p:spPr>
          <a:xfrm xmlns:a="http://schemas.openxmlformats.org/drawingml/2006/main">
            <a:off x="10310813" y="2809875"/>
            <a:ext cx="0" cy="1266825"/>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7" name="">
            <a:extLst xmlns:a="http://schemas.openxmlformats.org/drawingml/2006/main">
              <a:ext uri="{FF2B5EF4-FFF2-40B4-BE49-F238E27FC236}">
                <a16:creationId xmlns:a16="http://schemas.microsoft.com/office/drawing/2014/main" id="{BE098D6C-DBDD-43BE-BE96-222D37185B86}"/>
              </a:ext>
            </a:extLst>
          </p:cNvPr>
          <p:cNvCxnSpPr>
            <a:stCxn xmlns:a="http://schemas.openxmlformats.org/drawingml/2006/main" id="4" idx="3"/>
            <a:endCxn xmlns:a="http://schemas.openxmlformats.org/drawingml/2006/main" id="5" idx="1"/>
          </p:cNvCxnSpPr>
          <p:nvPr/>
        </p:nvCxnSpPr>
        <p:spPr>
          <a:xfrm xmlns:a="http://schemas.openxmlformats.org/drawingml/2006/main">
            <a:off x="7286625" y="2381250"/>
            <a:ext cx="1809750" cy="0"/>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6" name="">
            <a:extLst xmlns:a="http://schemas.openxmlformats.org/drawingml/2006/main">
              <a:ext uri="{FF2B5EF4-FFF2-40B4-BE49-F238E27FC236}">
                <a16:creationId xmlns:a16="http://schemas.microsoft.com/office/drawing/2014/main" id="{DF9E59B5-F41B-4EAA-8BAD-AE52C1C0A6C3}"/>
              </a:ext>
            </a:extLst>
          </p:cNvPr>
          <p:cNvCxnSpPr>
            <a:stCxn xmlns:a="http://schemas.openxmlformats.org/drawingml/2006/main" id="3" idx="3"/>
            <a:endCxn xmlns:a="http://schemas.openxmlformats.org/drawingml/2006/main" id="4" idx="1"/>
          </p:cNvCxnSpPr>
          <p:nvPr/>
        </p:nvCxnSpPr>
        <p:spPr>
          <a:xfrm xmlns:a="http://schemas.openxmlformats.org/drawingml/2006/main">
            <a:off x="3048000" y="2381250"/>
            <a:ext cx="1809750" cy="0"/>
          </a:xfrm>
          <a:prstGeom xmlns:a="http://schemas.openxmlformats.org/drawingml/2006/main" prst="straightConnector1">
            <a:avLst/>
          </a:prstGeom>
          <a:ln xmlns:a="http://schemas.openxmlformats.org/drawingml/2006/main" w="28575">
            <a:solidFill>
              <a:srgbClr val="C54F76"/>
            </a:solidFill>
            <a:tailEnd type="arrow" w="med" len="med"/>
          </a:ln>
        </p:spPr>
      </p:cxnSp>
      <p:sp>
        <p:nvSpPr>
          <p:cNvPr id="17" name="">
            <a:extLst xmlns:a="http://schemas.openxmlformats.org/drawingml/2006/main">
              <a:ext uri="{FF2B5EF4-FFF2-40B4-BE49-F238E27FC236}">
                <a16:creationId xmlns:a16="http://schemas.microsoft.com/office/drawing/2014/main" id="{FE55AA41-A042-4FDC-9065-033D61BE1464}"/>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提出から確認までの画面の流れ</a:t>
            </a:r>
          </a:p>
        </p:txBody>
      </p:sp>
      <p:sp>
        <p:nvSpPr>
          <p:cNvPr id="2" name="">
            <a:extLst xmlns:a="http://schemas.openxmlformats.org/drawingml/2006/main">
              <a:ext uri="{FF2B5EF4-FFF2-40B4-BE49-F238E27FC236}">
                <a16:creationId xmlns:a16="http://schemas.microsoft.com/office/drawing/2014/main" id="{8EA1054C-BFC8-46D7-BE8D-33328BAE2ACF}"/>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4</a:t>
            </a:r>
          </a:p>
        </p:txBody>
      </p:sp>
      <p:sp>
        <p:nvSpPr>
          <p:cNvPr id="3" name="">
            <a:extLst xmlns:a="http://schemas.openxmlformats.org/drawingml/2006/main">
              <a:ext uri="{FF2B5EF4-FFF2-40B4-BE49-F238E27FC236}">
                <a16:creationId xmlns:a16="http://schemas.microsoft.com/office/drawing/2014/main" id="{FA017464-1A00-4848-A59F-DE1BE0A9B23D}"/>
              </a:ext>
            </a:extLst>
          </p:cNvPr>
          <p:cNvSpPr>
            <a:spLocks xmlns:a="http://schemas.openxmlformats.org/drawingml/2006/main" noGrp="1"/>
          </p:cNvSpPr>
          <p:nvPr/>
        </p:nvSpPr>
        <p:spPr>
          <a:xfrm xmlns:a="http://schemas.openxmlformats.org/drawingml/2006/main">
            <a:off x="619125" y="1952625"/>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案件・宿題を用意</a:t>
            </a:r>
          </a:p>
        </p:txBody>
      </p:sp>
      <p:sp>
        <p:nvSpPr>
          <p:cNvPr id="4" name="">
            <a:extLst xmlns:a="http://schemas.openxmlformats.org/drawingml/2006/main">
              <a:ext uri="{FF2B5EF4-FFF2-40B4-BE49-F238E27FC236}">
                <a16:creationId xmlns:a16="http://schemas.microsoft.com/office/drawing/2014/main" id="{D838AFC7-165A-48CD-8F6F-32FE973C8E0A}"/>
              </a:ext>
            </a:extLst>
          </p:cNvPr>
          <p:cNvSpPr>
            <a:spLocks xmlns:a="http://schemas.openxmlformats.org/drawingml/2006/main" noGrp="1"/>
          </p:cNvSpPr>
          <p:nvPr/>
        </p:nvSpPr>
        <p:spPr>
          <a:xfrm xmlns:a="http://schemas.openxmlformats.org/drawingml/2006/main">
            <a:off x="4857750" y="1952625"/>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マイページで提出</a:t>
            </a:r>
          </a:p>
        </p:txBody>
      </p:sp>
      <p:sp>
        <p:nvSpPr>
          <p:cNvPr id="5" name="">
            <a:extLst xmlns:a="http://schemas.openxmlformats.org/drawingml/2006/main">
              <a:ext uri="{FF2B5EF4-FFF2-40B4-BE49-F238E27FC236}">
                <a16:creationId xmlns:a16="http://schemas.microsoft.com/office/drawing/2014/main" id="{795AF438-1830-45A1-B1C1-AD405637EEDB}"/>
              </a:ext>
            </a:extLst>
          </p:cNvPr>
          <p:cNvSpPr>
            <a:spLocks xmlns:a="http://schemas.openxmlformats.org/drawingml/2006/main" noGrp="1"/>
          </p:cNvSpPr>
          <p:nvPr/>
        </p:nvSpPr>
        <p:spPr>
          <a:xfrm xmlns:a="http://schemas.openxmlformats.org/drawingml/2006/main">
            <a:off x="9096375" y="1952625"/>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プランナーが確認</a:t>
            </a:r>
          </a:p>
        </p:txBody>
      </p:sp>
      <p:sp>
        <p:nvSpPr>
          <p:cNvPr id="8" name="">
            <a:extLst xmlns:a="http://schemas.openxmlformats.org/drawingml/2006/main">
              <a:ext uri="{FF2B5EF4-FFF2-40B4-BE49-F238E27FC236}">
                <a16:creationId xmlns:a16="http://schemas.microsoft.com/office/drawing/2014/main" id="{CE689D5F-D33C-4135-BC41-75A3AFCBAFDE}"/>
              </a:ext>
            </a:extLst>
          </p:cNvPr>
          <p:cNvSpPr>
            <a:spLocks xmlns:a="http://schemas.openxmlformats.org/drawingml/2006/main" noGrp="1"/>
          </p:cNvSpPr>
          <p:nvPr/>
        </p:nvSpPr>
        <p:spPr>
          <a:xfrm xmlns:a="http://schemas.openxmlformats.org/drawingml/2006/main">
            <a:off x="4857750" y="4076700"/>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不備あり・再提出</a:t>
            </a:r>
          </a:p>
        </p:txBody>
      </p:sp>
      <p:sp>
        <p:nvSpPr>
          <p:cNvPr id="9" name="">
            <a:extLst xmlns:a="http://schemas.openxmlformats.org/drawingml/2006/main">
              <a:ext uri="{FF2B5EF4-FFF2-40B4-BE49-F238E27FC236}">
                <a16:creationId xmlns:a16="http://schemas.microsoft.com/office/drawing/2014/main" id="{32181368-801C-4386-A45E-586314D14A2D}"/>
              </a:ext>
            </a:extLst>
          </p:cNvPr>
          <p:cNvSpPr>
            <a:spLocks xmlns:a="http://schemas.openxmlformats.org/drawingml/2006/main" noGrp="1"/>
          </p:cNvSpPr>
          <p:nvPr/>
        </p:nvSpPr>
        <p:spPr>
          <a:xfrm xmlns:a="http://schemas.openxmlformats.org/drawingml/2006/main">
            <a:off x="9096375" y="4076700"/>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確認済み</a:t>
            </a:r>
          </a:p>
        </p:txBody>
      </p:sp>
      <p:sp>
        <p:nvSpPr>
          <p:cNvPr id="13" name="">
            <a:extLst xmlns:a="http://schemas.openxmlformats.org/drawingml/2006/main">
              <a:ext uri="{FF2B5EF4-FFF2-40B4-BE49-F238E27FC236}">
                <a16:creationId xmlns:a16="http://schemas.microsoft.com/office/drawing/2014/main" id="{F1BA9448-4462-4011-B29B-2D3B7880B3C4}"/>
              </a:ext>
            </a:extLst>
          </p:cNvPr>
          <p:cNvSpPr>
            <a:spLocks xmlns:a="http://schemas.openxmlformats.org/drawingml/2006/main" noGrp="1"/>
          </p:cNvSpPr>
          <p:nvPr/>
        </p:nvSpPr>
        <p:spPr>
          <a:xfrm xmlns:a="http://schemas.openxmlformats.org/drawingml/2006/main">
            <a:off x="647700" y="15240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担当者</a:t>
            </a:r>
          </a:p>
        </p:txBody>
      </p:sp>
      <p:sp>
        <p:nvSpPr>
          <p:cNvPr id="14" name="">
            <a:extLst xmlns:a="http://schemas.openxmlformats.org/drawingml/2006/main">
              <a:ext uri="{FF2B5EF4-FFF2-40B4-BE49-F238E27FC236}">
                <a16:creationId xmlns:a16="http://schemas.microsoft.com/office/drawing/2014/main" id="{646053E7-59B2-4ABB-8EEA-5AD76DEFF8F3}"/>
              </a:ext>
            </a:extLst>
          </p:cNvPr>
          <p:cNvSpPr>
            <a:spLocks xmlns:a="http://schemas.openxmlformats.org/drawingml/2006/main" noGrp="1"/>
          </p:cNvSpPr>
          <p:nvPr/>
        </p:nvSpPr>
        <p:spPr>
          <a:xfrm xmlns:a="http://schemas.openxmlformats.org/drawingml/2006/main">
            <a:off x="4857750" y="15240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新郎新婦</a:t>
            </a:r>
          </a:p>
        </p:txBody>
      </p:sp>
      <p:sp>
        <p:nvSpPr>
          <p:cNvPr id="15" name="">
            <a:extLst xmlns:a="http://schemas.openxmlformats.org/drawingml/2006/main">
              <a:ext uri="{FF2B5EF4-FFF2-40B4-BE49-F238E27FC236}">
                <a16:creationId xmlns:a16="http://schemas.microsoft.com/office/drawing/2014/main" id="{50A3200E-1003-46EC-AC55-0CF78CF9B95E}"/>
              </a:ext>
            </a:extLst>
          </p:cNvPr>
          <p:cNvSpPr>
            <a:spLocks xmlns:a="http://schemas.openxmlformats.org/drawingml/2006/main" noGrp="1"/>
          </p:cNvSpPr>
          <p:nvPr/>
        </p:nvSpPr>
        <p:spPr>
          <a:xfrm xmlns:a="http://schemas.openxmlformats.org/drawingml/2006/main">
            <a:off x="9096375" y="15240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担当者</a:t>
            </a:r>
          </a:p>
        </p:txBody>
      </p:sp>
      <p:sp>
        <p:nvSpPr>
          <p:cNvPr id="16" name="">
            <a:extLst xmlns:a="http://schemas.openxmlformats.org/drawingml/2006/main">
              <a:ext uri="{FF2B5EF4-FFF2-40B4-BE49-F238E27FC236}">
                <a16:creationId xmlns:a16="http://schemas.microsoft.com/office/drawing/2014/main" id="{5BBEFFD8-8F86-4BE0-93F9-EEDD5FE4D05E}"/>
              </a:ext>
            </a:extLst>
          </p:cNvPr>
          <p:cNvSpPr>
            <a:spLocks xmlns:a="http://schemas.openxmlformats.org/drawingml/2006/main" noGrp="1"/>
          </p:cNvSpPr>
          <p:nvPr/>
        </p:nvSpPr>
        <p:spPr>
          <a:xfrm xmlns:a="http://schemas.openxmlformats.org/drawingml/2006/main">
            <a:off x="619125" y="57150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0747F"/>
                </a:solidFill>
                <a:latin typeface="Yu Gothic"/>
                <a:ea typeface="Yu Gothic"/>
                <a:cs typeface="Yu Gothic"/>
              </a:defRPr>
            </a:defPPr>
          </a:lstStyle>
          <a:p xmlns:a="http://schemas.openxmlformats.org/drawingml/2006/main">
            <a:pPr>
              <a:defRPr sz="2100">
                <a:solidFill>
                  <a:srgbClr val="60747F"/>
                </a:solidFill>
                <a:latin typeface="Yu Gothic"/>
                <a:ea typeface="Yu Gothic"/>
                <a:cs typeface="Yu Gothic"/>
              </a:defRPr>
            </a:pPr>
            <a:r>
              <a:rPr sz="2100">
                <a:solidFill>
                  <a:srgbClr val="60747F"/>
                </a:solidFill>
                <a:latin typeface="Yu Gothic"/>
                <a:ea typeface="Yu Gothic"/>
                <a:cs typeface="Yu Gothic"/>
              </a:rPr>
              <a:t>状態の更新と提出履歴を同じ案件にひも付けます</a:t>
            </a:r>
          </a:p>
        </p:txBody>
      </p:sp>
    </p:spTree>
    <p:extLst>
      <p:ext uri="{BB962C8B-B14F-4D97-AF65-F5344CB8AC3E}">
        <p14:creationId xmlns:p14="http://schemas.microsoft.com/office/powerpoint/2010/main" val="195042084"/>
      </p:ext>
    </p:extLst>
  </p:cSld>
</p:sld>
</file>

<file path=ppt/slides/slide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108750-0DE0-4DA2-9000-CFFC10108BAC}"/>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新郎新婦のマイページ</a:t>
            </a:r>
          </a:p>
        </p:txBody>
      </p:sp>
      <p:sp>
        <p:nvSpPr>
          <p:cNvPr id="2" name="">
            <a:extLst xmlns:a="http://schemas.openxmlformats.org/drawingml/2006/main">
              <a:ext uri="{FF2B5EF4-FFF2-40B4-BE49-F238E27FC236}">
                <a16:creationId xmlns:a16="http://schemas.microsoft.com/office/drawing/2014/main" id="{BE8CE54B-8262-44FC-9F8F-496B81276B76}"/>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5</a:t>
            </a:r>
          </a:p>
        </p:txBody>
      </p:sp>
      <p:pic>
        <p:nvPicPr>
          <p:cNvPr id="3" name="">
            <a:extLst xmlns:a="http://schemas.openxmlformats.org/drawingml/2006/main">
              <a:ext uri="{FF2B5EF4-FFF2-40B4-BE49-F238E27FC236}">
                <a16:creationId xmlns:a16="http://schemas.microsoft.com/office/drawing/2014/main" id="{E802AE3E-46CE-4C67-9B50-09EC7936CCD6}"/>
              </a:ext>
            </a:extLst>
          </p:cNvPr>
          <p:cNvPicPr>
            <a:picLocks xmlns:a="http://schemas.openxmlformats.org/drawingml/2006/main" noChangeAspect="1"/>
          </p:cNvPicPr>
          <p:nvPr/>
        </p:nvPicPr>
        <p:blipFill>
          <a:blip xmlns:r="http://schemas.openxmlformats.org/officeDocument/2006/relationships" xmlns:a="http://schemas.openxmlformats.org/drawingml/2006/main" r:embed="Ra9519af22645416c"/>
          <a:stretch xmlns:a="http://schemas.openxmlformats.org/drawingml/2006/main"/>
        </p:blipFill>
        <p:spPr>
          <a:xfrm xmlns:a="http://schemas.openxmlformats.org/drawingml/2006/main">
            <a:off x="1459551" y="1381125"/>
            <a:ext cx="239584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9AE61C-BDC0-444D-9492-5F9996E51138}"/>
              </a:ext>
            </a:extLst>
          </p:cNvPr>
          <p:cNvSpPr>
            <a:spLocks xmlns:a="http://schemas.openxmlformats.org/drawingml/2006/main" noGrp="1"/>
          </p:cNvSpPr>
          <p:nvPr/>
        </p:nvSpPr>
        <p:spPr>
          <a:xfrm xmlns:a="http://schemas.openxmlformats.org/drawingml/2006/main">
            <a:off x="5572125" y="1857375"/>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03948"/>
                </a:solidFill>
                <a:latin typeface="Yu Gothic"/>
                <a:ea typeface="Yu Gothic"/>
                <a:cs typeface="Yu Gothic"/>
              </a:defRPr>
            </a:defPPr>
          </a:lstStyle>
          <a:p xmlns:a="http://schemas.openxmlformats.org/drawingml/2006/main">
            <a:pPr>
              <a:defRPr sz="2550" b="1">
                <a:solidFill>
                  <a:srgbClr val="203948"/>
                </a:solidFill>
                <a:latin typeface="Yu Gothic"/>
                <a:ea typeface="Yu Gothic"/>
                <a:cs typeface="Yu Gothic"/>
              </a:defRPr>
            </a:pPr>
            <a:r>
              <a:rPr sz="2550" b="1">
                <a:solidFill>
                  <a:srgbClr val="203948"/>
                </a:solidFill>
                <a:latin typeface="Yu Gothic"/>
                <a:ea typeface="Yu Gothic"/>
                <a:cs typeface="Yu Gothic"/>
              </a:rPr>
              <a:t>次に行う宿題を確認</a:t>
            </a:r>
          </a:p>
        </p:txBody>
      </p:sp>
      <p:sp>
        <p:nvSpPr>
          <p:cNvPr id="5" name="">
            <a:extLst xmlns:a="http://schemas.openxmlformats.org/drawingml/2006/main">
              <a:ext uri="{FF2B5EF4-FFF2-40B4-BE49-F238E27FC236}">
                <a16:creationId xmlns:a16="http://schemas.microsoft.com/office/drawing/2014/main" id="{CFB18375-7737-466A-AB1A-0259F3D4F857}"/>
              </a:ext>
            </a:extLst>
          </p:cNvPr>
          <p:cNvSpPr>
            <a:spLocks xmlns:a="http://schemas.openxmlformats.org/drawingml/2006/main" noGrp="1"/>
          </p:cNvSpPr>
          <p:nvPr/>
        </p:nvSpPr>
        <p:spPr>
          <a:xfrm xmlns:a="http://schemas.openxmlformats.org/drawingml/2006/main">
            <a:off x="5572125" y="2838450"/>
            <a:ext cx="571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203948"/>
                </a:solidFill>
                <a:latin typeface="Yu Gothic"/>
                <a:ea typeface="Yu Gothic"/>
                <a:cs typeface="Yu Gothic"/>
              </a:defRPr>
            </a:defPPr>
          </a:lstStyle>
          <a:p xmlns:a="http://schemas.openxmlformats.org/drawingml/2006/main">
            <a:pPr>
              <a:defRPr sz="2325">
                <a:solidFill>
                  <a:srgbClr val="203948"/>
                </a:solidFill>
                <a:latin typeface="Yu Gothic"/>
                <a:ea typeface="Yu Gothic"/>
                <a:cs typeface="Yu Gothic"/>
              </a:defRPr>
            </a:pPr>
            <a:r>
              <a:rPr sz="2325">
                <a:solidFill>
                  <a:srgbClr val="203948"/>
                </a:solidFill>
                <a:latin typeface="Yu Gothic"/>
                <a:ea typeface="Yu Gothic"/>
                <a:cs typeface="Yu Gothic"/>
              </a:rPr>
              <a:t>期限を見て宿題を開く</a:t>
            </a:r>
          </a:p>
          <a:p xmlns:a="http://schemas.openxmlformats.org/drawingml/2006/main">
            <a:pPr>
              <a:defRPr sz="2325">
                <a:solidFill>
                  <a:srgbClr val="203948"/>
                </a:solidFill>
                <a:latin typeface="Yu Gothic"/>
                <a:ea typeface="Yu Gothic"/>
                <a:cs typeface="Yu Gothic"/>
              </a:defRPr>
            </a:pPr>
            <a:r>
              <a:rPr sz="2325">
                <a:solidFill>
                  <a:srgbClr val="203948"/>
                </a:solidFill>
                <a:latin typeface="Yu Gothic"/>
                <a:ea typeface="Yu Gothic"/>
                <a:cs typeface="Yu Gothic"/>
              </a:rPr>
              <a:t>内容を入力して提出する</a:t>
            </a:r>
          </a:p>
          <a:p xmlns:a="http://schemas.openxmlformats.org/drawingml/2006/main">
            <a:pPr>
              <a:defRPr sz="2325">
                <a:solidFill>
                  <a:srgbClr val="203948"/>
                </a:solidFill>
                <a:latin typeface="Yu Gothic"/>
                <a:ea typeface="Yu Gothic"/>
                <a:cs typeface="Yu Gothic"/>
              </a:defRPr>
            </a:pPr>
            <a:r>
              <a:rPr sz="2325">
                <a:solidFill>
                  <a:srgbClr val="203948"/>
                </a:solidFill>
                <a:latin typeface="Yu Gothic"/>
                <a:ea typeface="Yu Gothic"/>
                <a:cs typeface="Yu Gothic"/>
              </a:rPr>
              <a:t>提出後の状態を確認する</a:t>
            </a:r>
          </a:p>
        </p:txBody>
      </p:sp>
      <p:sp>
        <p:nvSpPr>
          <p:cNvPr id="6" name="">
            <a:extLst xmlns:a="http://schemas.openxmlformats.org/drawingml/2006/main">
              <a:ext uri="{FF2B5EF4-FFF2-40B4-BE49-F238E27FC236}">
                <a16:creationId xmlns:a16="http://schemas.microsoft.com/office/drawing/2014/main" id="{07A47F74-A4E1-4874-A0F9-B8601AB86A5F}"/>
              </a:ext>
            </a:extLst>
          </p:cNvPr>
          <p:cNvSpPr>
            <a:spLocks xmlns:a="http://schemas.openxmlformats.org/drawingml/2006/main" noGrp="1"/>
          </p:cNvSpPr>
          <p:nvPr/>
        </p:nvSpPr>
        <p:spPr>
          <a:xfrm xmlns:a="http://schemas.openxmlformats.org/drawingml/2006/main">
            <a:off x="5572125" y="5600700"/>
            <a:ext cx="576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模擬データによる既存画面例</a:t>
            </a:r>
          </a:p>
        </p:txBody>
      </p:sp>
    </p:spTree>
    <p:extLst>
      <p:ext uri="{BB962C8B-B14F-4D97-AF65-F5344CB8AC3E}">
        <p14:creationId xmlns:p14="http://schemas.microsoft.com/office/powerpoint/2010/main" val="806868135"/>
      </p:ext>
    </p:extLst>
  </p:cSld>
</p:sld>
</file>

<file path=ppt/slides/slide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E115B4-9F34-4B73-9369-A70F821C92F2}"/>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プランナーの提出物確認</a:t>
            </a:r>
          </a:p>
        </p:txBody>
      </p:sp>
      <p:sp>
        <p:nvSpPr>
          <p:cNvPr id="2" name="">
            <a:extLst xmlns:a="http://schemas.openxmlformats.org/drawingml/2006/main">
              <a:ext uri="{FF2B5EF4-FFF2-40B4-BE49-F238E27FC236}">
                <a16:creationId xmlns:a16="http://schemas.microsoft.com/office/drawing/2014/main" id="{72EEAAF5-17A7-4B13-A351-393753448C6C}"/>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6</a:t>
            </a:r>
          </a:p>
        </p:txBody>
      </p:sp>
      <p:pic>
        <p:nvPicPr>
          <p:cNvPr id="3" name="">
            <a:extLst xmlns:a="http://schemas.openxmlformats.org/drawingml/2006/main">
              <a:ext uri="{FF2B5EF4-FFF2-40B4-BE49-F238E27FC236}">
                <a16:creationId xmlns:a16="http://schemas.microsoft.com/office/drawing/2014/main" id="{34B0EEA0-E033-4421-A490-C81C3409F9D9}"/>
              </a:ext>
            </a:extLst>
          </p:cNvPr>
          <p:cNvPicPr>
            <a:picLocks xmlns:a="http://schemas.openxmlformats.org/drawingml/2006/main" noChangeAspect="1"/>
          </p:cNvPicPr>
          <p:nvPr/>
        </p:nvPicPr>
        <p:blipFill>
          <a:blip xmlns:r="http://schemas.openxmlformats.org/officeDocument/2006/relationships" xmlns:a="http://schemas.openxmlformats.org/drawingml/2006/main" r:embed="R6a52bc24c3b94c6d"/>
          <a:stretch xmlns:a="http://schemas.openxmlformats.org/drawingml/2006/main"/>
        </p:blipFill>
        <p:spPr>
          <a:xfrm xmlns:a="http://schemas.openxmlformats.org/drawingml/2006/main">
            <a:off x="1150844" y="1543050"/>
            <a:ext cx="6347012" cy="4495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F6B5584-3AC5-41F5-A3D7-A354CF56A78E}"/>
              </a:ext>
            </a:extLst>
          </p:cNvPr>
          <p:cNvSpPr>
            <a:spLocks xmlns:a="http://schemas.openxmlformats.org/drawingml/2006/main" noGrp="1"/>
          </p:cNvSpPr>
          <p:nvPr/>
        </p:nvSpPr>
        <p:spPr>
          <a:xfrm xmlns:a="http://schemas.openxmlformats.org/drawingml/2006/main">
            <a:off x="8477250" y="1943100"/>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03948"/>
                </a:solidFill>
                <a:latin typeface="Yu Gothic"/>
                <a:ea typeface="Yu Gothic"/>
                <a:cs typeface="Yu Gothic"/>
              </a:defRPr>
            </a:defPPr>
          </a:lstStyle>
          <a:p xmlns:a="http://schemas.openxmlformats.org/drawingml/2006/main">
            <a:pPr>
              <a:defRPr sz="2400" b="1">
                <a:solidFill>
                  <a:srgbClr val="203948"/>
                </a:solidFill>
                <a:latin typeface="Yu Gothic"/>
                <a:ea typeface="Yu Gothic"/>
                <a:cs typeface="Yu Gothic"/>
              </a:defRPr>
            </a:pPr>
            <a:r>
              <a:rPr sz="2400" b="1">
                <a:solidFill>
                  <a:srgbClr val="203948"/>
                </a:solidFill>
                <a:latin typeface="Yu Gothic"/>
                <a:ea typeface="Yu Gothic"/>
                <a:cs typeface="Yu Gothic"/>
              </a:rPr>
              <a:t>確認済み</a:t>
            </a:r>
          </a:p>
          <a:p xmlns:a="http://schemas.openxmlformats.org/drawingml/2006/main">
            <a:pPr>
              <a:defRPr sz="2400" b="1">
                <a:solidFill>
                  <a:srgbClr val="203948"/>
                </a:solidFill>
                <a:latin typeface="Yu Gothic"/>
                <a:ea typeface="Yu Gothic"/>
                <a:cs typeface="Yu Gothic"/>
              </a:defRPr>
            </a:pPr>
            <a:r>
              <a:rPr sz="2400" b="1">
                <a:solidFill>
                  <a:srgbClr val="203948"/>
                </a:solidFill>
                <a:latin typeface="Yu Gothic"/>
                <a:ea typeface="Yu Gothic"/>
                <a:cs typeface="Yu Gothic"/>
              </a:rPr>
              <a:t>または不備あり</a:t>
            </a:r>
          </a:p>
        </p:txBody>
      </p:sp>
      <p:sp>
        <p:nvSpPr>
          <p:cNvPr id="5" name="">
            <a:extLst xmlns:a="http://schemas.openxmlformats.org/drawingml/2006/main">
              <a:ext uri="{FF2B5EF4-FFF2-40B4-BE49-F238E27FC236}">
                <a16:creationId xmlns:a16="http://schemas.microsoft.com/office/drawing/2014/main" id="{8CFD0174-2BC7-4EB1-8FA4-2DA7424C0553}"/>
              </a:ext>
            </a:extLst>
          </p:cNvPr>
          <p:cNvSpPr>
            <a:spLocks xmlns:a="http://schemas.openxmlformats.org/drawingml/2006/main" noGrp="1"/>
          </p:cNvSpPr>
          <p:nvPr/>
        </p:nvSpPr>
        <p:spPr>
          <a:xfrm xmlns:a="http://schemas.openxmlformats.org/drawingml/2006/main">
            <a:off x="8477250" y="347662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203948"/>
                </a:solidFill>
                <a:latin typeface="Yu Gothic"/>
                <a:ea typeface="Yu Gothic"/>
                <a:cs typeface="Yu Gothic"/>
              </a:defRPr>
            </a:defPPr>
          </a:lstStyle>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理由をコメント</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再提出を確認</a:t>
            </a:r>
          </a:p>
        </p:txBody>
      </p:sp>
      <p:sp>
        <p:nvSpPr>
          <p:cNvPr id="6" name="">
            <a:extLst xmlns:a="http://schemas.openxmlformats.org/drawingml/2006/main">
              <a:ext uri="{FF2B5EF4-FFF2-40B4-BE49-F238E27FC236}">
                <a16:creationId xmlns:a16="http://schemas.microsoft.com/office/drawing/2014/main" id="{436D030D-3F14-44D2-BDFB-6593119762CF}"/>
              </a:ext>
            </a:extLst>
          </p:cNvPr>
          <p:cNvSpPr>
            <a:spLocks xmlns:a="http://schemas.openxmlformats.org/drawingml/2006/main" noGrp="1"/>
          </p:cNvSpPr>
          <p:nvPr/>
        </p:nvSpPr>
        <p:spPr>
          <a:xfrm xmlns:a="http://schemas.openxmlformats.org/drawingml/2006/main">
            <a:off x="8477250" y="5181600"/>
            <a:ext cx="3105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54F76"/>
                </a:solidFill>
                <a:latin typeface="Yu Gothic"/>
                <a:ea typeface="Yu Gothic"/>
                <a:cs typeface="Yu Gothic"/>
              </a:defRPr>
            </a:defPPr>
          </a:lstStyle>
          <a:p xmlns:a="http://schemas.openxmlformats.org/drawingml/2006/main">
            <a:pPr>
              <a:defRPr sz="2025" b="1">
                <a:solidFill>
                  <a:srgbClr val="C54F76"/>
                </a:solidFill>
                <a:latin typeface="Yu Gothic"/>
                <a:ea typeface="Yu Gothic"/>
                <a:cs typeface="Yu Gothic"/>
              </a:defRPr>
            </a:pPr>
            <a:r>
              <a:rPr sz="2025" b="1">
                <a:solidFill>
                  <a:srgbClr val="C54F76"/>
                </a:solidFill>
                <a:latin typeface="Yu Gothic"/>
                <a:ea typeface="Yu Gothic"/>
                <a:cs typeface="Yu Gothic"/>
              </a:rPr>
              <a:t>AI停止時も手入力可能</a:t>
            </a:r>
          </a:p>
        </p:txBody>
      </p:sp>
    </p:spTree>
    <p:extLst>
      <p:ext uri="{BB962C8B-B14F-4D97-AF65-F5344CB8AC3E}">
        <p14:creationId xmlns:p14="http://schemas.microsoft.com/office/powerpoint/2010/main" val="1217162469"/>
      </p:ext>
    </p:extLst>
  </p:cSld>
</p:sld>
</file>

<file path=ppt/slides/slide7.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235AED88-8935-4E27-9844-80313E52309B}"/>
              </a:ext>
            </a:extLst>
          </p:cNvPr>
          <p:cNvCxnSpPr>
            <a:stCxn xmlns:a="http://schemas.openxmlformats.org/drawingml/2006/main" id="8" idx="3"/>
            <a:endCxn xmlns:a="http://schemas.openxmlformats.org/drawingml/2006/main" id="5" idx="2"/>
          </p:cNvCxnSpPr>
          <p:nvPr/>
        </p:nvCxnSpPr>
        <p:spPr>
          <a:xfrm xmlns:a="http://schemas.openxmlformats.org/drawingml/2006/main" flipV="1">
            <a:off x="7953375" y="3095625"/>
            <a:ext cx="2095500" cy="1866900"/>
          </a:xfrm>
          <a:prstGeom xmlns:a="http://schemas.openxmlformats.org/drawingml/2006/main" prst="bentConnector4">
            <a:avLst>
              <a:gd name="adj1" fmla="val 10909"/>
              <a:gd name="adj2" fmla="val 87755"/>
            </a:avLst>
          </a:prstGeom>
          <a:ln xmlns:a="http://schemas.openxmlformats.org/drawingml/2006/main" w="28575">
            <a:solidFill>
              <a:srgbClr val="C54F76"/>
            </a:solidFill>
            <a:tailEnd type="arrow" w="med" len="med"/>
          </a:ln>
        </p:spPr>
      </p:cxnSp>
      <p:cxnSp>
        <p:nvCxnSpPr>
          <p:cNvPr id="7" name="">
            <a:extLst xmlns:a="http://schemas.openxmlformats.org/drawingml/2006/main">
              <a:ext uri="{FF2B5EF4-FFF2-40B4-BE49-F238E27FC236}">
                <a16:creationId xmlns:a16="http://schemas.microsoft.com/office/drawing/2014/main" id="{7CD6DA7F-2D2A-4AFB-A912-854D2953D71A}"/>
              </a:ext>
            </a:extLst>
          </p:cNvPr>
          <p:cNvCxnSpPr>
            <a:stCxn xmlns:a="http://schemas.openxmlformats.org/drawingml/2006/main" id="4" idx="3"/>
            <a:endCxn xmlns:a="http://schemas.openxmlformats.org/drawingml/2006/main" id="5" idx="1"/>
          </p:cNvCxnSpPr>
          <p:nvPr/>
        </p:nvCxnSpPr>
        <p:spPr>
          <a:xfrm xmlns:a="http://schemas.openxmlformats.org/drawingml/2006/main">
            <a:off x="7096125" y="2619375"/>
            <a:ext cx="1428750" cy="0"/>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6" name="">
            <a:extLst xmlns:a="http://schemas.openxmlformats.org/drawingml/2006/main">
              <a:ext uri="{FF2B5EF4-FFF2-40B4-BE49-F238E27FC236}">
                <a16:creationId xmlns:a16="http://schemas.microsoft.com/office/drawing/2014/main" id="{8E7C76FD-AECF-4611-8D9E-DB7270C736FF}"/>
              </a:ext>
            </a:extLst>
          </p:cNvPr>
          <p:cNvCxnSpPr>
            <a:stCxn xmlns:a="http://schemas.openxmlformats.org/drawingml/2006/main" id="3" idx="3"/>
            <a:endCxn xmlns:a="http://schemas.openxmlformats.org/drawingml/2006/main" id="4" idx="1"/>
          </p:cNvCxnSpPr>
          <p:nvPr/>
        </p:nvCxnSpPr>
        <p:spPr>
          <a:xfrm xmlns:a="http://schemas.openxmlformats.org/drawingml/2006/main">
            <a:off x="2800350" y="2619375"/>
            <a:ext cx="1819275" cy="0"/>
          </a:xfrm>
          <a:prstGeom xmlns:a="http://schemas.openxmlformats.org/drawingml/2006/main" prst="straightConnector1">
            <a:avLst/>
          </a:prstGeom>
          <a:ln xmlns:a="http://schemas.openxmlformats.org/drawingml/2006/main" w="28575">
            <a:solidFill>
              <a:srgbClr val="C54F76"/>
            </a:solidFill>
            <a:tailEnd type="arrow" w="med" len="med"/>
          </a:ln>
        </p:spPr>
      </p:cxnSp>
      <p:sp>
        <p:nvSpPr>
          <p:cNvPr id="14" name="">
            <a:extLst xmlns:a="http://schemas.openxmlformats.org/drawingml/2006/main">
              <a:ext uri="{FF2B5EF4-FFF2-40B4-BE49-F238E27FC236}">
                <a16:creationId xmlns:a16="http://schemas.microsoft.com/office/drawing/2014/main" id="{A183DCE5-295D-40A3-B791-C18EBCA232E2}"/>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システム構成とデータの境界</a:t>
            </a:r>
          </a:p>
        </p:txBody>
      </p:sp>
      <p:sp>
        <p:nvSpPr>
          <p:cNvPr id="2" name="">
            <a:extLst xmlns:a="http://schemas.openxmlformats.org/drawingml/2006/main">
              <a:ext uri="{FF2B5EF4-FFF2-40B4-BE49-F238E27FC236}">
                <a16:creationId xmlns:a16="http://schemas.microsoft.com/office/drawing/2014/main" id="{1046E2E9-3AE9-4F8C-BD6F-E6D298FF5263}"/>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7</a:t>
            </a:r>
          </a:p>
        </p:txBody>
      </p:sp>
      <p:sp>
        <p:nvSpPr>
          <p:cNvPr id="3" name="">
            <a:extLst xmlns:a="http://schemas.openxmlformats.org/drawingml/2006/main">
              <a:ext uri="{FF2B5EF4-FFF2-40B4-BE49-F238E27FC236}">
                <a16:creationId xmlns:a16="http://schemas.microsoft.com/office/drawing/2014/main" id="{BFBEB0CC-E9D2-4895-8C0B-431E46C79F93}"/>
              </a:ext>
            </a:extLst>
          </p:cNvPr>
          <p:cNvSpPr>
            <a:spLocks xmlns:a="http://schemas.openxmlformats.org/drawingml/2006/main" noGrp="1"/>
          </p:cNvSpPr>
          <p:nvPr/>
        </p:nvSpPr>
        <p:spPr>
          <a:xfrm xmlns:a="http://schemas.openxmlformats.org/drawingml/2006/main">
            <a:off x="609600" y="2143125"/>
            <a:ext cx="21907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ブラウザー</a:t>
            </a:r>
          </a:p>
        </p:txBody>
      </p:sp>
      <p:sp>
        <p:nvSpPr>
          <p:cNvPr id="4" name="">
            <a:extLst xmlns:a="http://schemas.openxmlformats.org/drawingml/2006/main">
              <a:ext uri="{FF2B5EF4-FFF2-40B4-BE49-F238E27FC236}">
                <a16:creationId xmlns:a16="http://schemas.microsoft.com/office/drawing/2014/main" id="{DF881851-52CF-4137-A2CA-FEBA3DC9DAA2}"/>
              </a:ext>
            </a:extLst>
          </p:cNvPr>
          <p:cNvSpPr>
            <a:spLocks xmlns:a="http://schemas.openxmlformats.org/drawingml/2006/main" noGrp="1"/>
          </p:cNvSpPr>
          <p:nvPr/>
        </p:nvSpPr>
        <p:spPr>
          <a:xfrm xmlns:a="http://schemas.openxmlformats.org/drawingml/2006/main">
            <a:off x="4619625" y="2143125"/>
            <a:ext cx="2476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Next.js</a:t>
            </a:r>
          </a:p>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画面・API</a:t>
            </a:r>
          </a:p>
        </p:txBody>
      </p:sp>
      <p:sp>
        <p:nvSpPr>
          <p:cNvPr id="5" name="">
            <a:extLst xmlns:a="http://schemas.openxmlformats.org/drawingml/2006/main">
              <a:ext uri="{FF2B5EF4-FFF2-40B4-BE49-F238E27FC236}">
                <a16:creationId xmlns:a16="http://schemas.microsoft.com/office/drawing/2014/main" id="{9FA2BD83-820A-4EB8-933E-20AB1626F95A}"/>
              </a:ext>
            </a:extLst>
          </p:cNvPr>
          <p:cNvSpPr>
            <a:spLocks xmlns:a="http://schemas.openxmlformats.org/drawingml/2006/main" noGrp="1"/>
          </p:cNvSpPr>
          <p:nvPr/>
        </p:nvSpPr>
        <p:spPr>
          <a:xfrm xmlns:a="http://schemas.openxmlformats.org/drawingml/2006/main">
            <a:off x="8524875" y="2143125"/>
            <a:ext cx="3048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Supabase</a:t>
            </a:r>
          </a:p>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Auth / DB / Storage</a:t>
            </a:r>
          </a:p>
        </p:txBody>
      </p:sp>
      <p:sp>
        <p:nvSpPr>
          <p:cNvPr id="8" name="">
            <a:extLst xmlns:a="http://schemas.openxmlformats.org/drawingml/2006/main">
              <a:ext uri="{FF2B5EF4-FFF2-40B4-BE49-F238E27FC236}">
                <a16:creationId xmlns:a16="http://schemas.microsoft.com/office/drawing/2014/main" id="{A8D23EC3-880B-474E-AA0E-0469E2A5C23D}"/>
              </a:ext>
            </a:extLst>
          </p:cNvPr>
          <p:cNvSpPr>
            <a:spLocks xmlns:a="http://schemas.openxmlformats.org/drawingml/2006/main" noGrp="1"/>
          </p:cNvSpPr>
          <p:nvPr/>
        </p:nvSpPr>
        <p:spPr>
          <a:xfrm xmlns:a="http://schemas.openxmlformats.org/drawingml/2006/main">
            <a:off x="4619625" y="4429125"/>
            <a:ext cx="3333750" cy="10668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ローカルAIワーカー</a:t>
            </a:r>
          </a:p>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Ollama</a:t>
            </a:r>
          </a:p>
        </p:txBody>
      </p:sp>
      <p:sp>
        <p:nvSpPr>
          <p:cNvPr id="10" name="">
            <a:extLst xmlns:a="http://schemas.openxmlformats.org/drawingml/2006/main">
              <a:ext uri="{FF2B5EF4-FFF2-40B4-BE49-F238E27FC236}">
                <a16:creationId xmlns:a16="http://schemas.microsoft.com/office/drawing/2014/main" id="{AB7BB272-54A6-4831-9BC2-0E3C22148554}"/>
              </a:ext>
            </a:extLst>
          </p:cNvPr>
          <p:cNvSpPr>
            <a:spLocks xmlns:a="http://schemas.openxmlformats.org/drawingml/2006/main" noGrp="1"/>
          </p:cNvSpPr>
          <p:nvPr/>
        </p:nvSpPr>
        <p:spPr>
          <a:xfrm xmlns:a="http://schemas.openxmlformats.org/drawingml/2006/main">
            <a:off x="2990850" y="166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本人のセッション</a:t>
            </a:r>
          </a:p>
        </p:txBody>
      </p:sp>
      <p:sp>
        <p:nvSpPr>
          <p:cNvPr id="11" name="">
            <a:extLst xmlns:a="http://schemas.openxmlformats.org/drawingml/2006/main">
              <a:ext uri="{FF2B5EF4-FFF2-40B4-BE49-F238E27FC236}">
                <a16:creationId xmlns:a16="http://schemas.microsoft.com/office/drawing/2014/main" id="{FBB29DCF-9B58-4472-B112-FE57D61D1529}"/>
              </a:ext>
            </a:extLst>
          </p:cNvPr>
          <p:cNvSpPr>
            <a:spLocks xmlns:a="http://schemas.openxmlformats.org/drawingml/2006/main" noGrp="1"/>
          </p:cNvSpPr>
          <p:nvPr/>
        </p:nvSpPr>
        <p:spPr>
          <a:xfrm xmlns:a="http://schemas.openxmlformats.org/drawingml/2006/main">
            <a:off x="7277100" y="16668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RLSで範囲を制限</a:t>
            </a:r>
          </a:p>
        </p:txBody>
      </p:sp>
      <p:sp>
        <p:nvSpPr>
          <p:cNvPr id="12" name="">
            <a:extLst xmlns:a="http://schemas.openxmlformats.org/drawingml/2006/main">
              <a:ext uri="{FF2B5EF4-FFF2-40B4-BE49-F238E27FC236}">
                <a16:creationId xmlns:a16="http://schemas.microsoft.com/office/drawing/2014/main" id="{AE0E8E3A-F6B3-4FA9-BBF6-A35DC2BEECEE}"/>
              </a:ext>
            </a:extLst>
          </p:cNvPr>
          <p:cNvSpPr>
            <a:spLocks xmlns:a="http://schemas.openxmlformats.org/drawingml/2006/main" noGrp="1"/>
          </p:cNvSpPr>
          <p:nvPr/>
        </p:nvSpPr>
        <p:spPr>
          <a:xfrm xmlns:a="http://schemas.openxmlformats.org/drawingml/2006/main">
            <a:off x="8382000" y="42291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AIジョブを取得し</a:t>
            </a:r>
          </a:p>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結果を書き戻す</a:t>
            </a:r>
          </a:p>
        </p:txBody>
      </p:sp>
      <p:sp>
        <p:nvSpPr>
          <p:cNvPr id="13" name="">
            <a:extLst xmlns:a="http://schemas.openxmlformats.org/drawingml/2006/main">
              <a:ext uri="{FF2B5EF4-FFF2-40B4-BE49-F238E27FC236}">
                <a16:creationId xmlns:a16="http://schemas.microsoft.com/office/drawing/2014/main" id="{1452EEF3-EF5C-44C5-BBFA-A67D98FB5E94}"/>
              </a:ext>
            </a:extLst>
          </p:cNvPr>
          <p:cNvSpPr>
            <a:spLocks xmlns:a="http://schemas.openxmlformats.org/drawingml/2006/main" noGrp="1"/>
          </p:cNvSpPr>
          <p:nvPr/>
        </p:nvSpPr>
        <p:spPr>
          <a:xfrm xmlns:a="http://schemas.openxmlformats.org/drawingml/2006/main">
            <a:off x="609600" y="5981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学校デモが対象。本番運用は現時点で予定していません</a:t>
            </a:r>
          </a:p>
        </p:txBody>
      </p:sp>
    </p:spTree>
    <p:extLst>
      <p:ext uri="{BB962C8B-B14F-4D97-AF65-F5344CB8AC3E}">
        <p14:creationId xmlns:p14="http://schemas.microsoft.com/office/powerpoint/2010/main" val="662846141"/>
      </p:ext>
    </p:extLst>
  </p:cSld>
</p:sld>
</file>

<file path=ppt/slides/slide8.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DFF5F7-5029-4376-932A-7A3EE5C635D1}"/>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AI補助と手動操作の分担</a:t>
            </a:r>
          </a:p>
        </p:txBody>
      </p:sp>
      <p:sp>
        <p:nvSpPr>
          <p:cNvPr id="2" name="">
            <a:extLst xmlns:a="http://schemas.openxmlformats.org/drawingml/2006/main">
              <a:ext uri="{FF2B5EF4-FFF2-40B4-BE49-F238E27FC236}">
                <a16:creationId xmlns:a16="http://schemas.microsoft.com/office/drawing/2014/main" id="{E9E519E7-BB3A-487A-B7AD-7C0ECEDFFDA2}"/>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8</a:t>
            </a:r>
          </a:p>
        </p:txBody>
      </p:sp>
      <p:graphicFrame>
        <p:nvGraphicFramePr>
          <p:cNvPr id="3" name="">
            <a:extLst xmlns:a="http://schemas.openxmlformats.org/drawingml/2006/main">
              <a:ext uri="{FF2B5EF4-FFF2-40B4-BE49-F238E27FC236}">
                <a16:creationId xmlns:a16="http://schemas.microsoft.com/office/drawing/2014/main" id="{4D3AFAEF-4C2E-4068-A001-7A88D6EDA56D}"/>
              </a:ext>
            </a:extLst>
          </p:cNvPr>
          <p:cNvGraphicFramePr/>
          <p:nvPr/>
        </p:nvGraphicFramePr>
        <p:xfrm>
          <a:off xmlns:a="http://schemas.openxmlformats.org/drawingml/2006/main" x="609600" y="1657350"/>
          <a:ext xmlns:a="http://schemas.openxmlformats.org/drawingml/2006/main" cx="10972800" cy="3352800"/>
        </p:xfrm>
        <a:graphic xmlns:a="http://schemas.openxmlformats.org/drawingml/2006/main">
          <a:graphicData uri="http://schemas.openxmlformats.org/drawingml/2006/table">
            <a:tbl>
              <a:tblPr/>
              <a:tblGrid>
                <a:gridCol w="2571750"/>
                <a:gridCol w="3762375"/>
                <a:gridCol w="4638675"/>
              </a:tblGrid>
              <a:tr h="838200">
                <a:tc>
                  <a:txBody>
                    <a:bodyPr/>
                    <a:lstStyle/>
                    <a:p>
                      <a:r>
                        <a:rPr sz="2175" b="1">
                          <a:solidFill>
                            <a:srgbClr val="FFFFFF"/>
                          </a:solidFill>
                          <a:latin typeface="Yu Gothic"/>
                          <a:ea typeface="Yu Gothic"/>
                          <a:cs typeface="Yu Gothic"/>
                        </a:rPr>
                        <a:t>作業</a:t>
                      </a:r>
                    </a:p>
                  </a:txBody>
                  <a:tcPr marL="171450" marR="133350" marT="142875" marB="114300" anchor="ctr">
                    <a:solidFill>
                      <a:srgbClr val="203948"/>
                    </a:solidFill>
                  </a:tcPr>
                </a:tc>
                <a:tc>
                  <a:txBody>
                    <a:bodyPr/>
                    <a:lstStyle/>
                    <a:p>
                      <a:r>
                        <a:rPr sz="2175" b="1">
                          <a:solidFill>
                            <a:srgbClr val="FFFFFF"/>
                          </a:solidFill>
                          <a:latin typeface="Yu Gothic"/>
                          <a:ea typeface="Yu Gothic"/>
                          <a:cs typeface="Yu Gothic"/>
                        </a:rPr>
                        <a:t>AI補助</a:t>
                      </a:r>
                    </a:p>
                  </a:txBody>
                  <a:tcPr marL="171450" marR="133350" marT="142875" marB="114300" anchor="ctr">
                    <a:solidFill>
                      <a:srgbClr val="203948"/>
                    </a:solidFill>
                  </a:tcPr>
                </a:tc>
                <a:tc>
                  <a:txBody>
                    <a:bodyPr/>
                    <a:lstStyle/>
                    <a:p>
                      <a:r>
                        <a:rPr sz="2175" b="1">
                          <a:solidFill>
                            <a:srgbClr val="FFFFFF"/>
                          </a:solidFill>
                          <a:latin typeface="Yu Gothic"/>
                          <a:ea typeface="Yu Gothic"/>
                          <a:cs typeface="Yu Gothic"/>
                        </a:rPr>
                        <a:t>利用できない場合</a:t>
                      </a:r>
                    </a:p>
                  </a:txBody>
                  <a:tcPr marL="171450" marR="133350" marT="142875" marB="114300" anchor="ctr">
                    <a:solidFill>
                      <a:srgbClr val="203948"/>
                    </a:solidFill>
                  </a:tcPr>
                </a:tc>
              </a:tr>
              <a:tr h="838200">
                <a:tc>
                  <a:txBody>
                    <a:bodyPr/>
                    <a:lstStyle/>
                    <a:p>
                      <a:r>
                        <a:rPr sz="2175">
                          <a:solidFill>
                            <a:srgbClr val="203948"/>
                          </a:solidFill>
                          <a:latin typeface="Yu Gothic"/>
                          <a:ea typeface="Yu Gothic"/>
                          <a:cs typeface="Yu Gothic"/>
                        </a:rPr>
                        <a:t>提出内容の確認</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分類・不備候補</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担当者が内容を読む</a:t>
                      </a:r>
                    </a:p>
                  </a:txBody>
                  <a:tcPr marL="171450" marR="133350" marT="142875" marB="114300" anchor="ctr">
                    <a:solidFill>
                      <a:srgbClr val="FFFFFF"/>
                    </a:solidFill>
                  </a:tcPr>
                </a:tc>
              </a:tr>
              <a:tr h="838200">
                <a:tc>
                  <a:txBody>
                    <a:bodyPr/>
                    <a:lstStyle/>
                    <a:p>
                      <a:r>
                        <a:rPr sz="2175">
                          <a:solidFill>
                            <a:srgbClr val="203948"/>
                          </a:solidFill>
                          <a:latin typeface="Yu Gothic"/>
                          <a:ea typeface="Yu Gothic"/>
                          <a:cs typeface="Yu Gothic"/>
                        </a:rPr>
                        <a:t>返信文の作成</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文章の下書き</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コメントを手入力</a:t>
                      </a:r>
                    </a:p>
                  </a:txBody>
                  <a:tcPr marL="171450" marR="133350" marT="142875" marB="114300" anchor="ctr">
                    <a:solidFill>
                      <a:srgbClr val="FFFFFF"/>
                    </a:solidFill>
                  </a:tcPr>
                </a:tc>
              </a:tr>
              <a:tr h="838200">
                <a:tc>
                  <a:txBody>
                    <a:bodyPr/>
                    <a:lstStyle/>
                    <a:p>
                      <a:r>
                        <a:rPr sz="2175">
                          <a:solidFill>
                            <a:srgbClr val="203948"/>
                          </a:solidFill>
                          <a:latin typeface="Yu Gothic"/>
                          <a:ea typeface="Yu Gothic"/>
                          <a:cs typeface="Yu Gothic"/>
                        </a:rPr>
                        <a:t>最終判断</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担当者が結果を確認</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同じ確認手順を続ける</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4B85F73-6CE7-4322-9413-15F2E56C5E0A}"/>
              </a:ext>
            </a:extLst>
          </p:cNvPr>
          <p:cNvSpPr>
            <a:spLocks xmlns:a="http://schemas.openxmlformats.org/drawingml/2006/main" noGrp="1"/>
          </p:cNvSpPr>
          <p:nvPr/>
        </p:nvSpPr>
        <p:spPr>
          <a:xfrm xmlns:a="http://schemas.openxmlformats.org/drawingml/2006/main">
            <a:off x="609600" y="55626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54F76"/>
                </a:solidFill>
                <a:latin typeface="Yu Gothic"/>
                <a:ea typeface="Yu Gothic"/>
                <a:cs typeface="Yu Gothic"/>
              </a:defRPr>
            </a:defPPr>
          </a:lstStyle>
          <a:p xmlns:a="http://schemas.openxmlformats.org/drawingml/2006/main">
            <a:pPr>
              <a:defRPr sz="2175" b="1">
                <a:solidFill>
                  <a:srgbClr val="C54F76"/>
                </a:solidFill>
                <a:latin typeface="Yu Gothic"/>
                <a:ea typeface="Yu Gothic"/>
                <a:cs typeface="Yu Gothic"/>
              </a:defRPr>
            </a:pPr>
            <a:r>
              <a:rPr sz="2175" b="1">
                <a:solidFill>
                  <a:srgbClr val="C54F76"/>
                </a:solidFill>
                <a:latin typeface="Yu Gothic"/>
                <a:ea typeface="Yu Gothic"/>
                <a:cs typeface="Yu Gothic"/>
              </a:rPr>
              <a:t>開発用Agent AIの契約は、チーム参加の条件にしません</a:t>
            </a:r>
          </a:p>
        </p:txBody>
      </p:sp>
    </p:spTree>
    <p:extLst>
      <p:ext uri="{BB962C8B-B14F-4D97-AF65-F5344CB8AC3E}">
        <p14:creationId xmlns:p14="http://schemas.microsoft.com/office/powerpoint/2010/main" val="1952781109"/>
      </p:ext>
    </p:extLst>
  </p:cSld>
</p:sld>
</file>

<file path=ppt/slides/slide9.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FF756D-851D-4E8C-A52F-9E662644981B}"/>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実装と検証の記録</a:t>
            </a:r>
          </a:p>
        </p:txBody>
      </p:sp>
      <p:sp>
        <p:nvSpPr>
          <p:cNvPr id="2" name="">
            <a:extLst xmlns:a="http://schemas.openxmlformats.org/drawingml/2006/main">
              <a:ext uri="{FF2B5EF4-FFF2-40B4-BE49-F238E27FC236}">
                <a16:creationId xmlns:a16="http://schemas.microsoft.com/office/drawing/2014/main" id="{A602FE20-3CED-4094-996E-62D07D5596F1}"/>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9</a:t>
            </a:r>
          </a:p>
        </p:txBody>
      </p:sp>
      <p:sp>
        <p:nvSpPr>
          <p:cNvPr id="3" name="">
            <a:extLst xmlns:a="http://schemas.openxmlformats.org/drawingml/2006/main">
              <a:ext uri="{FF2B5EF4-FFF2-40B4-BE49-F238E27FC236}">
                <a16:creationId xmlns:a16="http://schemas.microsoft.com/office/drawing/2014/main" id="{28E75950-C71E-4B60-AAEB-43A3DDC11AD7}"/>
              </a:ext>
            </a:extLst>
          </p:cNvPr>
          <p:cNvSpPr>
            <a:spLocks xmlns:a="http://schemas.openxmlformats.org/drawingml/2006/main" noGrp="1"/>
          </p:cNvSpPr>
          <p:nvPr/>
        </p:nvSpPr>
        <p:spPr>
          <a:xfrm xmlns:a="http://schemas.openxmlformats.org/drawingml/2006/main">
            <a:off x="609600" y="1524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0747F"/>
                </a:solidFill>
                <a:latin typeface="Yu Gothic"/>
                <a:ea typeface="Yu Gothic"/>
                <a:cs typeface="Yu Gothic"/>
              </a:defRPr>
            </a:defPPr>
          </a:lstStyle>
          <a:p xmlns:a="http://schemas.openxmlformats.org/drawingml/2006/main">
            <a:pPr>
              <a:defRPr sz="2100">
                <a:solidFill>
                  <a:srgbClr val="60747F"/>
                </a:solidFill>
                <a:latin typeface="Yu Gothic"/>
                <a:ea typeface="Yu Gothic"/>
                <a:cs typeface="Yu Gothic"/>
              </a:defRPr>
            </a:pPr>
            <a:r>
              <a:rPr sz="2100">
                <a:solidFill>
                  <a:srgbClr val="60747F"/>
                </a:solidFill>
                <a:latin typeface="Yu Gothic"/>
                <a:ea typeface="Yu Gothic"/>
                <a:cs typeface="Yu Gothic"/>
              </a:rPr>
              <a:t>PR #79 / CI全4ジョブ成功</a:t>
            </a:r>
          </a:p>
        </p:txBody>
      </p:sp>
      <p:sp>
        <p:nvSpPr>
          <p:cNvPr id="4" name="">
            <a:extLst xmlns:a="http://schemas.openxmlformats.org/drawingml/2006/main">
              <a:ext uri="{FF2B5EF4-FFF2-40B4-BE49-F238E27FC236}">
                <a16:creationId xmlns:a16="http://schemas.microsoft.com/office/drawing/2014/main" id="{83AB02C2-0F83-4E93-AF88-A92074CDDC18}"/>
              </a:ext>
            </a:extLst>
          </p:cNvPr>
          <p:cNvSpPr>
            <a:spLocks xmlns:a="http://schemas.openxmlformats.org/drawingml/2006/main" noGrp="1"/>
          </p:cNvSpPr>
          <p:nvPr/>
        </p:nvSpPr>
        <p:spPr>
          <a:xfrm xmlns:a="http://schemas.openxmlformats.org/drawingml/2006/main">
            <a:off x="609600" y="230505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C54F76"/>
                </a:solidFill>
                <a:latin typeface="Yu Gothic"/>
                <a:ea typeface="Yu Gothic"/>
                <a:cs typeface="Yu Gothic"/>
              </a:defRPr>
            </a:defPPr>
          </a:lstStyle>
          <a:p xmlns:a="http://schemas.openxmlformats.org/drawingml/2006/main">
            <a:pPr>
              <a:defRPr sz="6900" b="1">
                <a:solidFill>
                  <a:srgbClr val="C54F76"/>
                </a:solidFill>
                <a:latin typeface="Yu Gothic"/>
                <a:ea typeface="Yu Gothic"/>
                <a:cs typeface="Yu Gothic"/>
              </a:defRPr>
            </a:pPr>
            <a:r>
              <a:rPr sz="6900" b="1">
                <a:solidFill>
                  <a:srgbClr val="C54F76"/>
                </a:solidFill>
                <a:latin typeface="Yu Gothic"/>
                <a:ea typeface="Yu Gothic"/>
                <a:cs typeface="Yu Gothic"/>
              </a:rPr>
              <a:t>834</a:t>
            </a:r>
          </a:p>
        </p:txBody>
      </p:sp>
      <p:sp>
        <p:nvSpPr>
          <p:cNvPr id="5" name="">
            <a:extLst xmlns:a="http://schemas.openxmlformats.org/drawingml/2006/main">
              <a:ext uri="{FF2B5EF4-FFF2-40B4-BE49-F238E27FC236}">
                <a16:creationId xmlns:a16="http://schemas.microsoft.com/office/drawing/2014/main" id="{D40CFE84-4BDE-41BD-9B5E-5AE77C53E3AA}"/>
              </a:ext>
            </a:extLst>
          </p:cNvPr>
          <p:cNvSpPr>
            <a:spLocks xmlns:a="http://schemas.openxmlformats.org/drawingml/2006/main" noGrp="1"/>
          </p:cNvSpPr>
          <p:nvPr/>
        </p:nvSpPr>
        <p:spPr>
          <a:xfrm xmlns:a="http://schemas.openxmlformats.org/drawingml/2006/main">
            <a:off x="609600" y="36004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203948"/>
                </a:solidFill>
                <a:latin typeface="Yu Gothic"/>
                <a:ea typeface="Yu Gothic"/>
                <a:cs typeface="Yu Gothic"/>
              </a:defRPr>
            </a:defPPr>
          </a:lstStyle>
          <a:p xmlns:a="http://schemas.openxmlformats.org/drawingml/2006/main">
            <a:pPr>
              <a:defRPr sz="2100">
                <a:solidFill>
                  <a:srgbClr val="203948"/>
                </a:solidFill>
                <a:latin typeface="Yu Gothic"/>
                <a:ea typeface="Yu Gothic"/>
                <a:cs typeface="Yu Gothic"/>
              </a:defRPr>
            </a:pPr>
            <a:r>
              <a:rPr sz="2100">
                <a:solidFill>
                  <a:srgbClr val="203948"/>
                </a:solidFill>
                <a:latin typeface="Yu Gothic"/>
                <a:ea typeface="Yu Gothic"/>
                <a:cs typeface="Yu Gothic"/>
              </a:rPr>
              <a:t>単体・DB関連の成功件数</a:t>
            </a:r>
          </a:p>
        </p:txBody>
      </p:sp>
      <p:sp>
        <p:nvSpPr>
          <p:cNvPr id="6" name="">
            <a:extLst xmlns:a="http://schemas.openxmlformats.org/drawingml/2006/main">
              <a:ext uri="{FF2B5EF4-FFF2-40B4-BE49-F238E27FC236}">
                <a16:creationId xmlns:a16="http://schemas.microsoft.com/office/drawing/2014/main" id="{834591AF-384D-48F7-8B75-8FF9B5086F97}"/>
              </a:ext>
            </a:extLst>
          </p:cNvPr>
          <p:cNvSpPr>
            <a:spLocks xmlns:a="http://schemas.openxmlformats.org/drawingml/2006/main" noGrp="1"/>
          </p:cNvSpPr>
          <p:nvPr/>
        </p:nvSpPr>
        <p:spPr>
          <a:xfrm xmlns:a="http://schemas.openxmlformats.org/drawingml/2006/main">
            <a:off x="6524625" y="230505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C54F76"/>
                </a:solidFill>
                <a:latin typeface="Yu Gothic"/>
                <a:ea typeface="Yu Gothic"/>
                <a:cs typeface="Yu Gothic"/>
              </a:defRPr>
            </a:defPPr>
          </a:lstStyle>
          <a:p xmlns:a="http://schemas.openxmlformats.org/drawingml/2006/main">
            <a:pPr>
              <a:defRPr sz="6900" b="1">
                <a:solidFill>
                  <a:srgbClr val="C54F76"/>
                </a:solidFill>
                <a:latin typeface="Yu Gothic"/>
                <a:ea typeface="Yu Gothic"/>
                <a:cs typeface="Yu Gothic"/>
              </a:defRPr>
            </a:pPr>
            <a:r>
              <a:rPr sz="6900" b="1">
                <a:solidFill>
                  <a:srgbClr val="C54F76"/>
                </a:solidFill>
                <a:latin typeface="Yu Gothic"/>
                <a:ea typeface="Yu Gothic"/>
                <a:cs typeface="Yu Gothic"/>
              </a:rPr>
              <a:t>84</a:t>
            </a:r>
          </a:p>
        </p:txBody>
      </p:sp>
      <p:sp>
        <p:nvSpPr>
          <p:cNvPr id="7" name="">
            <a:extLst xmlns:a="http://schemas.openxmlformats.org/drawingml/2006/main">
              <a:ext uri="{FF2B5EF4-FFF2-40B4-BE49-F238E27FC236}">
                <a16:creationId xmlns:a16="http://schemas.microsoft.com/office/drawing/2014/main" id="{2173BC23-A000-4C82-A998-27879B4B16AF}"/>
              </a:ext>
            </a:extLst>
          </p:cNvPr>
          <p:cNvSpPr>
            <a:spLocks xmlns:a="http://schemas.openxmlformats.org/drawingml/2006/main" noGrp="1"/>
          </p:cNvSpPr>
          <p:nvPr/>
        </p:nvSpPr>
        <p:spPr>
          <a:xfrm xmlns:a="http://schemas.openxmlformats.org/drawingml/2006/main">
            <a:off x="6524625" y="3600450"/>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203948"/>
                </a:solidFill>
                <a:latin typeface="Yu Gothic"/>
                <a:ea typeface="Yu Gothic"/>
                <a:cs typeface="Yu Gothic"/>
              </a:defRPr>
            </a:defPPr>
          </a:lstStyle>
          <a:p xmlns:a="http://schemas.openxmlformats.org/drawingml/2006/main">
            <a:pPr>
              <a:defRPr sz="1875">
                <a:solidFill>
                  <a:srgbClr val="203948"/>
                </a:solidFill>
                <a:latin typeface="Yu Gothic"/>
                <a:ea typeface="Yu Gothic"/>
                <a:cs typeface="Yu Gothic"/>
              </a:defRPr>
            </a:pPr>
            <a:r>
              <a:rPr sz="1875">
                <a:solidFill>
                  <a:srgbClr val="203948"/>
                </a:solidFill>
                <a:latin typeface="Yu Gothic"/>
                <a:ea typeface="Yu Gothic"/>
                <a:cs typeface="Yu Gothic"/>
              </a:rPr>
              <a:t>ブラウザー操作の成功件数</a:t>
            </a:r>
          </a:p>
          <a:p xmlns:a="http://schemas.openxmlformats.org/drawingml/2006/main">
            <a:pPr>
              <a:defRPr sz="1875">
                <a:solidFill>
                  <a:srgbClr val="203948"/>
                </a:solidFill>
                <a:latin typeface="Yu Gothic"/>
                <a:ea typeface="Yu Gothic"/>
                <a:cs typeface="Yu Gothic"/>
              </a:defRPr>
            </a:pPr>
            <a:r>
              <a:rPr sz="1875">
                <a:solidFill>
                  <a:srgbClr val="203948"/>
                </a:solidFill>
                <a:latin typeface="Yu Gothic"/>
                <a:ea typeface="Yu Gothic"/>
                <a:cs typeface="Yu Gothic"/>
              </a:rPr>
              <a:t>（PC・スマートフォンを模擬）</a:t>
            </a:r>
          </a:p>
        </p:txBody>
      </p:sp>
      <p:sp>
        <p:nvSpPr>
          <p:cNvPr id="8" name="">
            <a:extLst xmlns:a="http://schemas.openxmlformats.org/drawingml/2006/main">
              <a:ext uri="{FF2B5EF4-FFF2-40B4-BE49-F238E27FC236}">
                <a16:creationId xmlns:a16="http://schemas.microsoft.com/office/drawing/2014/main" id="{3C7B13B0-7B18-401D-AC76-4E0F2BCC9A40}"/>
              </a:ext>
            </a:extLst>
          </p:cNvPr>
          <p:cNvSpPr>
            <a:spLocks xmlns:a="http://schemas.openxmlformats.org/drawingml/2006/main" noGrp="1"/>
          </p:cNvSpPr>
          <p:nvPr/>
        </p:nvSpPr>
        <p:spPr>
          <a:xfrm xmlns:a="http://schemas.openxmlformats.org/drawingml/2006/main">
            <a:off x="609600" y="437197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実PG 15件 / 主要3モジュールの分岐網羅率100%</a:t>
            </a:r>
          </a:p>
        </p:txBody>
      </p:sp>
      <p:sp>
        <p:nvSpPr>
          <p:cNvPr id="9" name="">
            <a:extLst xmlns:a="http://schemas.openxmlformats.org/drawingml/2006/main">
              <a:ext uri="{FF2B5EF4-FFF2-40B4-BE49-F238E27FC236}">
                <a16:creationId xmlns:a16="http://schemas.microsoft.com/office/drawing/2014/main" id="{9B53CE5A-372C-4C5A-8661-C3CE9DD5B635}"/>
              </a:ext>
            </a:extLst>
          </p:cNvPr>
          <p:cNvSpPr>
            <a:spLocks xmlns:a="http://schemas.openxmlformats.org/drawingml/2006/main" noGrp="1"/>
          </p:cNvSpPr>
          <p:nvPr/>
        </p:nvSpPr>
        <p:spPr>
          <a:xfrm xmlns:a="http://schemas.openxmlformats.org/drawingml/2006/main">
            <a:off x="609600" y="492442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948"/>
                </a:solidFill>
                <a:latin typeface="Yu Gothic"/>
                <a:ea typeface="Yu Gothic"/>
                <a:cs typeface="Yu Gothic"/>
              </a:defRPr>
            </a:defPPr>
          </a:lstStyle>
          <a:p xmlns:a="http://schemas.openxmlformats.org/drawingml/2006/main">
            <a:pPr>
              <a:defRPr sz="2175" b="1">
                <a:solidFill>
                  <a:srgbClr val="203948"/>
                </a:solidFill>
                <a:latin typeface="Yu Gothic"/>
                <a:ea typeface="Yu Gothic"/>
                <a:cs typeface="Yu Gothic"/>
              </a:defRPr>
            </a:pPr>
            <a:r>
              <a:rPr sz="2175" b="1">
                <a:solidFill>
                  <a:srgbClr val="203948"/>
                </a:solidFill>
                <a:latin typeface="Yu Gothic"/>
                <a:ea typeface="Yu Gothic"/>
                <a:cs typeface="Yu Gothic"/>
              </a:rPr>
              <a:t>コードはmain統合済み・共有DB反映は未完了</a:t>
            </a:r>
          </a:p>
        </p:txBody>
      </p:sp>
      <p:sp>
        <p:nvSpPr>
          <p:cNvPr id="10" name="">
            <a:extLst xmlns:a="http://schemas.openxmlformats.org/drawingml/2006/main">
              <a:ext uri="{FF2B5EF4-FFF2-40B4-BE49-F238E27FC236}">
                <a16:creationId xmlns:a16="http://schemas.microsoft.com/office/drawing/2014/main" id="{1C5CD7C2-C906-49B0-8671-8697A63A6B0B}"/>
              </a:ext>
            </a:extLst>
          </p:cNvPr>
          <p:cNvSpPr>
            <a:spLocks xmlns:a="http://schemas.openxmlformats.org/drawingml/2006/main" noGrp="1"/>
          </p:cNvSpPr>
          <p:nvPr/>
        </p:nvSpPr>
        <p:spPr>
          <a:xfrm xmlns:a="http://schemas.openxmlformats.org/drawingml/2006/main">
            <a:off x="609600" y="559117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60747F"/>
                </a:solidFill>
                <a:latin typeface="Yu Gothic"/>
                <a:ea typeface="Yu Gothic"/>
                <a:cs typeface="Yu Gothic"/>
              </a:defRPr>
            </a:defPPr>
          </a:lstStyle>
          <a:p xmlns:a="http://schemas.openxmlformats.org/drawingml/2006/main">
            <a:pPr>
              <a:defRPr sz="1950">
                <a:solidFill>
                  <a:srgbClr val="60747F"/>
                </a:solidFill>
                <a:latin typeface="Yu Gothic"/>
                <a:ea typeface="Yu Gothic"/>
                <a:cs typeface="Yu Gothic"/>
              </a:defRPr>
            </a:pPr>
            <a:r>
              <a:rPr sz="1950">
                <a:solidFill>
                  <a:srgbClr val="60747F"/>
                </a:solidFill>
                <a:latin typeface="Yu Gothic"/>
                <a:ea typeface="Yu Gothic"/>
                <a:cs typeface="Yu Gothic"/>
              </a:rPr>
              <a:t>実端末・使い勝手・人の作業時間は未評価</a:t>
            </a:r>
          </a:p>
        </p:txBody>
      </p:sp>
    </p:spTree>
    <p:extLst>
      <p:ext uri="{BB962C8B-B14F-4D97-AF65-F5344CB8AC3E}">
        <p14:creationId xmlns:p14="http://schemas.microsoft.com/office/powerpoint/2010/main" val="1009752031"/>
      </p:ext>
    </p:extLst>
  </p:cSld>
</p:sld>
</file>

<file path=ppt/slides/slide10.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5DE31A-16F6-4724-98D3-6023CF72B514}"/>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自動検証と人による評価</a:t>
            </a:r>
          </a:p>
        </p:txBody>
      </p:sp>
      <p:sp>
        <p:nvSpPr>
          <p:cNvPr id="2" name="">
            <a:extLst xmlns:a="http://schemas.openxmlformats.org/drawingml/2006/main">
              <a:ext uri="{FF2B5EF4-FFF2-40B4-BE49-F238E27FC236}">
                <a16:creationId xmlns:a16="http://schemas.microsoft.com/office/drawing/2014/main" id="{17470D49-E552-41B8-BA26-1A1D7BFE692B}"/>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10</a:t>
            </a:r>
          </a:p>
        </p:txBody>
      </p:sp>
      <p:graphicFrame>
        <p:nvGraphicFramePr>
          <p:cNvPr id="3" name="">
            <a:extLst xmlns:a="http://schemas.openxmlformats.org/drawingml/2006/main">
              <a:ext uri="{FF2B5EF4-FFF2-40B4-BE49-F238E27FC236}">
                <a16:creationId xmlns:a16="http://schemas.microsoft.com/office/drawing/2014/main" id="{2267FA08-5AE3-49FF-A56A-C9618836F18C}"/>
              </a:ext>
            </a:extLst>
          </p:cNvPr>
          <p:cNvGraphicFramePr/>
          <p:nvPr/>
        </p:nvGraphicFramePr>
        <p:xfrm>
          <a:off xmlns:a="http://schemas.openxmlformats.org/drawingml/2006/main" x="609600" y="1609725"/>
          <a:ext xmlns:a="http://schemas.openxmlformats.org/drawingml/2006/main" cx="10972800" cy="4133850"/>
        </p:xfrm>
        <a:graphic xmlns:a="http://schemas.openxmlformats.org/drawingml/2006/main">
          <a:graphicData uri="http://schemas.openxmlformats.org/drawingml/2006/table">
            <a:tbl>
              <a:tblPr/>
              <a:tblGrid>
                <a:gridCol w="2857500"/>
                <a:gridCol w="5143500"/>
                <a:gridCol w="2971800"/>
              </a:tblGrid>
              <a:tr h="688975">
                <a:tc>
                  <a:txBody>
                    <a:bodyPr/>
                    <a:lstStyle/>
                    <a:p>
                      <a:r>
                        <a:rPr sz="1950" b="1">
                          <a:solidFill>
                            <a:srgbClr val="FFFFFF"/>
                          </a:solidFill>
                          <a:latin typeface="Yu Gothic"/>
                          <a:ea typeface="Yu Gothic"/>
                          <a:cs typeface="Yu Gothic"/>
                        </a:rPr>
                        <a:t>観点</a:t>
                      </a:r>
                    </a:p>
                  </a:txBody>
                  <a:tcPr marL="171450" marR="133350" marT="142875" marB="114300" anchor="ctr">
                    <a:solidFill>
                      <a:srgbClr val="203948"/>
                    </a:solidFill>
                  </a:tcPr>
                </a:tc>
                <a:tc>
                  <a:txBody>
                    <a:bodyPr/>
                    <a:lstStyle/>
                    <a:p>
                      <a:r>
                        <a:rPr sz="1950" b="1">
                          <a:solidFill>
                            <a:srgbClr val="FFFFFF"/>
                          </a:solidFill>
                          <a:latin typeface="Yu Gothic"/>
                          <a:ea typeface="Yu Gothic"/>
                          <a:cs typeface="Yu Gothic"/>
                        </a:rPr>
                        <a:t>確認する方法</a:t>
                      </a:r>
                    </a:p>
                  </a:txBody>
                  <a:tcPr marL="171450" marR="133350" marT="142875" marB="114300" anchor="ctr">
                    <a:solidFill>
                      <a:srgbClr val="203948"/>
                    </a:solidFill>
                  </a:tcPr>
                </a:tc>
                <a:tc>
                  <a:txBody>
                    <a:bodyPr/>
                    <a:lstStyle/>
                    <a:p>
                      <a:r>
                        <a:rPr sz="1950" b="1">
                          <a:solidFill>
                            <a:srgbClr val="FFFFFF"/>
                          </a:solidFill>
                          <a:latin typeface="Yu Gothic"/>
                          <a:ea typeface="Yu Gothic"/>
                          <a:cs typeface="Yu Gothic"/>
                        </a:rPr>
                        <a:t>現状</a:t>
                      </a:r>
                    </a:p>
                  </a:txBody>
                  <a:tcPr marL="171450" marR="133350" marT="142875" marB="114300" anchor="ctr">
                    <a:solidFill>
                      <a:srgbClr val="203948"/>
                    </a:solidFill>
                  </a:tcPr>
                </a:tc>
              </a:tr>
              <a:tr h="688975">
                <a:tc>
                  <a:txBody>
                    <a:bodyPr/>
                    <a:lstStyle/>
                    <a:p>
                      <a:r>
                        <a:rPr sz="1950">
                          <a:solidFill>
                            <a:srgbClr val="203948"/>
                          </a:solidFill>
                          <a:latin typeface="Yu Gothic"/>
                          <a:ea typeface="Yu Gothic"/>
                          <a:cs typeface="Yu Gothic"/>
                        </a:rPr>
                        <a:t>権限・業務状態</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RLS・API・画面の自動試験</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版ごとに記録</a:t>
                      </a:r>
                    </a:p>
                  </a:txBody>
                  <a:tcPr marL="171450" marR="133350" marT="142875" marB="114300" anchor="ctr">
                    <a:solidFill>
                      <a:srgbClr val="FFFFFF"/>
                    </a:solidFill>
                  </a:tcPr>
                </a:tc>
              </a:tr>
              <a:tr h="688975">
                <a:tc>
                  <a:txBody>
                    <a:bodyPr/>
                    <a:lstStyle/>
                    <a:p>
                      <a:r>
                        <a:rPr sz="1950">
                          <a:solidFill>
                            <a:srgbClr val="203948"/>
                          </a:solidFill>
                          <a:latin typeface="Yu Gothic"/>
                          <a:ea typeface="Yu Gothic"/>
                          <a:cs typeface="Yu Gothic"/>
                        </a:rPr>
                        <a:t>障害時の動作</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DB・Storageの失敗を再現</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版ごとに記録</a:t>
                      </a:r>
                    </a:p>
                  </a:txBody>
                  <a:tcPr marL="171450" marR="133350" marT="142875" marB="114300" anchor="ctr">
                    <a:solidFill>
                      <a:srgbClr val="FFFFFF"/>
                    </a:solidFill>
                  </a:tcPr>
                </a:tc>
              </a:tr>
              <a:tr h="688975">
                <a:tc>
                  <a:txBody>
                    <a:bodyPr/>
                    <a:lstStyle/>
                    <a:p>
                      <a:r>
                        <a:rPr sz="1950">
                          <a:solidFill>
                            <a:srgbClr val="203948"/>
                          </a:solidFill>
                          <a:latin typeface="Yu Gothic"/>
                          <a:ea typeface="Yu Gothic"/>
                          <a:cs typeface="Yu Gothic"/>
                        </a:rPr>
                        <a:t>CI負荷試験</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300案件・30同時利用を計測</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3秒目標未達</a:t>
                      </a:r>
                    </a:p>
                  </a:txBody>
                  <a:tcPr marL="171450" marR="133350" marT="142875" marB="114300" anchor="ctr">
                    <a:solidFill>
                      <a:srgbClr val="FFFFFF"/>
                    </a:solidFill>
                  </a:tcPr>
                </a:tc>
              </a:tr>
              <a:tr h="688975">
                <a:tc>
                  <a:txBody>
                    <a:bodyPr/>
                    <a:lstStyle/>
                    <a:p>
                      <a:r>
                        <a:rPr sz="1950">
                          <a:solidFill>
                            <a:srgbClr val="203948"/>
                          </a:solidFill>
                          <a:latin typeface="Yu Gothic"/>
                          <a:ea typeface="Yu Gothic"/>
                          <a:cs typeface="Yu Gothic"/>
                        </a:rPr>
                        <a:t>実端末・操作性</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同じ課題を人が操作する</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未実施</a:t>
                      </a:r>
                    </a:p>
                  </a:txBody>
                  <a:tcPr marL="171450" marR="133350" marT="142875" marB="114300" anchor="ctr">
                    <a:solidFill>
                      <a:srgbClr val="FFFFFF"/>
                    </a:solidFill>
                  </a:tcPr>
                </a:tc>
              </a:tr>
              <a:tr h="688975">
                <a:tc>
                  <a:txBody>
                    <a:bodyPr/>
                    <a:lstStyle/>
                    <a:p>
                      <a:r>
                        <a:rPr sz="1950">
                          <a:solidFill>
                            <a:srgbClr val="203948"/>
                          </a:solidFill>
                          <a:latin typeface="Yu Gothic"/>
                          <a:ea typeface="Yu Gothic"/>
                          <a:cs typeface="Yu Gothic"/>
                        </a:rPr>
                        <a:t>人の作業時間</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開始・終了の定義を揃えて測る</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未測定</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0DBD0E-E0E1-4CF7-B2F1-FBD1B7702A4B}"/>
              </a:ext>
            </a:extLst>
          </p:cNvPr>
          <p:cNvSpPr>
            <a:spLocks xmlns:a="http://schemas.openxmlformats.org/drawingml/2006/main" noGrp="1"/>
          </p:cNvSpPr>
          <p:nvPr/>
        </p:nvSpPr>
        <p:spPr>
          <a:xfrm xmlns:a="http://schemas.openxmlformats.org/drawingml/2006/main">
            <a:off x="609600" y="59817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校内の模擬評価と、実際の式場での導入効果を区別します</a:t>
            </a:r>
          </a:p>
        </p:txBody>
      </p:sp>
    </p:spTree>
    <p:extLst>
      <p:ext uri="{BB962C8B-B14F-4D97-AF65-F5344CB8AC3E}">
        <p14:creationId xmlns:p14="http://schemas.microsoft.com/office/powerpoint/2010/main" val="459532198"/>
      </p:ext>
    </p:extLst>
  </p:cSld>
</p:sld>
</file>

<file path=ppt/slides/slide11.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836632-A724-4CD5-92FD-4A6A0236C80B}"/>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2月の学校発表までの予定</a:t>
            </a:r>
          </a:p>
        </p:txBody>
      </p:sp>
      <p:sp>
        <p:nvSpPr>
          <p:cNvPr id="2" name="">
            <a:extLst xmlns:a="http://schemas.openxmlformats.org/drawingml/2006/main">
              <a:ext uri="{FF2B5EF4-FFF2-40B4-BE49-F238E27FC236}">
                <a16:creationId xmlns:a16="http://schemas.microsoft.com/office/drawing/2014/main" id="{3E03C1FE-45B8-43B7-B229-7D0D48F0BEDA}"/>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11</a:t>
            </a:r>
          </a:p>
        </p:txBody>
      </p:sp>
      <p:graphicFrame>
        <p:nvGraphicFramePr>
          <p:cNvPr id="3" name="">
            <a:extLst xmlns:a="http://schemas.openxmlformats.org/drawingml/2006/main">
              <a:ext uri="{FF2B5EF4-FFF2-40B4-BE49-F238E27FC236}">
                <a16:creationId xmlns:a16="http://schemas.microsoft.com/office/drawing/2014/main" id="{DE49D91B-B0B3-4901-AB14-1BE2736E313B}"/>
              </a:ext>
            </a:extLst>
          </p:cNvPr>
          <p:cNvGraphicFramePr/>
          <p:nvPr/>
        </p:nvGraphicFramePr>
        <p:xfrm>
          <a:off xmlns:a="http://schemas.openxmlformats.org/drawingml/2006/main" x="609600" y="1543050"/>
          <a:ext xmlns:a="http://schemas.openxmlformats.org/drawingml/2006/main" cx="10972800" cy="4324350"/>
        </p:xfrm>
        <a:graphic xmlns:a="http://schemas.openxmlformats.org/drawingml/2006/main">
          <a:graphicData uri="http://schemas.openxmlformats.org/drawingml/2006/table">
            <a:tbl>
              <a:tblPr/>
              <a:tblGrid>
                <a:gridCol w="1314450"/>
                <a:gridCol w="4714875"/>
                <a:gridCol w="4943475"/>
              </a:tblGrid>
              <a:tr h="720725">
                <a:tc>
                  <a:txBody>
                    <a:bodyPr/>
                    <a:lstStyle/>
                    <a:p>
                      <a:r>
                        <a:rPr sz="1950" b="1">
                          <a:solidFill>
                            <a:srgbClr val="FFFFFF"/>
                          </a:solidFill>
                          <a:latin typeface="Yu Gothic"/>
                          <a:ea typeface="Yu Gothic"/>
                          <a:cs typeface="Yu Gothic"/>
                        </a:rPr>
                        <a:t>月</a:t>
                      </a:r>
                    </a:p>
                  </a:txBody>
                  <a:tcPr marL="171450" marR="133350" marT="142875" marB="114300" anchor="ctr">
                    <a:solidFill>
                      <a:srgbClr val="203948"/>
                    </a:solidFill>
                  </a:tcPr>
                </a:tc>
                <a:tc>
                  <a:txBody>
                    <a:bodyPr/>
                    <a:lstStyle/>
                    <a:p>
                      <a:r>
                        <a:rPr sz="1950" b="1">
                          <a:solidFill>
                            <a:srgbClr val="FFFFFF"/>
                          </a:solidFill>
                          <a:latin typeface="Yu Gothic"/>
                          <a:ea typeface="Yu Gothic"/>
                          <a:cs typeface="Yu Gothic"/>
                        </a:rPr>
                        <a:t>主な作業</a:t>
                      </a:r>
                    </a:p>
                  </a:txBody>
                  <a:tcPr marL="171450" marR="133350" marT="142875" marB="114300" anchor="ctr">
                    <a:solidFill>
                      <a:srgbClr val="203948"/>
                    </a:solidFill>
                  </a:tcPr>
                </a:tc>
                <a:tc>
                  <a:txBody>
                    <a:bodyPr/>
                    <a:lstStyle/>
                    <a:p>
                      <a:r>
                        <a:rPr sz="1950" b="1">
                          <a:solidFill>
                            <a:srgbClr val="FFFFFF"/>
                          </a:solidFill>
                          <a:latin typeface="Yu Gothic"/>
                          <a:ea typeface="Yu Gothic"/>
                          <a:cs typeface="Yu Gothic"/>
                        </a:rPr>
                        <a:t>揃える成果物</a:t>
                      </a:r>
                    </a:p>
                  </a:txBody>
                  <a:tcPr marL="171450" marR="133350" marT="142875" marB="114300" anchor="ctr">
                    <a:solidFill>
                      <a:srgbClr val="203948"/>
                    </a:solidFill>
                  </a:tcPr>
                </a:tc>
              </a:tr>
              <a:tr h="720725">
                <a:tc>
                  <a:txBody>
                    <a:bodyPr/>
                    <a:lstStyle/>
                    <a:p>
                      <a:r>
                        <a:rPr sz="1950">
                          <a:solidFill>
                            <a:srgbClr val="203948"/>
                          </a:solidFill>
                          <a:latin typeface="Yu Gothic"/>
                          <a:ea typeface="Yu Gothic"/>
                          <a:cs typeface="Yu Gothic"/>
                        </a:rPr>
                        <a:t>10月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製造・資料作成</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コード・詳細設計図・発表資料</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11月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製造・テスト技法・中間発表・AWS</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コード・演習/発表の記録</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12月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仕様書作成・テスト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テスト仕様書・エビデンス</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1月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テスト・最終発表の準備</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最終コード・資料・エビデンス</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2月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学校の最終発表・デモ・まとめ</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発表記録・実績付きWBS</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A8C2C92-A456-47DA-9F34-00ABEDCE39B9}"/>
              </a:ext>
            </a:extLst>
          </p:cNvPr>
          <p:cNvSpPr>
            <a:spLocks xmlns:a="http://schemas.openxmlformats.org/drawingml/2006/main" noGrp="1"/>
          </p:cNvSpPr>
          <p:nvPr/>
        </p:nvSpPr>
        <p:spPr>
          <a:xfrm xmlns:a="http://schemas.openxmlformats.org/drawingml/2006/main">
            <a:off x="609600" y="604837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前倒し可。具体的な学校の提出日があれば、その期限を優先します</a:t>
            </a:r>
          </a:p>
        </p:txBody>
      </p:sp>
    </p:spTree>
    <p:extLst>
      <p:ext uri="{BB962C8B-B14F-4D97-AF65-F5344CB8AC3E}">
        <p14:creationId xmlns:p14="http://schemas.microsoft.com/office/powerpoint/2010/main" val="2059082170"/>
      </p:ext>
    </p:extLst>
  </p:cSld>
</p:sld>
</file>

<file path=ppt/slides/slide12.xml><?xml version="1.0" encoding="utf-8"?>
<p:sld xmlns:p="http://schemas.openxmlformats.org/presentationml/2006/main">
  <p:cSld>
    <p:bg>
      <p:bgPr>
        <a:solidFill xmlns:a="http://schemas.openxmlformats.org/drawingml/2006/main">
          <a:srgbClr val="20394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B6EC7F-E35F-4B5E-AD05-631E0D3DE9CA}"/>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Yu Gothic"/>
                <a:ea typeface="Yu Gothic"/>
                <a:cs typeface="Yu Gothic"/>
              </a:defRPr>
            </a:defPPr>
          </a:lstStyle>
          <a:p xmlns:a="http://schemas.openxmlformats.org/drawingml/2006/main">
            <a:pPr>
              <a:defRPr sz="3300" b="1">
                <a:solidFill>
                  <a:srgbClr val="FFFFFF"/>
                </a:solidFill>
                <a:latin typeface="Yu Gothic"/>
                <a:ea typeface="Yu Gothic"/>
                <a:cs typeface="Yu Gothic"/>
              </a:defRPr>
            </a:pPr>
            <a:r>
              <a:rPr sz="3300" b="1">
                <a:solidFill>
                  <a:srgbClr val="FFFFFF"/>
                </a:solidFill>
                <a:latin typeface="Yu Gothic"/>
                <a:ea typeface="Yu Gothic"/>
                <a:cs typeface="Yu Gothic"/>
              </a:rPr>
              <a:t>質疑応答</a:t>
            </a:r>
          </a:p>
        </p:txBody>
      </p:sp>
      <p:sp>
        <p:nvSpPr>
          <p:cNvPr id="2" name="">
            <a:extLst xmlns:a="http://schemas.openxmlformats.org/drawingml/2006/main">
              <a:ext uri="{FF2B5EF4-FFF2-40B4-BE49-F238E27FC236}">
                <a16:creationId xmlns:a16="http://schemas.microsoft.com/office/drawing/2014/main" id="{A08BB548-2206-491C-8CE9-A0ED65EBB0DB}"/>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CBD5DC"/>
                </a:solidFill>
                <a:latin typeface="Yu Gothic"/>
                <a:ea typeface="Yu Gothic"/>
                <a:cs typeface="Yu Gothic"/>
              </a:defRPr>
            </a:defPPr>
          </a:lstStyle>
          <a:p xmlns:a="http://schemas.openxmlformats.org/drawingml/2006/main">
            <a:pPr algn="r">
              <a:defRPr sz="1350">
                <a:solidFill>
                  <a:srgbClr val="CBD5DC"/>
                </a:solidFill>
                <a:latin typeface="Yu Gothic"/>
                <a:ea typeface="Yu Gothic"/>
                <a:cs typeface="Yu Gothic"/>
              </a:defRPr>
            </a:pPr>
            <a:r>
              <a:rPr sz="1350">
                <a:solidFill>
                  <a:srgbClr val="CBD5DC"/>
                </a:solidFill>
                <a:latin typeface="Yu Gothic"/>
                <a:ea typeface="Yu Gothic"/>
                <a:cs typeface="Yu Gothic"/>
              </a:rPr>
              <a:t>12</a:t>
            </a:r>
          </a:p>
        </p:txBody>
      </p:sp>
      <p:sp>
        <p:nvSpPr>
          <p:cNvPr id="3" name="">
            <a:extLst xmlns:a="http://schemas.openxmlformats.org/drawingml/2006/main">
              <a:ext uri="{FF2B5EF4-FFF2-40B4-BE49-F238E27FC236}">
                <a16:creationId xmlns:a16="http://schemas.microsoft.com/office/drawing/2014/main" id="{B17EF8C0-7E6C-4230-9E18-10053999551F}"/>
              </a:ext>
            </a:extLst>
          </p:cNvPr>
          <p:cNvSpPr>
            <a:spLocks xmlns:a="http://schemas.openxmlformats.org/drawingml/2006/main" noGrp="1"/>
          </p:cNvSpPr>
          <p:nvPr/>
        </p:nvSpPr>
        <p:spPr>
          <a:xfrm xmlns:a="http://schemas.openxmlformats.org/drawingml/2006/main">
            <a:off x="609600" y="2009775"/>
            <a:ext cx="1081087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Yu Gothic"/>
                <a:ea typeface="Yu Gothic"/>
                <a:cs typeface="Yu Gothic"/>
              </a:defRPr>
            </a:defPPr>
          </a:lstStyle>
          <a:p xmlns:a="http://schemas.openxmlformats.org/drawingml/2006/main">
            <a:pPr>
              <a:defRPr sz="3900" b="1">
                <a:solidFill>
                  <a:srgbClr val="FFFFFF"/>
                </a:solidFill>
                <a:latin typeface="Yu Gothic"/>
                <a:ea typeface="Yu Gothic"/>
                <a:cs typeface="Yu Gothic"/>
              </a:defRPr>
            </a:pPr>
            <a:r>
              <a:rPr sz="3900" b="1">
                <a:solidFill>
                  <a:srgbClr val="FFFFFF"/>
                </a:solidFill>
                <a:latin typeface="Yu Gothic"/>
                <a:ea typeface="Yu Gothic"/>
                <a:cs typeface="Yu Gothic"/>
              </a:rPr>
              <a:t>次の確認は</a:t>
            </a:r>
          </a:p>
          <a:p xmlns:a="http://schemas.openxmlformats.org/drawingml/2006/main">
            <a:pPr>
              <a:defRPr sz="3900" b="1">
                <a:solidFill>
                  <a:srgbClr val="FFFFFF"/>
                </a:solidFill>
                <a:latin typeface="Yu Gothic"/>
                <a:ea typeface="Yu Gothic"/>
                <a:cs typeface="Yu Gothic"/>
              </a:defRPr>
            </a:pPr>
            <a:r>
              <a:rPr sz="3900" b="1">
                <a:solidFill>
                  <a:srgbClr val="FFFFFF"/>
                </a:solidFill>
                <a:latin typeface="Yu Gothic"/>
                <a:ea typeface="Yu Gothic"/>
                <a:cs typeface="Yu Gothic"/>
              </a:rPr>
              <a:t>同じ版でのデモ再現と</a:t>
            </a:r>
          </a:p>
          <a:p xmlns:a="http://schemas.openxmlformats.org/drawingml/2006/main">
            <a:pPr>
              <a:defRPr sz="3900" b="1">
                <a:solidFill>
                  <a:srgbClr val="FFFFFF"/>
                </a:solidFill>
                <a:latin typeface="Yu Gothic"/>
                <a:ea typeface="Yu Gothic"/>
                <a:cs typeface="Yu Gothic"/>
              </a:defRPr>
            </a:pPr>
            <a:r>
              <a:rPr sz="3900" b="1">
                <a:solidFill>
                  <a:srgbClr val="FFFFFF"/>
                </a:solidFill>
                <a:latin typeface="Yu Gothic"/>
                <a:ea typeface="Yu Gothic"/>
                <a:cs typeface="Yu Gothic"/>
              </a:rPr>
              <a:t>メンバーによる操作評価</a:t>
            </a:r>
          </a:p>
        </p:txBody>
      </p:sp>
      <p:sp>
        <p:nvSpPr>
          <p:cNvPr id="4" name="">
            <a:extLst xmlns:a="http://schemas.openxmlformats.org/drawingml/2006/main">
              <a:ext uri="{FF2B5EF4-FFF2-40B4-BE49-F238E27FC236}">
                <a16:creationId xmlns:a16="http://schemas.microsoft.com/office/drawing/2014/main" id="{4793B91D-4101-48C4-9CA2-CC824FB2353D}"/>
              </a:ext>
            </a:extLst>
          </p:cNvPr>
          <p:cNvSpPr>
            <a:spLocks xmlns:a="http://schemas.openxmlformats.org/drawingml/2006/main" noGrp="1"/>
          </p:cNvSpPr>
          <p:nvPr/>
        </p:nvSpPr>
        <p:spPr>
          <a:xfrm xmlns:a="http://schemas.openxmlformats.org/drawingml/2006/main">
            <a:off x="609600" y="5476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DCE4E8"/>
                </a:solidFill>
                <a:latin typeface="Yu Gothic"/>
                <a:ea typeface="Yu Gothic"/>
                <a:cs typeface="Yu Gothic"/>
              </a:defRPr>
            </a:defPPr>
          </a:lstStyle>
          <a:p xmlns:a="http://schemas.openxmlformats.org/drawingml/2006/main">
            <a:pPr>
              <a:defRPr sz="2100">
                <a:solidFill>
                  <a:srgbClr val="DCE4E8"/>
                </a:solidFill>
                <a:latin typeface="Yu Gothic"/>
                <a:ea typeface="Yu Gothic"/>
                <a:cs typeface="Yu Gothic"/>
              </a:defRPr>
            </a:pPr>
            <a:r>
              <a:rPr sz="2100">
                <a:solidFill>
                  <a:srgbClr val="DCE4E8"/>
                </a:solidFill>
                <a:latin typeface="Yu Gothic"/>
                <a:ea typeface="Yu Gothic"/>
                <a:cs typeface="Yu Gothic"/>
              </a:rPr>
              <a:t>にこまる　結婚式準備進行管理アプリ</a:t>
            </a:r>
          </a:p>
        </p:txBody>
      </p:sp>
    </p:spTree>
    <p:extLst>
      <p:ext uri="{BB962C8B-B14F-4D97-AF65-F5344CB8AC3E}">
        <p14:creationId xmlns:p14="http://schemas.microsoft.com/office/powerpoint/2010/main" val="1621158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2026-10-09T03:26:41.7630000Z</dcterms:created>
  <dcterms:modified xsi:type="dcterms:W3CDTF">2026-10-09T03:26:41.7630000Z</dcterms:modified>
</coreProperties>
</file>