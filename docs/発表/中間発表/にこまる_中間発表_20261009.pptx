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938882933a4bbc" /><Relationship Type="http://schemas.openxmlformats.org/officeDocument/2006/relationships/extended-properties" Target="/docProps/app.xml" Id="R5440922556f3419f" /><Relationship Type="http://schemas.openxmlformats.org/officeDocument/2006/relationships/officeDocument" Target="/ppt/presentation.xml" Id="R7508bc4c436443ca" /></Relationships>
</file>

<file path=ppt/presentation.xml><?xml version="1.0" encoding="utf-8"?>
<p:presentation xmlns:p="http://schemas.openxmlformats.org/presentationml/2006/main">
  <p:sldMasterIdLst>
    <p:sldMasterId xmlns:r="http://schemas.openxmlformats.org/officeDocument/2006/relationships" id="2147483648" r:id="Rdd7363044d264436"/>
  </p:sldMasterIdLst>
  <p:notesMasterIdLst>
    <p:notesMasterId xmlns:r="http://schemas.openxmlformats.org/officeDocument/2006/relationships" r:id="Rebc8237ce34f4df8"/>
  </p:notesMasterIdLst>
  <p:sldIdLst>
    <p:sldId xmlns:r="http://schemas.openxmlformats.org/officeDocument/2006/relationships" id="256" r:id="Rde5a27bae4084b2a"/>
    <p:sldId xmlns:r="http://schemas.openxmlformats.org/officeDocument/2006/relationships" id="257" r:id="Rfb7abf329e48483b"/>
    <p:sldId xmlns:r="http://schemas.openxmlformats.org/officeDocument/2006/relationships" id="258" r:id="Rdf38ede64b254499"/>
    <p:sldId xmlns:r="http://schemas.openxmlformats.org/officeDocument/2006/relationships" id="259" r:id="Rbe96c2579a3e49e9"/>
    <p:sldId xmlns:r="http://schemas.openxmlformats.org/officeDocument/2006/relationships" id="260" r:id="Rc1ef30aa09b24318"/>
    <p:sldId xmlns:r="http://schemas.openxmlformats.org/officeDocument/2006/relationships" id="261" r:id="Rda1939fd44114b2a"/>
    <p:sldId xmlns:r="http://schemas.openxmlformats.org/officeDocument/2006/relationships" id="262" r:id="Re1f26bbea0eb475b"/>
    <p:sldId xmlns:r="http://schemas.openxmlformats.org/officeDocument/2006/relationships" id="263" r:id="R12a6298a8d0b4d99"/>
    <p:sldId xmlns:r="http://schemas.openxmlformats.org/officeDocument/2006/relationships" id="264" r:id="R9d7352a75977455f"/>
    <p:sldId xmlns:r="http://schemas.openxmlformats.org/officeDocument/2006/relationships" id="265" r:id="R6230a47291534ded"/>
    <p:sldId xmlns:r="http://schemas.openxmlformats.org/officeDocument/2006/relationships" id="266" r:id="R4a6594ed14ce4ad6"/>
    <p:sldId xmlns:r="http://schemas.openxmlformats.org/officeDocument/2006/relationships" id="267" r:id="R9801540619bb4a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3cd20b2b5f4eec" /><Relationship Type="http://schemas.openxmlformats.org/officeDocument/2006/relationships/slideMaster" Target="/ppt/slideMasters/slideMaster1.xml" Id="Rdd7363044d264436" /><Relationship Type="http://schemas.openxmlformats.org/officeDocument/2006/relationships/notesMaster" Target="/ppt/notesMasters/notesMaster1.xml" Id="Rebc8237ce34f4df8" /><Relationship Type="http://schemas.openxmlformats.org/officeDocument/2006/relationships/presProps" Target="/ppt/presProps.xml" Id="R6dc2d09e739e4644" /><Relationship Type="http://schemas.openxmlformats.org/officeDocument/2006/relationships/tableStyles" Target="/ppt/tableStyles.xml" Id="Rdfe3f0d643d649bc" /><Relationship Type="http://schemas.openxmlformats.org/officeDocument/2006/relationships/slide" Target="/ppt/slides/slide1.xml" Id="Rde5a27bae4084b2a" /><Relationship Type="http://schemas.openxmlformats.org/officeDocument/2006/relationships/slide" Target="/ppt/slides/slide2.xml" Id="Rfb7abf329e48483b" /><Relationship Type="http://schemas.openxmlformats.org/officeDocument/2006/relationships/slide" Target="/ppt/slides/slide3.xml" Id="Rdf38ede64b254499" /><Relationship Type="http://schemas.openxmlformats.org/officeDocument/2006/relationships/slide" Target="/ppt/slides/slide4.xml" Id="Rbe96c2579a3e49e9" /><Relationship Type="http://schemas.openxmlformats.org/officeDocument/2006/relationships/slide" Target="/ppt/slides/slide5.xml" Id="Rc1ef30aa09b24318" /><Relationship Type="http://schemas.openxmlformats.org/officeDocument/2006/relationships/slide" Target="/ppt/slides/slide6.xml" Id="Rda1939fd44114b2a" /><Relationship Type="http://schemas.openxmlformats.org/officeDocument/2006/relationships/slide" Target="/ppt/slides/slide7.xml" Id="Re1f26bbea0eb475b" /><Relationship Type="http://schemas.openxmlformats.org/officeDocument/2006/relationships/slide" Target="/ppt/slides/slide8.xml" Id="R12a6298a8d0b4d99" /><Relationship Type="http://schemas.openxmlformats.org/officeDocument/2006/relationships/slide" Target="/ppt/slides/slide9.xml" Id="R9d7352a75977455f" /><Relationship Type="http://schemas.openxmlformats.org/officeDocument/2006/relationships/slide" Target="/ppt/slides/slide10.xml" Id="R6230a47291534ded" /><Relationship Type="http://schemas.openxmlformats.org/officeDocument/2006/relationships/slide" Target="/ppt/slides/slide11.xml" Id="R4a6594ed14ce4ad6" /><Relationship Type="http://schemas.openxmlformats.org/officeDocument/2006/relationships/slide" Target="/ppt/slides/slide12.xml" Id="R9801540619bb4a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b2e105d9414b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ab52844b164a76" /><Relationship Type="http://schemas.openxmlformats.org/officeDocument/2006/relationships/notesMaster" Target="/ppt/notesMasters/notesMaster1.xml" Id="R05ff4e0634be40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a09a4e2ea44d31" /><Relationship Type="http://schemas.openxmlformats.org/officeDocument/2006/relationships/notesMaster" Target="/ppt/notesMasters/notesMaster1.xml" Id="R09a2b22ba83547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b1c7fb5a8b4a66" /><Relationship Type="http://schemas.openxmlformats.org/officeDocument/2006/relationships/notesMaster" Target="/ppt/notesMasters/notesMaster1.xml" Id="Rd8d8c64df02847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4fcdd3fe0044d2" /><Relationship Type="http://schemas.openxmlformats.org/officeDocument/2006/relationships/notesMaster" Target="/ppt/notesMasters/notesMaster1.xml" Id="R3f18494130a746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27b227ccd442b1" /><Relationship Type="http://schemas.openxmlformats.org/officeDocument/2006/relationships/notesMaster" Target="/ppt/notesMasters/notesMaster1.xml" Id="Rf7122f621fd544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13b2d1f1634441" /><Relationship Type="http://schemas.openxmlformats.org/officeDocument/2006/relationships/notesMaster" Target="/ppt/notesMasters/notesMaster1.xml" Id="Rd3acc14a8a624c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dd034a065944f9" /><Relationship Type="http://schemas.openxmlformats.org/officeDocument/2006/relationships/notesMaster" Target="/ppt/notesMasters/notesMaster1.xml" Id="R54fdc9f8a27548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aff17341134227" /><Relationship Type="http://schemas.openxmlformats.org/officeDocument/2006/relationships/notesMaster" Target="/ppt/notesMasters/notesMaster1.xml" Id="R121093c70ffd43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fdb3528e074d70" /><Relationship Type="http://schemas.openxmlformats.org/officeDocument/2006/relationships/notesMaster" Target="/ppt/notesMasters/notesMaster1.xml" Id="R1fc8ce17467343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649df7cb5c4787" /><Relationship Type="http://schemas.openxmlformats.org/officeDocument/2006/relationships/notesMaster" Target="/ppt/notesMasters/notesMaster1.xml" Id="R0c2efddc7d5748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25ca6a6b5b4943" /><Relationship Type="http://schemas.openxmlformats.org/officeDocument/2006/relationships/notesMaster" Target="/ppt/notesMasters/notesMaster1.xml" Id="R48df54782e414e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47e6c38bc74ebf" /><Relationship Type="http://schemas.openxmlformats.org/officeDocument/2006/relationships/notesMaster" Target="/ppt/notesMasters/notesMaster1.xml" Id="R64f347f22f4743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婚式準備の進行管理アプリ「にこまる」の中間発表です。新郎新婦の提出物と、プランナーによる確認を同じ場所で扱います。本日は、解決したい課題、実装した流れ、検証の状況と今後の学校発表までの進め方を説明します。</a:t>
            </a:r>
          </a:p>
          <a:p xmlns:a="http://schemas.openxmlformats.org/drawingml/2006/main">
            <a:r>
              <a:t/>
            </a:r>
          </a:p>
          <a:p xmlns:a="http://schemas.openxmlformats.org/drawingml/2006/main">
            <a:r>
              <a:t>出典: docs/にこまる_要件定義書_完成版.docx、docs/学校制作スケジュール.md</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要件で扱う課題は、期限と提出内容が分散し、何が未提出なのか、確認待ちなのかを把握しにくいことです。そこで、案件ごとの宿題、提出物、確認結果をまとめます。新郎新婦には次に行う作業を示し、プランナーには確認やフォローが必要な案件を示します。作業時間が短くなるかどうかは、これから校内の模擬評価で確かめます。</a:t>
            </a:r>
          </a:p>
          <a:p xmlns:a="http://schemas.openxmlformats.org/drawingml/2006/main">
            <a:r>
              <a:t/>
            </a:r>
          </a:p>
          <a:p xmlns:a="http://schemas.openxmlformats.org/drawingml/2006/main">
            <a:r>
              <a:t>出典: docs/にこまる_要件定義書_完成版.docx、docs/BridalHub_基本設計書.docx</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用者は4種類です。新郎新婦は自分の案件だけ、プランナーは担当案件を扱います。式場管理者は同じ式場の利用者や設定を管理し、システム管理者は式場の登録とシステム全体の状況を確認します。画面の出し分けだけではなく、データベースのRLSでも範囲を制限します。役割を変えたり別案件のIDを指定したりしても、許可されていないデータを操作できないことを試験します。</a:t>
            </a:r>
          </a:p>
          <a:p xmlns:a="http://schemas.openxmlformats.org/drawingml/2006/main">
            <a:r>
              <a:t/>
            </a:r>
          </a:p>
          <a:p xmlns:a="http://schemas.openxmlformats.org/drawingml/2006/main">
            <a:r>
              <a:t>出典: src/lib/constants.ts、supabase/migrations/20260828000500_rls_policies.sql、tests/db/rls.test.ts</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心となる流れです。プランナーが案件を作り、宿題と期限を用意します。新郎新婦はマイページで宿題を確認し、本文やファイルを提出します。プランナーは提出物確認画面で確認済みにするか、不備の理由を付けて差し戻します。差し戻された場合は再提出します。この一連の状態変更を、提出者と確認者の両方の視点で確認します。</a:t>
            </a:r>
          </a:p>
          <a:p xmlns:a="http://schemas.openxmlformats.org/drawingml/2006/main">
            <a:r>
              <a:t/>
            </a:r>
          </a:p>
          <a:p xmlns:a="http://schemas.openxmlformats.org/drawingml/2006/main">
            <a:r>
              <a:t>出典: src/app/(staff)/cases、src/app/(couple)/mypage、src/app/(staff)/submissions、tests/e2e/core-flow.spec.ts</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ちらは保存済みの画面例です。氏名や案件は撮影用の模擬データです。挙式までの日数と、次に行う宿題を表示し、宿題一覧や準備タイムラインへ進めます。発表では、未提出の宿題を開いて入力し、提出後に状態が変わるところを見せます。スクリーンショットは既存版のため、今回の変更を含む最新画面との照合は発表前に行います。</a:t>
            </a:r>
          </a:p>
          <a:p xmlns:a="http://schemas.openxmlformats.org/drawingml/2006/main">
            <a:r>
              <a:t/>
            </a:r>
          </a:p>
          <a:p xmlns:a="http://schemas.openxmlformats.org/drawingml/2006/main">
            <a:r>
              <a:t>出典: docs/screenshots/12-mobile-couple-mypage.png、scripts/screenshot-tour.mts、tests/e2e/core-flow.spec.ts</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ンナーは、案件ごとに届いた提出物を確認します。確認済み、または不備ありを選び、必要ならコメントを返します。画面例には、AI補助を利用できない状態でもコメントを手入力できる案内があります。AIを停止した状態でも、提出と確認という中心の作業は続けられます。誤った案件を操作できないことと、二重操作や再提出の状態も確認対象にしています。</a:t>
            </a:r>
          </a:p>
          <a:p xmlns:a="http://schemas.openxmlformats.org/drawingml/2006/main">
            <a:r>
              <a:t/>
            </a:r>
          </a:p>
          <a:p xmlns:a="http://schemas.openxmlformats.org/drawingml/2006/main">
            <a:r>
              <a:t>出典: docs/screenshots/06-submission-review.png、src/app/(staff)/submissions、tests/db/rls-submission.test.ts</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アプリはNext.jsで作り、ブラウザーから操作します。認証、データベース、ファイル保管はSupabaseを使います。通常の利用者の操作は本人のセッションとRLSで制限します。定期処理は内部シークレットで入口を分けます。AIを使う場合は、ローカルのワーカーがジョブを取り出し、Ollamaで生成します。校内のサーバーを外部公開しない構成を採り、個人情報を外部のAI APIへ送らない方針です。学校の最終発表でデモする予定で、現時点で本番運用の予定はありません。</a:t>
            </a:r>
          </a:p>
          <a:p xmlns:a="http://schemas.openxmlformats.org/drawingml/2006/main">
            <a:r>
              <a:t/>
            </a:r>
          </a:p>
          <a:p xmlns:a="http://schemas.openxmlformats.org/drawingml/2006/main">
            <a:r>
              <a:t>出典: docs/BridalHub_基本設計書.docx 2章・6章・7章、src/lib/supabase、worker/ai-worker.ts</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アプリのAI補助は、自由記述の分類や文章の下書きなどを支援します。生成結果をそのまま確定せず、担当者が確認して利用します。AIが使えない場合は手動の確認と入力で作業を続けます。開発用のCodexと、アプリに組み込むローカルAIは別のものです。他のメンバーがAgent AIを契約しなくても、動作確認、資料編集、発表練習やWBSの記録を担当できます。</a:t>
            </a:r>
          </a:p>
          <a:p xmlns:a="http://schemas.openxmlformats.org/drawingml/2006/main">
            <a:r>
              <a:t/>
            </a:r>
          </a:p>
          <a:p xmlns:a="http://schemas.openxmlformats.org/drawingml/2006/main">
            <a:r>
              <a:t>出典: docs/BridalHub_基本設計書.docx 7章、docs/学校制作スケジュール.md、src/components/ai</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記録済みの検証結果です。PR #70 の記録済み検証では単体やDB関連の試験649件、Chromeによるブラウザー操作28件が成功し、当時の依存監査の脆弱性は0件でした。これは特定の版に対する結果です。今回追加した容量監視、監査、PWAなどは別途統合検証を進めています。未実施の実端末試験や使い勝手評価を、これらの自動テストの成功に含めません。mainへの反映状況は進捗台帳とPRで確認します。</a:t>
            </a:r>
          </a:p>
          <a:p xmlns:a="http://schemas.openxmlformats.org/drawingml/2006/main">
            <a:r>
              <a:t/>
            </a:r>
          </a:p>
          <a:p xmlns:a="http://schemas.openxmlformats.org/drawingml/2006/main">
            <a:r>
              <a:t>出典: docs/implementation-progress.json、https://github.com/ryuki-moro/Nicomaru/pull/70、presentation-status.json</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は、自動試験と人による確認を分けます。権限や業務状態は、正常な操作だけでなく、別案件へのアクセス、期限の境界、DBやStorageの失敗を再現して確かめます。一方で、実端末で迷わず操作できるか、どのくらい時間が掛かるかはまだ評価していません。校内で同じシナリオを試し、所要時間と詰まった箇所を記録します。模擬評価の結果を、実際の式場での導入効果として発表しないよう区別します。</a:t>
            </a:r>
          </a:p>
          <a:p xmlns:a="http://schemas.openxmlformats.org/drawingml/2006/main">
            <a:r>
              <a:t/>
            </a:r>
          </a:p>
          <a:p xmlns:a="http://schemas.openxmlformats.org/drawingml/2006/main">
            <a:r>
              <a:t>出典: tests/db、tests/unit、tests/e2e、docs/学校制作スケジュール.md</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校の予定に合わせ、10月は実装と発表資料、11月は追加実装、テスト技法、中間発表とAWSの課題に取り組みます。12月はテスト仕様書と試験の証拠を揃え、1月は最終コードと発表資料を固めます。2月は学校の最終発表とデモを行い、作業実績を記入したWBSで振り返ります。前倒しはできますが、学校が示す提出日より後にはしません。具体的な日程と担当者はチームで確定します。</a:t>
            </a:r>
          </a:p>
          <a:p xmlns:a="http://schemas.openxmlformats.org/drawingml/2006/main">
            <a:r>
              <a:t/>
            </a:r>
          </a:p>
          <a:p xmlns:a="http://schemas.openxmlformats.org/drawingml/2006/main">
            <a:r>
              <a:t>出典: docs/学校制作スケジュール.md、https://github.com/ryuki-moro/Nicomaru/issues/53</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は、追加機能を含む同じ版でデモを再現し、メンバーによる操作確認と発表練習を行います。人が測った結果と作業実績を残し、2月の学校発表につなげます。以上で説明を終わります。ご質問をお願いします。</a:t>
            </a:r>
          </a:p>
          <a:p xmlns:a="http://schemas.openxmlformats.org/drawingml/2006/main">
            <a:r>
              <a:t/>
            </a:r>
          </a:p>
          <a:p xmlns:a="http://schemas.openxmlformats.org/drawingml/2006/main">
            <a:r>
              <a:t>出典: docs/学校制作スケジュール.md、https://github.com/ryuki-moro/Nicomaru</a:t>
            </a:r>
          </a:p>
          <a:p xmlns:a="http://schemas.openxmlformats.org/drawingml/2006/main">
            <a:r>
              <a:t>状態基準日: 2026-10-09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a8a61b8daa46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1a3228cb914e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84b4e0ccf34f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787cdde53f42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effc99c67c44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06fd5f1e724a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4E9F69-9D99-4567-AA2F-F3216693918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77B923-7729-465C-ACBF-D59E681D45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293EA8-0C99-4FB0-B6E2-DA82B23E7C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DB68AC-77C9-4C26-A5B5-7B442315D9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54C9B2-D8E8-44C7-80D2-F239F42F5C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2CB68A-1A6A-45D7-8D0D-4F2AC8EEBD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C298EC-43D4-4664-A7F0-D05D63F876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01E2C9-1A2E-44E3-A926-709CB488EE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C26EF2-383F-4C2D-9D35-1FD1EF7290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0EFB85-8F9F-4E31-A99B-F4587CE780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0ff96bbb1455f" /><Relationship Type="http://schemas.openxmlformats.org/officeDocument/2006/relationships/slideLayout" Target="/ppt/slideLayouts/slideLayout1.xml" Id="R3a313a99e8194a73" /><Relationship Type="http://schemas.openxmlformats.org/officeDocument/2006/relationships/slideLayout" Target="/ppt/slideLayouts/slideLayout2.xml" Id="Ra97df2836f154b36" /><Relationship Type="http://schemas.openxmlformats.org/officeDocument/2006/relationships/slideLayout" Target="/ppt/slideLayouts/slideLayout3.xml" Id="Raba1a01076bd460a" /><Relationship Type="http://schemas.openxmlformats.org/officeDocument/2006/relationships/slideLayout" Target="/ppt/slideLayouts/slideLayout4.xml" Id="R609bda5ebc364a02" /><Relationship Type="http://schemas.openxmlformats.org/officeDocument/2006/relationships/slideLayout" Target="/ppt/slideLayouts/slideLayout5.xml" Id="Rd8d37772605a4d84" /><Relationship Type="http://schemas.openxmlformats.org/officeDocument/2006/relationships/slideLayout" Target="/ppt/slideLayouts/slideLayout6.xml" Id="R32ae2e97d7d642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313a99e8194a73"/>
    <p:sldLayoutId xmlns:r="http://schemas.openxmlformats.org/officeDocument/2006/relationships" id="2147483650" r:id="Ra97df2836f154b36"/>
    <p:sldLayoutId xmlns:r="http://schemas.openxmlformats.org/officeDocument/2006/relationships" id="2147483651" r:id="Raba1a01076bd460a"/>
    <p:sldLayoutId xmlns:r="http://schemas.openxmlformats.org/officeDocument/2006/relationships" id="2147483652" r:id="R609bda5ebc364a02"/>
    <p:sldLayoutId xmlns:r="http://schemas.openxmlformats.org/officeDocument/2006/relationships" id="2147483653" r:id="Rd8d37772605a4d84"/>
    <p:sldLayoutId xmlns:r="http://schemas.openxmlformats.org/officeDocument/2006/relationships" id="2147483654" r:id="R32ae2e97d7d642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e5b935a3ea4a12" /><Relationship Type="http://schemas.openxmlformats.org/officeDocument/2006/relationships/notesSlide" Target="/ppt/notesSlides/notesSlide1.xml" Id="R748c29835f3742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a6962db8f3452c" /><Relationship Type="http://schemas.openxmlformats.org/officeDocument/2006/relationships/notesSlide" Target="/ppt/notesSlides/notesSlide2.xml" Id="R828d583cf7f14f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cd50503bfa4542" /><Relationship Type="http://schemas.openxmlformats.org/officeDocument/2006/relationships/notesSlide" Target="/ppt/notesSlides/notesSlide3.xml" Id="R6114d27b415640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477bee89794325" /><Relationship Type="http://schemas.openxmlformats.org/officeDocument/2006/relationships/notesSlide" Target="/ppt/notesSlides/notesSlide4.xml" Id="Rce15f492fb654f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5aa85176cf43b4" /><Relationship Type="http://schemas.openxmlformats.org/officeDocument/2006/relationships/image" Target="/ppt/media/image.png" Id="R89372dffda1e4e90" /><Relationship Type="http://schemas.openxmlformats.org/officeDocument/2006/relationships/notesSlide" Target="/ppt/notesSlides/notesSlide5.xml" Id="Rf73c1412c44a41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ca0527b6814f72" /><Relationship Type="http://schemas.openxmlformats.org/officeDocument/2006/relationships/image" Target="/ppt/media/image2.png" Id="R77d9b302eed44f77" /><Relationship Type="http://schemas.openxmlformats.org/officeDocument/2006/relationships/notesSlide" Target="/ppt/notesSlides/notesSlide6.xml" Id="R1754843b994b49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e25f6a81cc49da" /><Relationship Type="http://schemas.openxmlformats.org/officeDocument/2006/relationships/notesSlide" Target="/ppt/notesSlides/notesSlide7.xml" Id="R9740fa57a74049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10e1f17a714974" /><Relationship Type="http://schemas.openxmlformats.org/officeDocument/2006/relationships/notesSlide" Target="/ppt/notesSlides/notesSlide8.xml" Id="R971c88e430ed4f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7294a8515345a2" /><Relationship Type="http://schemas.openxmlformats.org/officeDocument/2006/relationships/notesSlide" Target="/ppt/notesSlides/notesSlide9.xml" Id="Rbae782c75e004f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b35fcadf274ec8" /><Relationship Type="http://schemas.openxmlformats.org/officeDocument/2006/relationships/notesSlide" Target="/ppt/notesSlides/notesSlide10.xml" Id="Rce226199fe5444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e6408e24e8422f" /><Relationship Type="http://schemas.openxmlformats.org/officeDocument/2006/relationships/notesSlide" Target="/ppt/notesSlides/notesSlide11.xml" Id="Re7d301d5497642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55cf299349469b" /><Relationship Type="http://schemas.openxmlformats.org/officeDocument/2006/relationships/notesSlide" Target="/ppt/notesSlides/notesSlide12.xml" Id="R47927ddce5e643e1" /></Relationships>
</file>

<file path=ppt/slides/slide1.xml><?xml version="1.0" encoding="utf-8"?>
<p:sld xmlns:p="http://schemas.openxmlformats.org/presentationml/2006/main">
  <p:cSld>
    <p:bg>
      <p:bgPr>
        <a:solidFill xmlns:a="http://schemas.openxmlformats.org/drawingml/2006/main">
          <a:srgbClr val="2039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C3AD0A-2722-4B88-BFE0-8B2AE7645058}"/>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Yu Gothic"/>
                <a:ea typeface="Yu Gothic"/>
                <a:cs typeface="Yu Gothic"/>
              </a:defRPr>
            </a:defPPr>
          </a:lstStyle>
          <a:p xmlns:a="http://schemas.openxmlformats.org/drawingml/2006/main">
            <a:pPr>
              <a:defRPr sz="3300" b="1">
                <a:solidFill>
                  <a:srgbClr val="FFFFFF"/>
                </a:solidFill>
                <a:latin typeface="Yu Gothic"/>
                <a:ea typeface="Yu Gothic"/>
                <a:cs typeface="Yu Gothic"/>
              </a:defRPr>
            </a:pPr>
            <a:r>
              <a:rPr sz="3300" b="1">
                <a:solidFill>
                  <a:srgbClr val="FFFFFF"/>
                </a:solidFill>
                <a:latin typeface="Yu Gothic"/>
                <a:ea typeface="Yu Gothic"/>
                <a:cs typeface="Yu Gothic"/>
              </a:rPr>
              <a:t>にこまる</a:t>
            </a:r>
          </a:p>
        </p:txBody>
      </p:sp>
      <p:sp>
        <p:nvSpPr>
          <p:cNvPr id="2" name="">
            <a:extLst xmlns:a="http://schemas.openxmlformats.org/drawingml/2006/main">
              <a:ext uri="{FF2B5EF4-FFF2-40B4-BE49-F238E27FC236}">
                <a16:creationId xmlns:a16="http://schemas.microsoft.com/office/drawing/2014/main" id="{21694D7C-DEE3-44E9-B485-3F6CD636BB0B}"/>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CBD5DC"/>
                </a:solidFill>
                <a:latin typeface="Yu Gothic"/>
                <a:ea typeface="Yu Gothic"/>
                <a:cs typeface="Yu Gothic"/>
              </a:defRPr>
            </a:defPPr>
          </a:lstStyle>
          <a:p xmlns:a="http://schemas.openxmlformats.org/drawingml/2006/main">
            <a:pPr algn="r">
              <a:defRPr sz="1350">
                <a:solidFill>
                  <a:srgbClr val="CBD5DC"/>
                </a:solidFill>
                <a:latin typeface="Yu Gothic"/>
                <a:ea typeface="Yu Gothic"/>
                <a:cs typeface="Yu Gothic"/>
              </a:defRPr>
            </a:pPr>
            <a:r>
              <a:rPr sz="1350">
                <a:solidFill>
                  <a:srgbClr val="CBD5DC"/>
                </a:solidFill>
                <a:latin typeface="Yu Gothic"/>
                <a:ea typeface="Yu Gothic"/>
                <a:cs typeface="Yu Gothic"/>
              </a:rPr>
              <a:t>1</a:t>
            </a:r>
          </a:p>
        </p:txBody>
      </p:sp>
      <p:sp>
        <p:nvSpPr>
          <p:cNvPr id="3" name="">
            <a:extLst xmlns:a="http://schemas.openxmlformats.org/drawingml/2006/main">
              <a:ext uri="{FF2B5EF4-FFF2-40B4-BE49-F238E27FC236}">
                <a16:creationId xmlns:a16="http://schemas.microsoft.com/office/drawing/2014/main" id="{E333BC6A-45C1-4DB4-B2B0-B9665D047FCB}"/>
              </a:ext>
            </a:extLst>
          </p:cNvPr>
          <p:cNvSpPr>
            <a:spLocks xmlns:a="http://schemas.openxmlformats.org/drawingml/2006/main" noGrp="1"/>
          </p:cNvSpPr>
          <p:nvPr/>
        </p:nvSpPr>
        <p:spPr>
          <a:xfrm xmlns:a="http://schemas.openxmlformats.org/drawingml/2006/main">
            <a:off x="609600" y="2238375"/>
            <a:ext cx="10477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Yu Gothic"/>
                <a:ea typeface="Yu Gothic"/>
                <a:cs typeface="Yu Gothic"/>
              </a:defRPr>
            </a:defPPr>
          </a:lstStyle>
          <a:p xmlns:a="http://schemas.openxmlformats.org/drawingml/2006/main">
            <a:pPr>
              <a:defRPr sz="4800" b="1">
                <a:solidFill>
                  <a:srgbClr val="FFFFFF"/>
                </a:solidFill>
                <a:latin typeface="Yu Gothic"/>
                <a:ea typeface="Yu Gothic"/>
                <a:cs typeface="Yu Gothic"/>
              </a:defRPr>
            </a:pPr>
            <a:r>
              <a:rPr sz="4800" b="1">
                <a:solidFill>
                  <a:srgbClr val="FFFFFF"/>
                </a:solidFill>
                <a:latin typeface="Yu Gothic"/>
                <a:ea typeface="Yu Gothic"/>
                <a:cs typeface="Yu Gothic"/>
              </a:rPr>
              <a:t>結婚式準備の</a:t>
            </a:r>
          </a:p>
          <a:p xmlns:a="http://schemas.openxmlformats.org/drawingml/2006/main">
            <a:pPr>
              <a:defRPr sz="4800" b="1">
                <a:solidFill>
                  <a:srgbClr val="FFFFFF"/>
                </a:solidFill>
                <a:latin typeface="Yu Gothic"/>
                <a:ea typeface="Yu Gothic"/>
                <a:cs typeface="Yu Gothic"/>
              </a:defRPr>
            </a:pPr>
            <a:r>
              <a:rPr sz="4800" b="1">
                <a:solidFill>
                  <a:srgbClr val="FFFFFF"/>
                </a:solidFill>
                <a:latin typeface="Yu Gothic"/>
                <a:ea typeface="Yu Gothic"/>
                <a:cs typeface="Yu Gothic"/>
              </a:rPr>
              <a:t>提出・確認を支える</a:t>
            </a:r>
          </a:p>
        </p:txBody>
      </p:sp>
      <p:sp>
        <p:nvSpPr>
          <p:cNvPr id="4" name="">
            <a:extLst xmlns:a="http://schemas.openxmlformats.org/drawingml/2006/main">
              <a:ext uri="{FF2B5EF4-FFF2-40B4-BE49-F238E27FC236}">
                <a16:creationId xmlns:a16="http://schemas.microsoft.com/office/drawing/2014/main" id="{E2904779-FD5C-4264-92FF-00D97A249F8D}"/>
              </a:ext>
            </a:extLst>
          </p:cNvPr>
          <p:cNvSpPr>
            <a:spLocks xmlns:a="http://schemas.openxmlformats.org/drawingml/2006/main" noGrp="1"/>
          </p:cNvSpPr>
          <p:nvPr/>
        </p:nvSpPr>
        <p:spPr>
          <a:xfrm xmlns:a="http://schemas.openxmlformats.org/drawingml/2006/main">
            <a:off x="647700" y="51911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DCE4E8"/>
                </a:solidFill>
                <a:latin typeface="Yu Gothic"/>
                <a:ea typeface="Yu Gothic"/>
                <a:cs typeface="Yu Gothic"/>
              </a:defRPr>
            </a:defPPr>
          </a:lstStyle>
          <a:p xmlns:a="http://schemas.openxmlformats.org/drawingml/2006/main">
            <a:pPr>
              <a:defRPr sz="2100">
                <a:solidFill>
                  <a:srgbClr val="DCE4E8"/>
                </a:solidFill>
                <a:latin typeface="Yu Gothic"/>
                <a:ea typeface="Yu Gothic"/>
                <a:cs typeface="Yu Gothic"/>
              </a:defRPr>
            </a:pPr>
            <a:r>
              <a:rPr sz="2100">
                <a:solidFill>
                  <a:srgbClr val="DCE4E8"/>
                </a:solidFill>
                <a:latin typeface="Yu Gothic"/>
                <a:ea typeface="Yu Gothic"/>
                <a:cs typeface="Yu Gothic"/>
              </a:rPr>
              <a:t>中間発表　2026-10-09 時点</a:t>
            </a:r>
          </a:p>
        </p:txBody>
      </p:sp>
    </p:spTree>
    <p:extLst>
      <p:ext uri="{BB962C8B-B14F-4D97-AF65-F5344CB8AC3E}">
        <p14:creationId xmlns:p14="http://schemas.microsoft.com/office/powerpoint/2010/main" val="879676821"/>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BE1F51-7DCD-4A4B-B136-E12221B1BE83}"/>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準備状況を共有するための課題</a:t>
            </a:r>
          </a:p>
        </p:txBody>
      </p:sp>
      <p:sp>
        <p:nvSpPr>
          <p:cNvPr id="2" name="">
            <a:extLst xmlns:a="http://schemas.openxmlformats.org/drawingml/2006/main">
              <a:ext uri="{FF2B5EF4-FFF2-40B4-BE49-F238E27FC236}">
                <a16:creationId xmlns:a16="http://schemas.microsoft.com/office/drawing/2014/main" id="{E72E4A42-3467-45A9-ABFF-4C7D23127A40}"/>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2</a:t>
            </a:r>
          </a:p>
        </p:txBody>
      </p:sp>
      <p:sp>
        <p:nvSpPr>
          <p:cNvPr id="3" name="">
            <a:extLst xmlns:a="http://schemas.openxmlformats.org/drawingml/2006/main">
              <a:ext uri="{FF2B5EF4-FFF2-40B4-BE49-F238E27FC236}">
                <a16:creationId xmlns:a16="http://schemas.microsoft.com/office/drawing/2014/main" id="{DE5772F3-C63E-4A84-863D-1E92ACE17D32}"/>
              </a:ext>
            </a:extLst>
          </p:cNvPr>
          <p:cNvSpPr>
            <a:spLocks xmlns:a="http://schemas.openxmlformats.org/drawingml/2006/main" noGrp="1"/>
          </p:cNvSpPr>
          <p:nvPr/>
        </p:nvSpPr>
        <p:spPr>
          <a:xfrm xmlns:a="http://schemas.openxmlformats.org/drawingml/2006/main">
            <a:off x="609600" y="16668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54F76"/>
                </a:solidFill>
                <a:latin typeface="Yu Gothic"/>
                <a:ea typeface="Yu Gothic"/>
                <a:cs typeface="Yu Gothic"/>
              </a:defRPr>
            </a:defPPr>
          </a:lstStyle>
          <a:p xmlns:a="http://schemas.openxmlformats.org/drawingml/2006/main">
            <a:pPr>
              <a:defRPr sz="2400" b="1">
                <a:solidFill>
                  <a:srgbClr val="C54F76"/>
                </a:solidFill>
                <a:latin typeface="Yu Gothic"/>
                <a:ea typeface="Yu Gothic"/>
                <a:cs typeface="Yu Gothic"/>
              </a:defRPr>
            </a:pPr>
            <a:r>
              <a:rPr sz="2400" b="1">
                <a:solidFill>
                  <a:srgbClr val="C54F76"/>
                </a:solidFill>
                <a:latin typeface="Yu Gothic"/>
                <a:ea typeface="Yu Gothic"/>
                <a:cs typeface="Yu Gothic"/>
              </a:rPr>
              <a:t>準備で困ること</a:t>
            </a:r>
          </a:p>
        </p:txBody>
      </p:sp>
      <p:sp>
        <p:nvSpPr>
          <p:cNvPr id="4" name="">
            <a:extLst xmlns:a="http://schemas.openxmlformats.org/drawingml/2006/main">
              <a:ext uri="{FF2B5EF4-FFF2-40B4-BE49-F238E27FC236}">
                <a16:creationId xmlns:a16="http://schemas.microsoft.com/office/drawing/2014/main" id="{80FF029B-2B6C-43D4-BBE7-0C11E4B201FC}"/>
              </a:ext>
            </a:extLst>
          </p:cNvPr>
          <p:cNvSpPr>
            <a:spLocks xmlns:a="http://schemas.openxmlformats.org/drawingml/2006/main" noGrp="1"/>
          </p:cNvSpPr>
          <p:nvPr/>
        </p:nvSpPr>
        <p:spPr>
          <a:xfrm xmlns:a="http://schemas.openxmlformats.org/drawingml/2006/main">
            <a:off x="609600" y="2457450"/>
            <a:ext cx="5334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期限が複数の連絡に分散する</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提出後の確認状況が分かりにくい</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担当者が変わると経緯を追いにくい</a:t>
            </a:r>
          </a:p>
        </p:txBody>
      </p:sp>
      <p:sp>
        <p:nvSpPr>
          <p:cNvPr id="5" name="">
            <a:extLst xmlns:a="http://schemas.openxmlformats.org/drawingml/2006/main">
              <a:ext uri="{FF2B5EF4-FFF2-40B4-BE49-F238E27FC236}">
                <a16:creationId xmlns:a16="http://schemas.microsoft.com/office/drawing/2014/main" id="{B22B64EF-F846-4DB8-BADC-924775460B8C}"/>
              </a:ext>
            </a:extLst>
          </p:cNvPr>
          <p:cNvSpPr>
            <a:spLocks xmlns:a="http://schemas.openxmlformats.org/drawingml/2006/main" noGrp="1"/>
          </p:cNvSpPr>
          <p:nvPr/>
        </p:nvSpPr>
        <p:spPr>
          <a:xfrm xmlns:a="http://schemas.openxmlformats.org/drawingml/2006/main">
            <a:off x="6477000" y="166687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54F76"/>
                </a:solidFill>
                <a:latin typeface="Yu Gothic"/>
                <a:ea typeface="Yu Gothic"/>
                <a:cs typeface="Yu Gothic"/>
              </a:defRPr>
            </a:defPPr>
          </a:lstStyle>
          <a:p xmlns:a="http://schemas.openxmlformats.org/drawingml/2006/main">
            <a:pPr>
              <a:defRPr sz="2400" b="1">
                <a:solidFill>
                  <a:srgbClr val="C54F76"/>
                </a:solidFill>
                <a:latin typeface="Yu Gothic"/>
                <a:ea typeface="Yu Gothic"/>
                <a:cs typeface="Yu Gothic"/>
              </a:defRPr>
            </a:pPr>
            <a:r>
              <a:rPr sz="2400" b="1">
                <a:solidFill>
                  <a:srgbClr val="C54F76"/>
                </a:solidFill>
                <a:latin typeface="Yu Gothic"/>
                <a:ea typeface="Yu Gothic"/>
                <a:cs typeface="Yu Gothic"/>
              </a:rPr>
              <a:t>アプリで扱うこと</a:t>
            </a:r>
          </a:p>
        </p:txBody>
      </p:sp>
      <p:sp>
        <p:nvSpPr>
          <p:cNvPr id="6" name="">
            <a:extLst xmlns:a="http://schemas.openxmlformats.org/drawingml/2006/main">
              <a:ext uri="{FF2B5EF4-FFF2-40B4-BE49-F238E27FC236}">
                <a16:creationId xmlns:a16="http://schemas.microsoft.com/office/drawing/2014/main" id="{70FBD861-AF7E-4ABE-A166-82DD4B4F0D68}"/>
              </a:ext>
            </a:extLst>
          </p:cNvPr>
          <p:cNvSpPr>
            <a:spLocks xmlns:a="http://schemas.openxmlformats.org/drawingml/2006/main" noGrp="1"/>
          </p:cNvSpPr>
          <p:nvPr/>
        </p:nvSpPr>
        <p:spPr>
          <a:xfrm xmlns:a="http://schemas.openxmlformats.org/drawingml/2006/main">
            <a:off x="6477000" y="2457450"/>
            <a:ext cx="504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案件ごとの宿題と期限</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提出・差し戻し・確認済みの状態</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連絡履歴と打ち合わせ準備</a:t>
            </a:r>
          </a:p>
        </p:txBody>
      </p:sp>
      <p:sp>
        <p:nvSpPr>
          <p:cNvPr id="7" name="">
            <a:extLst xmlns:a="http://schemas.openxmlformats.org/drawingml/2006/main">
              <a:ext uri="{FF2B5EF4-FFF2-40B4-BE49-F238E27FC236}">
                <a16:creationId xmlns:a16="http://schemas.microsoft.com/office/drawing/2014/main" id="{6F63737C-6FED-499A-9748-FD85BFE7E481}"/>
              </a:ext>
            </a:extLst>
          </p:cNvPr>
          <p:cNvSpPr>
            <a:spLocks xmlns:a="http://schemas.openxmlformats.org/drawingml/2006/main" noGrp="1"/>
          </p:cNvSpPr>
          <p:nvPr/>
        </p:nvSpPr>
        <p:spPr>
          <a:xfrm xmlns:a="http://schemas.openxmlformats.org/drawingml/2006/main">
            <a:off x="609600" y="560070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60747F"/>
                </a:solidFill>
                <a:latin typeface="Yu Gothic"/>
                <a:ea typeface="Yu Gothic"/>
                <a:cs typeface="Yu Gothic"/>
              </a:defRPr>
            </a:defPPr>
          </a:lstStyle>
          <a:p xmlns:a="http://schemas.openxmlformats.org/drawingml/2006/main">
            <a:pPr>
              <a:defRPr sz="1950">
                <a:solidFill>
                  <a:srgbClr val="60747F"/>
                </a:solidFill>
                <a:latin typeface="Yu Gothic"/>
                <a:ea typeface="Yu Gothic"/>
                <a:cs typeface="Yu Gothic"/>
              </a:defRPr>
            </a:pPr>
            <a:r>
              <a:rPr sz="1950">
                <a:solidFill>
                  <a:srgbClr val="60747F"/>
                </a:solidFill>
                <a:latin typeface="Yu Gothic"/>
                <a:ea typeface="Yu Gothic"/>
                <a:cs typeface="Yu Gothic"/>
              </a:rPr>
              <a:t>効果は校内の模擬評価で確認する予定です</a:t>
            </a:r>
          </a:p>
        </p:txBody>
      </p:sp>
    </p:spTree>
    <p:extLst>
      <p:ext uri="{BB962C8B-B14F-4D97-AF65-F5344CB8AC3E}">
        <p14:creationId xmlns:p14="http://schemas.microsoft.com/office/powerpoint/2010/main" val="383849249"/>
      </p:ext>
    </p:extLst>
  </p:cSld>
</p:sld>
</file>

<file path=ppt/slides/slide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4EEAC6-0DD2-435A-9C20-720B9EE618CC}"/>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4つの利用者と参照範囲</a:t>
            </a:r>
          </a:p>
        </p:txBody>
      </p:sp>
      <p:sp>
        <p:nvSpPr>
          <p:cNvPr id="2" name="">
            <a:extLst xmlns:a="http://schemas.openxmlformats.org/drawingml/2006/main">
              <a:ext uri="{FF2B5EF4-FFF2-40B4-BE49-F238E27FC236}">
                <a16:creationId xmlns:a16="http://schemas.microsoft.com/office/drawing/2014/main" id="{842CF03B-0DE6-4820-8943-18E981790E45}"/>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3</a:t>
            </a:r>
          </a:p>
        </p:txBody>
      </p:sp>
      <p:graphicFrame>
        <p:nvGraphicFramePr>
          <p:cNvPr id="3" name="">
            <a:extLst xmlns:a="http://schemas.openxmlformats.org/drawingml/2006/main">
              <a:ext uri="{FF2B5EF4-FFF2-40B4-BE49-F238E27FC236}">
                <a16:creationId xmlns:a16="http://schemas.microsoft.com/office/drawing/2014/main" id="{0539DCC8-ADD9-4FDC-AD2D-6EE0B3521BD9}"/>
              </a:ext>
            </a:extLst>
          </p:cNvPr>
          <p:cNvGraphicFramePr/>
          <p:nvPr/>
        </p:nvGraphicFramePr>
        <p:xfrm>
          <a:off xmlns:a="http://schemas.openxmlformats.org/drawingml/2006/main" x="609600" y="1600200"/>
          <a:ext xmlns:a="http://schemas.openxmlformats.org/drawingml/2006/main" cx="10972800" cy="4114800"/>
        </p:xfrm>
        <a:graphic xmlns:a="http://schemas.openxmlformats.org/drawingml/2006/main">
          <a:graphicData uri="http://schemas.openxmlformats.org/drawingml/2006/table">
            <a:tbl>
              <a:tblPr/>
              <a:tblGrid>
                <a:gridCol w="2667000"/>
                <a:gridCol w="4476750"/>
                <a:gridCol w="3829050"/>
              </a:tblGrid>
              <a:tr h="822960">
                <a:tc>
                  <a:txBody>
                    <a:bodyPr/>
                    <a:lstStyle/>
                    <a:p>
                      <a:r>
                        <a:rPr sz="2100" b="1">
                          <a:solidFill>
                            <a:srgbClr val="FFFFFF"/>
                          </a:solidFill>
                          <a:latin typeface="Yu Gothic"/>
                          <a:ea typeface="Yu Gothic"/>
                          <a:cs typeface="Yu Gothic"/>
                        </a:rPr>
                        <a:t>利用者</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主な操作</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参照する範囲</a:t>
                      </a:r>
                    </a:p>
                  </a:txBody>
                  <a:tcPr marL="171450" marR="133350" marT="142875" marB="114300" anchor="ctr">
                    <a:solidFill>
                      <a:srgbClr val="203948"/>
                    </a:solidFill>
                  </a:tcPr>
                </a:tc>
              </a:tr>
              <a:tr h="822960">
                <a:tc>
                  <a:txBody>
                    <a:bodyPr/>
                    <a:lstStyle/>
                    <a:p>
                      <a:r>
                        <a:rPr sz="2100">
                          <a:solidFill>
                            <a:srgbClr val="203948"/>
                          </a:solidFill>
                          <a:latin typeface="Yu Gothic"/>
                          <a:ea typeface="Yu Gothic"/>
                          <a:cs typeface="Yu Gothic"/>
                        </a:rPr>
                        <a:t>新郎新婦</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宿題の確認・提出</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本人の案件</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プランナー</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提出確認・フォロー</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担当案件</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式場管理者</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利用者・テンプレート管理</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自分の式場</a:t>
                      </a:r>
                    </a:p>
                  </a:txBody>
                  <a:tcPr marL="171450" marR="133350" marT="142875" marB="114300" anchor="ctr">
                    <a:solidFill>
                      <a:srgbClr val="FFFFFF"/>
                    </a:solidFill>
                  </a:tcPr>
                </a:tc>
              </a:tr>
              <a:tr h="822960">
                <a:tc>
                  <a:txBody>
                    <a:bodyPr/>
                    <a:lstStyle/>
                    <a:p>
                      <a:r>
                        <a:rPr sz="2100">
                          <a:solidFill>
                            <a:srgbClr val="203948"/>
                          </a:solidFill>
                          <a:latin typeface="Yu Gothic"/>
                          <a:ea typeface="Yu Gothic"/>
                          <a:cs typeface="Yu Gothic"/>
                        </a:rPr>
                        <a:t>システム管理者</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式場登録・利用状況の確認</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全体の管理情報</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B0FD2A4-1E6C-4DDC-9705-A8B12E280FD4}"/>
              </a:ext>
            </a:extLst>
          </p:cNvPr>
          <p:cNvSpPr>
            <a:spLocks xmlns:a="http://schemas.openxmlformats.org/drawingml/2006/main" noGrp="1"/>
          </p:cNvSpPr>
          <p:nvPr/>
        </p:nvSpPr>
        <p:spPr>
          <a:xfrm xmlns:a="http://schemas.openxmlformats.org/drawingml/2006/main">
            <a:off x="609600" y="59721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権限は画面とデータベースの両方で検証します</a:t>
            </a:r>
          </a:p>
        </p:txBody>
      </p:sp>
    </p:spTree>
    <p:extLst>
      <p:ext uri="{BB962C8B-B14F-4D97-AF65-F5344CB8AC3E}">
        <p14:creationId xmlns:p14="http://schemas.microsoft.com/office/powerpoint/2010/main" val="1429237486"/>
      </p:ext>
    </p:extLst>
  </p:cSld>
</p:sld>
</file>

<file path=ppt/slides/slide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D2AF81B-09BD-47A0-A767-F6C810D46767}"/>
              </a:ext>
            </a:extLst>
          </p:cNvPr>
          <p:cNvCxnSpPr>
            <a:stCxn xmlns:a="http://schemas.openxmlformats.org/drawingml/2006/main" id="8" idx="0"/>
            <a:endCxn xmlns:a="http://schemas.openxmlformats.org/drawingml/2006/main" id="4" idx="2"/>
          </p:cNvCxnSpPr>
          <p:nvPr/>
        </p:nvCxnSpPr>
        <p:spPr>
          <a:xfrm xmlns:a="http://schemas.openxmlformats.org/drawingml/2006/main" flipV="1">
            <a:off x="6072188" y="2809875"/>
            <a:ext cx="0" cy="1266825"/>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11" name="">
            <a:extLst xmlns:a="http://schemas.openxmlformats.org/drawingml/2006/main">
              <a:ext uri="{FF2B5EF4-FFF2-40B4-BE49-F238E27FC236}">
                <a16:creationId xmlns:a16="http://schemas.microsoft.com/office/drawing/2014/main" id="{5E7F51F9-67B4-4172-929D-938E42505FDB}"/>
              </a:ext>
            </a:extLst>
          </p:cNvPr>
          <p:cNvCxnSpPr>
            <a:stCxn xmlns:a="http://schemas.openxmlformats.org/drawingml/2006/main" id="5" idx="2"/>
            <a:endCxn xmlns:a="http://schemas.openxmlformats.org/drawingml/2006/main" id="8" idx="3"/>
          </p:cNvCxnSpPr>
          <p:nvPr/>
        </p:nvCxnSpPr>
        <p:spPr>
          <a:xfrm xmlns:a="http://schemas.openxmlformats.org/drawingml/2006/main" flipH="1">
            <a:off x="7286625" y="2809875"/>
            <a:ext cx="3024188" cy="1695450"/>
          </a:xfrm>
          <a:prstGeom xmlns:a="http://schemas.openxmlformats.org/drawingml/2006/main" prst="bentConnector5">
            <a:avLst>
              <a:gd name="adj1" fmla="val 0"/>
              <a:gd name="adj2" fmla="val 13483"/>
              <a:gd name="adj3" fmla="val 92441"/>
            </a:avLst>
          </a:prstGeom>
          <a:ln xmlns:a="http://schemas.openxmlformats.org/drawingml/2006/main" w="28575">
            <a:solidFill>
              <a:srgbClr val="C54F76"/>
            </a:solidFill>
            <a:tailEnd type="arrow" w="med" len="med"/>
          </a:ln>
        </p:spPr>
      </p:cxnSp>
      <p:cxnSp>
        <p:nvCxnSpPr>
          <p:cNvPr id="10" name="">
            <a:extLst xmlns:a="http://schemas.openxmlformats.org/drawingml/2006/main">
              <a:ext uri="{FF2B5EF4-FFF2-40B4-BE49-F238E27FC236}">
                <a16:creationId xmlns:a16="http://schemas.microsoft.com/office/drawing/2014/main" id="{9F6593EA-7C1D-4DD9-95B3-692DBE228FE2}"/>
              </a:ext>
            </a:extLst>
          </p:cNvPr>
          <p:cNvCxnSpPr>
            <a:stCxn xmlns:a="http://schemas.openxmlformats.org/drawingml/2006/main" id="5" idx="2"/>
            <a:endCxn xmlns:a="http://schemas.openxmlformats.org/drawingml/2006/main" id="9" idx="0"/>
          </p:cNvCxnSpPr>
          <p:nvPr/>
        </p:nvCxnSpPr>
        <p:spPr>
          <a:xfrm xmlns:a="http://schemas.openxmlformats.org/drawingml/2006/main">
            <a:off x="10310813" y="2809875"/>
            <a:ext cx="0" cy="1266825"/>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7" name="">
            <a:extLst xmlns:a="http://schemas.openxmlformats.org/drawingml/2006/main">
              <a:ext uri="{FF2B5EF4-FFF2-40B4-BE49-F238E27FC236}">
                <a16:creationId xmlns:a16="http://schemas.microsoft.com/office/drawing/2014/main" id="{9A3ECF47-21C6-407F-8B3D-96DB6415858B}"/>
              </a:ext>
            </a:extLst>
          </p:cNvPr>
          <p:cNvCxnSpPr>
            <a:stCxn xmlns:a="http://schemas.openxmlformats.org/drawingml/2006/main" id="4" idx="3"/>
            <a:endCxn xmlns:a="http://schemas.openxmlformats.org/drawingml/2006/main" id="5" idx="1"/>
          </p:cNvCxnSpPr>
          <p:nvPr/>
        </p:nvCxnSpPr>
        <p:spPr>
          <a:xfrm xmlns:a="http://schemas.openxmlformats.org/drawingml/2006/main">
            <a:off x="7286625" y="2381250"/>
            <a:ext cx="1809750" cy="0"/>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6" name="">
            <a:extLst xmlns:a="http://schemas.openxmlformats.org/drawingml/2006/main">
              <a:ext uri="{FF2B5EF4-FFF2-40B4-BE49-F238E27FC236}">
                <a16:creationId xmlns:a16="http://schemas.microsoft.com/office/drawing/2014/main" id="{E0A607F8-C1A1-42F7-A691-23272E9EE171}"/>
              </a:ext>
            </a:extLst>
          </p:cNvPr>
          <p:cNvCxnSpPr>
            <a:stCxn xmlns:a="http://schemas.openxmlformats.org/drawingml/2006/main" id="3" idx="3"/>
            <a:endCxn xmlns:a="http://schemas.openxmlformats.org/drawingml/2006/main" id="4" idx="1"/>
          </p:cNvCxnSpPr>
          <p:nvPr/>
        </p:nvCxnSpPr>
        <p:spPr>
          <a:xfrm xmlns:a="http://schemas.openxmlformats.org/drawingml/2006/main">
            <a:off x="3048000" y="2381250"/>
            <a:ext cx="1809750" cy="0"/>
          </a:xfrm>
          <a:prstGeom xmlns:a="http://schemas.openxmlformats.org/drawingml/2006/main" prst="straightConnector1">
            <a:avLst/>
          </a:prstGeom>
          <a:ln xmlns:a="http://schemas.openxmlformats.org/drawingml/2006/main" w="28575">
            <a:solidFill>
              <a:srgbClr val="C54F76"/>
            </a:solidFill>
            <a:tailEnd type="arrow" w="med" len="med"/>
          </a:ln>
        </p:spPr>
      </p:cxnSp>
      <p:sp>
        <p:nvSpPr>
          <p:cNvPr id="17" name="">
            <a:extLst xmlns:a="http://schemas.openxmlformats.org/drawingml/2006/main">
              <a:ext uri="{FF2B5EF4-FFF2-40B4-BE49-F238E27FC236}">
                <a16:creationId xmlns:a16="http://schemas.microsoft.com/office/drawing/2014/main" id="{ABAA1ADE-71E1-4982-BD81-E84F77237379}"/>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提出から確認までの画面の流れ</a:t>
            </a:r>
          </a:p>
        </p:txBody>
      </p:sp>
      <p:sp>
        <p:nvSpPr>
          <p:cNvPr id="2" name="">
            <a:extLst xmlns:a="http://schemas.openxmlformats.org/drawingml/2006/main">
              <a:ext uri="{FF2B5EF4-FFF2-40B4-BE49-F238E27FC236}">
                <a16:creationId xmlns:a16="http://schemas.microsoft.com/office/drawing/2014/main" id="{ECBC8CD5-2462-44D1-8E33-37595F500AB7}"/>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4</a:t>
            </a:r>
          </a:p>
        </p:txBody>
      </p:sp>
      <p:sp>
        <p:nvSpPr>
          <p:cNvPr id="3" name="">
            <a:extLst xmlns:a="http://schemas.openxmlformats.org/drawingml/2006/main">
              <a:ext uri="{FF2B5EF4-FFF2-40B4-BE49-F238E27FC236}">
                <a16:creationId xmlns:a16="http://schemas.microsoft.com/office/drawing/2014/main" id="{FC5085CB-99A8-4732-9B45-B7F719E0F0B0}"/>
              </a:ext>
            </a:extLst>
          </p:cNvPr>
          <p:cNvSpPr>
            <a:spLocks xmlns:a="http://schemas.openxmlformats.org/drawingml/2006/main" noGrp="1"/>
          </p:cNvSpPr>
          <p:nvPr/>
        </p:nvSpPr>
        <p:spPr>
          <a:xfrm xmlns:a="http://schemas.openxmlformats.org/drawingml/2006/main">
            <a:off x="619125"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案件・宿題を用意</a:t>
            </a:r>
          </a:p>
        </p:txBody>
      </p:sp>
      <p:sp>
        <p:nvSpPr>
          <p:cNvPr id="4" name="">
            <a:extLst xmlns:a="http://schemas.openxmlformats.org/drawingml/2006/main">
              <a:ext uri="{FF2B5EF4-FFF2-40B4-BE49-F238E27FC236}">
                <a16:creationId xmlns:a16="http://schemas.microsoft.com/office/drawing/2014/main" id="{87CB3C92-600D-4B39-9DA0-6A4A7C496811}"/>
              </a:ext>
            </a:extLst>
          </p:cNvPr>
          <p:cNvSpPr>
            <a:spLocks xmlns:a="http://schemas.openxmlformats.org/drawingml/2006/main" noGrp="1"/>
          </p:cNvSpPr>
          <p:nvPr/>
        </p:nvSpPr>
        <p:spPr>
          <a:xfrm xmlns:a="http://schemas.openxmlformats.org/drawingml/2006/main">
            <a:off x="4857750"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マイページで提出</a:t>
            </a:r>
          </a:p>
        </p:txBody>
      </p:sp>
      <p:sp>
        <p:nvSpPr>
          <p:cNvPr id="5" name="">
            <a:extLst xmlns:a="http://schemas.openxmlformats.org/drawingml/2006/main">
              <a:ext uri="{FF2B5EF4-FFF2-40B4-BE49-F238E27FC236}">
                <a16:creationId xmlns:a16="http://schemas.microsoft.com/office/drawing/2014/main" id="{EDDC801A-7581-4AD5-B8F3-5FBEB5FB8E5F}"/>
              </a:ext>
            </a:extLst>
          </p:cNvPr>
          <p:cNvSpPr>
            <a:spLocks xmlns:a="http://schemas.openxmlformats.org/drawingml/2006/main" noGrp="1"/>
          </p:cNvSpPr>
          <p:nvPr/>
        </p:nvSpPr>
        <p:spPr>
          <a:xfrm xmlns:a="http://schemas.openxmlformats.org/drawingml/2006/main">
            <a:off x="9096375" y="1952625"/>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プランナーが確認</a:t>
            </a:r>
          </a:p>
        </p:txBody>
      </p:sp>
      <p:sp>
        <p:nvSpPr>
          <p:cNvPr id="8" name="">
            <a:extLst xmlns:a="http://schemas.openxmlformats.org/drawingml/2006/main">
              <a:ext uri="{FF2B5EF4-FFF2-40B4-BE49-F238E27FC236}">
                <a16:creationId xmlns:a16="http://schemas.microsoft.com/office/drawing/2014/main" id="{6D3D79A1-42E9-4425-B09B-FFEFF2832E1E}"/>
              </a:ext>
            </a:extLst>
          </p:cNvPr>
          <p:cNvSpPr>
            <a:spLocks xmlns:a="http://schemas.openxmlformats.org/drawingml/2006/main" noGrp="1"/>
          </p:cNvSpPr>
          <p:nvPr/>
        </p:nvSpPr>
        <p:spPr>
          <a:xfrm xmlns:a="http://schemas.openxmlformats.org/drawingml/2006/main">
            <a:off x="4857750" y="4076700"/>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不備あり・再提出</a:t>
            </a:r>
          </a:p>
        </p:txBody>
      </p:sp>
      <p:sp>
        <p:nvSpPr>
          <p:cNvPr id="9" name="">
            <a:extLst xmlns:a="http://schemas.openxmlformats.org/drawingml/2006/main">
              <a:ext uri="{FF2B5EF4-FFF2-40B4-BE49-F238E27FC236}">
                <a16:creationId xmlns:a16="http://schemas.microsoft.com/office/drawing/2014/main" id="{968A8BCB-B6A2-4FFF-88EB-768E2B01AFBA}"/>
              </a:ext>
            </a:extLst>
          </p:cNvPr>
          <p:cNvSpPr>
            <a:spLocks xmlns:a="http://schemas.openxmlformats.org/drawingml/2006/main" noGrp="1"/>
          </p:cNvSpPr>
          <p:nvPr/>
        </p:nvSpPr>
        <p:spPr>
          <a:xfrm xmlns:a="http://schemas.openxmlformats.org/drawingml/2006/main">
            <a:off x="9096375" y="4076700"/>
            <a:ext cx="242887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確認済み</a:t>
            </a:r>
          </a:p>
        </p:txBody>
      </p:sp>
      <p:sp>
        <p:nvSpPr>
          <p:cNvPr id="13" name="">
            <a:extLst xmlns:a="http://schemas.openxmlformats.org/drawingml/2006/main">
              <a:ext uri="{FF2B5EF4-FFF2-40B4-BE49-F238E27FC236}">
                <a16:creationId xmlns:a16="http://schemas.microsoft.com/office/drawing/2014/main" id="{3335D046-A8D7-45AE-90EE-0CE74D38D869}"/>
              </a:ext>
            </a:extLst>
          </p:cNvPr>
          <p:cNvSpPr>
            <a:spLocks xmlns:a="http://schemas.openxmlformats.org/drawingml/2006/main" noGrp="1"/>
          </p:cNvSpPr>
          <p:nvPr/>
        </p:nvSpPr>
        <p:spPr>
          <a:xfrm xmlns:a="http://schemas.openxmlformats.org/drawingml/2006/main">
            <a:off x="647700"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担当者</a:t>
            </a:r>
          </a:p>
        </p:txBody>
      </p:sp>
      <p:sp>
        <p:nvSpPr>
          <p:cNvPr id="14" name="">
            <a:extLst xmlns:a="http://schemas.openxmlformats.org/drawingml/2006/main">
              <a:ext uri="{FF2B5EF4-FFF2-40B4-BE49-F238E27FC236}">
                <a16:creationId xmlns:a16="http://schemas.microsoft.com/office/drawing/2014/main" id="{ABB9A370-612D-4C62-AFEB-228653F7D2E0}"/>
              </a:ext>
            </a:extLst>
          </p:cNvPr>
          <p:cNvSpPr>
            <a:spLocks xmlns:a="http://schemas.openxmlformats.org/drawingml/2006/main" noGrp="1"/>
          </p:cNvSpPr>
          <p:nvPr/>
        </p:nvSpPr>
        <p:spPr>
          <a:xfrm xmlns:a="http://schemas.openxmlformats.org/drawingml/2006/main">
            <a:off x="4857750"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新郎新婦</a:t>
            </a:r>
          </a:p>
        </p:txBody>
      </p:sp>
      <p:sp>
        <p:nvSpPr>
          <p:cNvPr id="15" name="">
            <a:extLst xmlns:a="http://schemas.openxmlformats.org/drawingml/2006/main">
              <a:ext uri="{FF2B5EF4-FFF2-40B4-BE49-F238E27FC236}">
                <a16:creationId xmlns:a16="http://schemas.microsoft.com/office/drawing/2014/main" id="{EBED938A-90F2-4678-B14D-0A8845740C6A}"/>
              </a:ext>
            </a:extLst>
          </p:cNvPr>
          <p:cNvSpPr>
            <a:spLocks xmlns:a="http://schemas.openxmlformats.org/drawingml/2006/main" noGrp="1"/>
          </p:cNvSpPr>
          <p:nvPr/>
        </p:nvSpPr>
        <p:spPr>
          <a:xfrm xmlns:a="http://schemas.openxmlformats.org/drawingml/2006/main">
            <a:off x="9096375" y="15240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担当者</a:t>
            </a:r>
          </a:p>
        </p:txBody>
      </p:sp>
      <p:sp>
        <p:nvSpPr>
          <p:cNvPr id="16" name="">
            <a:extLst xmlns:a="http://schemas.openxmlformats.org/drawingml/2006/main">
              <a:ext uri="{FF2B5EF4-FFF2-40B4-BE49-F238E27FC236}">
                <a16:creationId xmlns:a16="http://schemas.microsoft.com/office/drawing/2014/main" id="{DEC8FCFC-4021-4FFA-A5A3-B833549E61E9}"/>
              </a:ext>
            </a:extLst>
          </p:cNvPr>
          <p:cNvSpPr>
            <a:spLocks xmlns:a="http://schemas.openxmlformats.org/drawingml/2006/main" noGrp="1"/>
          </p:cNvSpPr>
          <p:nvPr/>
        </p:nvSpPr>
        <p:spPr>
          <a:xfrm xmlns:a="http://schemas.openxmlformats.org/drawingml/2006/main">
            <a:off x="619125" y="57150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0747F"/>
                </a:solidFill>
                <a:latin typeface="Yu Gothic"/>
                <a:ea typeface="Yu Gothic"/>
                <a:cs typeface="Yu Gothic"/>
              </a:defRPr>
            </a:defPPr>
          </a:lstStyle>
          <a:p xmlns:a="http://schemas.openxmlformats.org/drawingml/2006/main">
            <a:pPr>
              <a:defRPr sz="2100">
                <a:solidFill>
                  <a:srgbClr val="60747F"/>
                </a:solidFill>
                <a:latin typeface="Yu Gothic"/>
                <a:ea typeface="Yu Gothic"/>
                <a:cs typeface="Yu Gothic"/>
              </a:defRPr>
            </a:pPr>
            <a:r>
              <a:rPr sz="2100">
                <a:solidFill>
                  <a:srgbClr val="60747F"/>
                </a:solidFill>
                <a:latin typeface="Yu Gothic"/>
                <a:ea typeface="Yu Gothic"/>
                <a:cs typeface="Yu Gothic"/>
              </a:rPr>
              <a:t>状態の更新と提出履歴を同じ案件にひも付けます</a:t>
            </a:r>
          </a:p>
        </p:txBody>
      </p:sp>
    </p:spTree>
    <p:extLst>
      <p:ext uri="{BB962C8B-B14F-4D97-AF65-F5344CB8AC3E}">
        <p14:creationId xmlns:p14="http://schemas.microsoft.com/office/powerpoint/2010/main" val="1588775994"/>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A6F2D1-82A0-4096-AEBB-FC8A65612E1C}"/>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新郎新婦のマイページ</a:t>
            </a:r>
          </a:p>
        </p:txBody>
      </p:sp>
      <p:sp>
        <p:nvSpPr>
          <p:cNvPr id="2" name="">
            <a:extLst xmlns:a="http://schemas.openxmlformats.org/drawingml/2006/main">
              <a:ext uri="{FF2B5EF4-FFF2-40B4-BE49-F238E27FC236}">
                <a16:creationId xmlns:a16="http://schemas.microsoft.com/office/drawing/2014/main" id="{631183A4-14B9-466A-8527-378BB0B1EFAD}"/>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5</a:t>
            </a:r>
          </a:p>
        </p:txBody>
      </p:sp>
      <p:pic>
        <p:nvPicPr>
          <p:cNvPr id="3" name="">
            <a:extLst xmlns:a="http://schemas.openxmlformats.org/drawingml/2006/main">
              <a:ext uri="{FF2B5EF4-FFF2-40B4-BE49-F238E27FC236}">
                <a16:creationId xmlns:a16="http://schemas.microsoft.com/office/drawing/2014/main" id="{0D29E306-C619-40DD-A27B-576DDA08CD00}"/>
              </a:ext>
            </a:extLst>
          </p:cNvPr>
          <p:cNvPicPr>
            <a:picLocks xmlns:a="http://schemas.openxmlformats.org/drawingml/2006/main" noChangeAspect="1"/>
          </p:cNvPicPr>
          <p:nvPr/>
        </p:nvPicPr>
        <p:blipFill>
          <a:blip xmlns:r="http://schemas.openxmlformats.org/officeDocument/2006/relationships" xmlns:a="http://schemas.openxmlformats.org/drawingml/2006/main" r:embed="R89372dffda1e4e90"/>
          <a:stretch xmlns:a="http://schemas.openxmlformats.org/drawingml/2006/main"/>
        </p:blipFill>
        <p:spPr>
          <a:xfrm xmlns:a="http://schemas.openxmlformats.org/drawingml/2006/main">
            <a:off x="1459551" y="1381125"/>
            <a:ext cx="2395848"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A32054-5315-462B-8FE3-610339861AC0}"/>
              </a:ext>
            </a:extLst>
          </p:cNvPr>
          <p:cNvSpPr>
            <a:spLocks xmlns:a="http://schemas.openxmlformats.org/drawingml/2006/main" noGrp="1"/>
          </p:cNvSpPr>
          <p:nvPr/>
        </p:nvSpPr>
        <p:spPr>
          <a:xfrm xmlns:a="http://schemas.openxmlformats.org/drawingml/2006/main">
            <a:off x="5572125" y="1857375"/>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03948"/>
                </a:solidFill>
                <a:latin typeface="Yu Gothic"/>
                <a:ea typeface="Yu Gothic"/>
                <a:cs typeface="Yu Gothic"/>
              </a:defRPr>
            </a:defPPr>
          </a:lstStyle>
          <a:p xmlns:a="http://schemas.openxmlformats.org/drawingml/2006/main">
            <a:pPr>
              <a:defRPr sz="2550" b="1">
                <a:solidFill>
                  <a:srgbClr val="203948"/>
                </a:solidFill>
                <a:latin typeface="Yu Gothic"/>
                <a:ea typeface="Yu Gothic"/>
                <a:cs typeface="Yu Gothic"/>
              </a:defRPr>
            </a:pPr>
            <a:r>
              <a:rPr sz="2550" b="1">
                <a:solidFill>
                  <a:srgbClr val="203948"/>
                </a:solidFill>
                <a:latin typeface="Yu Gothic"/>
                <a:ea typeface="Yu Gothic"/>
                <a:cs typeface="Yu Gothic"/>
              </a:rPr>
              <a:t>次に行う宿題を確認</a:t>
            </a:r>
          </a:p>
        </p:txBody>
      </p:sp>
      <p:sp>
        <p:nvSpPr>
          <p:cNvPr id="5" name="">
            <a:extLst xmlns:a="http://schemas.openxmlformats.org/drawingml/2006/main">
              <a:ext uri="{FF2B5EF4-FFF2-40B4-BE49-F238E27FC236}">
                <a16:creationId xmlns:a16="http://schemas.microsoft.com/office/drawing/2014/main" id="{E6FBA07A-20E9-4327-A832-E40FF8959630}"/>
              </a:ext>
            </a:extLst>
          </p:cNvPr>
          <p:cNvSpPr>
            <a:spLocks xmlns:a="http://schemas.openxmlformats.org/drawingml/2006/main" noGrp="1"/>
          </p:cNvSpPr>
          <p:nvPr/>
        </p:nvSpPr>
        <p:spPr>
          <a:xfrm xmlns:a="http://schemas.openxmlformats.org/drawingml/2006/main">
            <a:off x="5572125" y="2838450"/>
            <a:ext cx="571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203948"/>
                </a:solidFill>
                <a:latin typeface="Yu Gothic"/>
                <a:ea typeface="Yu Gothic"/>
                <a:cs typeface="Yu Gothic"/>
              </a:defRPr>
            </a:defPPr>
          </a:lstStyle>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期限を見て宿題を開く</a:t>
            </a:r>
          </a:p>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内容を入力して提出する</a:t>
            </a:r>
          </a:p>
          <a:p xmlns:a="http://schemas.openxmlformats.org/drawingml/2006/main">
            <a:pPr>
              <a:defRPr sz="2325">
                <a:solidFill>
                  <a:srgbClr val="203948"/>
                </a:solidFill>
                <a:latin typeface="Yu Gothic"/>
                <a:ea typeface="Yu Gothic"/>
                <a:cs typeface="Yu Gothic"/>
              </a:defRPr>
            </a:pPr>
            <a:r>
              <a:rPr sz="2325">
                <a:solidFill>
                  <a:srgbClr val="203948"/>
                </a:solidFill>
                <a:latin typeface="Yu Gothic"/>
                <a:ea typeface="Yu Gothic"/>
                <a:cs typeface="Yu Gothic"/>
              </a:rPr>
              <a:t>提出後の状態を確認する</a:t>
            </a:r>
          </a:p>
        </p:txBody>
      </p:sp>
      <p:sp>
        <p:nvSpPr>
          <p:cNvPr id="6" name="">
            <a:extLst xmlns:a="http://schemas.openxmlformats.org/drawingml/2006/main">
              <a:ext uri="{FF2B5EF4-FFF2-40B4-BE49-F238E27FC236}">
                <a16:creationId xmlns:a16="http://schemas.microsoft.com/office/drawing/2014/main" id="{9F554134-6D72-4E2D-8DC6-F70123E1C806}"/>
              </a:ext>
            </a:extLst>
          </p:cNvPr>
          <p:cNvSpPr>
            <a:spLocks xmlns:a="http://schemas.openxmlformats.org/drawingml/2006/main" noGrp="1"/>
          </p:cNvSpPr>
          <p:nvPr/>
        </p:nvSpPr>
        <p:spPr>
          <a:xfrm xmlns:a="http://schemas.openxmlformats.org/drawingml/2006/main">
            <a:off x="5572125" y="5600700"/>
            <a:ext cx="576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模擬データによる既存画面例</a:t>
            </a:r>
          </a:p>
        </p:txBody>
      </p:sp>
    </p:spTree>
    <p:extLst>
      <p:ext uri="{BB962C8B-B14F-4D97-AF65-F5344CB8AC3E}">
        <p14:creationId xmlns:p14="http://schemas.microsoft.com/office/powerpoint/2010/main" val="689475396"/>
      </p:ext>
    </p:extLst>
  </p:cSld>
</p:sld>
</file>

<file path=ppt/slides/slide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00B996-69F2-4C51-A404-FD387B3F6461}"/>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プランナーの提出物確認</a:t>
            </a:r>
          </a:p>
        </p:txBody>
      </p:sp>
      <p:sp>
        <p:nvSpPr>
          <p:cNvPr id="2" name="">
            <a:extLst xmlns:a="http://schemas.openxmlformats.org/drawingml/2006/main">
              <a:ext uri="{FF2B5EF4-FFF2-40B4-BE49-F238E27FC236}">
                <a16:creationId xmlns:a16="http://schemas.microsoft.com/office/drawing/2014/main" id="{D3B6076A-0DF3-4CE3-89B5-E73D8CA6670C}"/>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6</a:t>
            </a:r>
          </a:p>
        </p:txBody>
      </p:sp>
      <p:pic>
        <p:nvPicPr>
          <p:cNvPr id="3" name="">
            <a:extLst xmlns:a="http://schemas.openxmlformats.org/drawingml/2006/main">
              <a:ext uri="{FF2B5EF4-FFF2-40B4-BE49-F238E27FC236}">
                <a16:creationId xmlns:a16="http://schemas.microsoft.com/office/drawing/2014/main" id="{0F113734-6856-4659-8F37-FB6FACF1745B}"/>
              </a:ext>
            </a:extLst>
          </p:cNvPr>
          <p:cNvPicPr>
            <a:picLocks xmlns:a="http://schemas.openxmlformats.org/drawingml/2006/main" noChangeAspect="1"/>
          </p:cNvPicPr>
          <p:nvPr/>
        </p:nvPicPr>
        <p:blipFill>
          <a:blip xmlns:r="http://schemas.openxmlformats.org/officeDocument/2006/relationships" xmlns:a="http://schemas.openxmlformats.org/drawingml/2006/main" r:embed="R77d9b302eed44f77"/>
          <a:stretch xmlns:a="http://schemas.openxmlformats.org/drawingml/2006/main"/>
        </p:blipFill>
        <p:spPr>
          <a:xfrm xmlns:a="http://schemas.openxmlformats.org/drawingml/2006/main">
            <a:off x="1150844" y="1543050"/>
            <a:ext cx="6347012" cy="4495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6D7B4BC-2148-483D-804F-12BE9C21B213}"/>
              </a:ext>
            </a:extLst>
          </p:cNvPr>
          <p:cNvSpPr>
            <a:spLocks xmlns:a="http://schemas.openxmlformats.org/drawingml/2006/main" noGrp="1"/>
          </p:cNvSpPr>
          <p:nvPr/>
        </p:nvSpPr>
        <p:spPr>
          <a:xfrm xmlns:a="http://schemas.openxmlformats.org/drawingml/2006/main">
            <a:off x="8477250" y="1943100"/>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03948"/>
                </a:solidFill>
                <a:latin typeface="Yu Gothic"/>
                <a:ea typeface="Yu Gothic"/>
                <a:cs typeface="Yu Gothic"/>
              </a:defRPr>
            </a:defPPr>
          </a:lstStyle>
          <a:p xmlns:a="http://schemas.openxmlformats.org/drawingml/2006/main">
            <a:pPr>
              <a:defRPr sz="2400" b="1">
                <a:solidFill>
                  <a:srgbClr val="203948"/>
                </a:solidFill>
                <a:latin typeface="Yu Gothic"/>
                <a:ea typeface="Yu Gothic"/>
                <a:cs typeface="Yu Gothic"/>
              </a:defRPr>
            </a:pPr>
            <a:r>
              <a:rPr sz="2400" b="1">
                <a:solidFill>
                  <a:srgbClr val="203948"/>
                </a:solidFill>
                <a:latin typeface="Yu Gothic"/>
                <a:ea typeface="Yu Gothic"/>
                <a:cs typeface="Yu Gothic"/>
              </a:rPr>
              <a:t>確認済み</a:t>
            </a:r>
          </a:p>
          <a:p xmlns:a="http://schemas.openxmlformats.org/drawingml/2006/main">
            <a:pPr>
              <a:defRPr sz="2400" b="1">
                <a:solidFill>
                  <a:srgbClr val="203948"/>
                </a:solidFill>
                <a:latin typeface="Yu Gothic"/>
                <a:ea typeface="Yu Gothic"/>
                <a:cs typeface="Yu Gothic"/>
              </a:defRPr>
            </a:pPr>
            <a:r>
              <a:rPr sz="2400" b="1">
                <a:solidFill>
                  <a:srgbClr val="203948"/>
                </a:solidFill>
                <a:latin typeface="Yu Gothic"/>
                <a:ea typeface="Yu Gothic"/>
                <a:cs typeface="Yu Gothic"/>
              </a:rPr>
              <a:t>または不備あり</a:t>
            </a:r>
          </a:p>
        </p:txBody>
      </p:sp>
      <p:sp>
        <p:nvSpPr>
          <p:cNvPr id="5" name="">
            <a:extLst xmlns:a="http://schemas.openxmlformats.org/drawingml/2006/main">
              <a:ext uri="{FF2B5EF4-FFF2-40B4-BE49-F238E27FC236}">
                <a16:creationId xmlns:a16="http://schemas.microsoft.com/office/drawing/2014/main" id="{0E8C63A3-A51B-4073-8024-8B3F1DA2651F}"/>
              </a:ext>
            </a:extLst>
          </p:cNvPr>
          <p:cNvSpPr>
            <a:spLocks xmlns:a="http://schemas.openxmlformats.org/drawingml/2006/main" noGrp="1"/>
          </p:cNvSpPr>
          <p:nvPr/>
        </p:nvSpPr>
        <p:spPr>
          <a:xfrm xmlns:a="http://schemas.openxmlformats.org/drawingml/2006/main">
            <a:off x="8477250" y="34766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203948"/>
                </a:solidFill>
                <a:latin typeface="Yu Gothic"/>
                <a:ea typeface="Yu Gothic"/>
                <a:cs typeface="Yu Gothic"/>
              </a:defRPr>
            </a:defPPr>
          </a:lstStyle>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理由をコメント</a:t>
            </a:r>
          </a:p>
          <a:p xmlns:a="http://schemas.openxmlformats.org/drawingml/2006/main">
            <a:pPr>
              <a:defRPr sz="2250">
                <a:solidFill>
                  <a:srgbClr val="203948"/>
                </a:solidFill>
                <a:latin typeface="Yu Gothic"/>
                <a:ea typeface="Yu Gothic"/>
                <a:cs typeface="Yu Gothic"/>
              </a:defRPr>
            </a:pPr>
            <a:r>
              <a:rPr sz="2250">
                <a:solidFill>
                  <a:srgbClr val="203948"/>
                </a:solidFill>
                <a:latin typeface="Yu Gothic"/>
                <a:ea typeface="Yu Gothic"/>
                <a:cs typeface="Yu Gothic"/>
              </a:rPr>
              <a:t>再提出を確認</a:t>
            </a:r>
          </a:p>
        </p:txBody>
      </p:sp>
      <p:sp>
        <p:nvSpPr>
          <p:cNvPr id="6" name="">
            <a:extLst xmlns:a="http://schemas.openxmlformats.org/drawingml/2006/main">
              <a:ext uri="{FF2B5EF4-FFF2-40B4-BE49-F238E27FC236}">
                <a16:creationId xmlns:a16="http://schemas.microsoft.com/office/drawing/2014/main" id="{F0C97CBA-DEE9-42D2-AAF1-707346A99069}"/>
              </a:ext>
            </a:extLst>
          </p:cNvPr>
          <p:cNvSpPr>
            <a:spLocks xmlns:a="http://schemas.openxmlformats.org/drawingml/2006/main" noGrp="1"/>
          </p:cNvSpPr>
          <p:nvPr/>
        </p:nvSpPr>
        <p:spPr>
          <a:xfrm xmlns:a="http://schemas.openxmlformats.org/drawingml/2006/main">
            <a:off x="8477250" y="5181600"/>
            <a:ext cx="3105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54F76"/>
                </a:solidFill>
                <a:latin typeface="Yu Gothic"/>
                <a:ea typeface="Yu Gothic"/>
                <a:cs typeface="Yu Gothic"/>
              </a:defRPr>
            </a:defPPr>
          </a:lstStyle>
          <a:p xmlns:a="http://schemas.openxmlformats.org/drawingml/2006/main">
            <a:pPr>
              <a:defRPr sz="2025" b="1">
                <a:solidFill>
                  <a:srgbClr val="C54F76"/>
                </a:solidFill>
                <a:latin typeface="Yu Gothic"/>
                <a:ea typeface="Yu Gothic"/>
                <a:cs typeface="Yu Gothic"/>
              </a:defRPr>
            </a:pPr>
            <a:r>
              <a:rPr sz="2025" b="1">
                <a:solidFill>
                  <a:srgbClr val="C54F76"/>
                </a:solidFill>
                <a:latin typeface="Yu Gothic"/>
                <a:ea typeface="Yu Gothic"/>
                <a:cs typeface="Yu Gothic"/>
              </a:rPr>
              <a:t>AI停止時も手入力可能</a:t>
            </a:r>
          </a:p>
        </p:txBody>
      </p:sp>
    </p:spTree>
    <p:extLst>
      <p:ext uri="{BB962C8B-B14F-4D97-AF65-F5344CB8AC3E}">
        <p14:creationId xmlns:p14="http://schemas.microsoft.com/office/powerpoint/2010/main" val="1699215653"/>
      </p:ext>
    </p:extLst>
  </p:cSld>
</p:sld>
</file>

<file path=ppt/slides/slide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38BD569E-328F-4A61-9EDB-9F794FD8E417}"/>
              </a:ext>
            </a:extLst>
          </p:cNvPr>
          <p:cNvCxnSpPr>
            <a:stCxn xmlns:a="http://schemas.openxmlformats.org/drawingml/2006/main" id="8" idx="3"/>
            <a:endCxn xmlns:a="http://schemas.openxmlformats.org/drawingml/2006/main" id="5" idx="2"/>
          </p:cNvCxnSpPr>
          <p:nvPr/>
        </p:nvCxnSpPr>
        <p:spPr>
          <a:xfrm xmlns:a="http://schemas.openxmlformats.org/drawingml/2006/main" flipV="1">
            <a:off x="7953375" y="3095625"/>
            <a:ext cx="2095500" cy="1866900"/>
          </a:xfrm>
          <a:prstGeom xmlns:a="http://schemas.openxmlformats.org/drawingml/2006/main" prst="bentConnector4">
            <a:avLst>
              <a:gd name="adj1" fmla="val 10909"/>
              <a:gd name="adj2" fmla="val 87755"/>
            </a:avLst>
          </a:prstGeom>
          <a:ln xmlns:a="http://schemas.openxmlformats.org/drawingml/2006/main" w="28575">
            <a:solidFill>
              <a:srgbClr val="C54F76"/>
            </a:solidFill>
            <a:tailEnd type="arrow" w="med" len="med"/>
          </a:ln>
        </p:spPr>
      </p:cxnSp>
      <p:cxnSp>
        <p:nvCxnSpPr>
          <p:cNvPr id="7" name="">
            <a:extLst xmlns:a="http://schemas.openxmlformats.org/drawingml/2006/main">
              <a:ext uri="{FF2B5EF4-FFF2-40B4-BE49-F238E27FC236}">
                <a16:creationId xmlns:a16="http://schemas.microsoft.com/office/drawing/2014/main" id="{D15C7B09-5CCC-4BF1-9626-F6AF1E2101EC}"/>
              </a:ext>
            </a:extLst>
          </p:cNvPr>
          <p:cNvCxnSpPr>
            <a:stCxn xmlns:a="http://schemas.openxmlformats.org/drawingml/2006/main" id="4" idx="3"/>
            <a:endCxn xmlns:a="http://schemas.openxmlformats.org/drawingml/2006/main" id="5" idx="1"/>
          </p:cNvCxnSpPr>
          <p:nvPr/>
        </p:nvCxnSpPr>
        <p:spPr>
          <a:xfrm xmlns:a="http://schemas.openxmlformats.org/drawingml/2006/main">
            <a:off x="7096125" y="2619375"/>
            <a:ext cx="1428750" cy="0"/>
          </a:xfrm>
          <a:prstGeom xmlns:a="http://schemas.openxmlformats.org/drawingml/2006/main" prst="straightConnector1">
            <a:avLst/>
          </a:prstGeom>
          <a:ln xmlns:a="http://schemas.openxmlformats.org/drawingml/2006/main" w="28575">
            <a:solidFill>
              <a:srgbClr val="C54F76"/>
            </a:solidFill>
            <a:tailEnd type="arrow" w="med" len="med"/>
          </a:ln>
        </p:spPr>
      </p:cxnSp>
      <p:cxnSp>
        <p:nvCxnSpPr>
          <p:cNvPr id="6" name="">
            <a:extLst xmlns:a="http://schemas.openxmlformats.org/drawingml/2006/main">
              <a:ext uri="{FF2B5EF4-FFF2-40B4-BE49-F238E27FC236}">
                <a16:creationId xmlns:a16="http://schemas.microsoft.com/office/drawing/2014/main" id="{4CD293C3-69E0-4D1B-9D95-DB5904540E05}"/>
              </a:ext>
            </a:extLst>
          </p:cNvPr>
          <p:cNvCxnSpPr>
            <a:stCxn xmlns:a="http://schemas.openxmlformats.org/drawingml/2006/main" id="3" idx="3"/>
            <a:endCxn xmlns:a="http://schemas.openxmlformats.org/drawingml/2006/main" id="4" idx="1"/>
          </p:cNvCxnSpPr>
          <p:nvPr/>
        </p:nvCxnSpPr>
        <p:spPr>
          <a:xfrm xmlns:a="http://schemas.openxmlformats.org/drawingml/2006/main">
            <a:off x="2800350" y="2619375"/>
            <a:ext cx="1819275" cy="0"/>
          </a:xfrm>
          <a:prstGeom xmlns:a="http://schemas.openxmlformats.org/drawingml/2006/main" prst="straightConnector1">
            <a:avLst/>
          </a:prstGeom>
          <a:ln xmlns:a="http://schemas.openxmlformats.org/drawingml/2006/main" w="28575">
            <a:solidFill>
              <a:srgbClr val="C54F76"/>
            </a:solidFill>
            <a:tailEnd type="arrow" w="med" len="med"/>
          </a:ln>
        </p:spPr>
      </p:cxnSp>
      <p:sp>
        <p:nvSpPr>
          <p:cNvPr id="14" name="">
            <a:extLst xmlns:a="http://schemas.openxmlformats.org/drawingml/2006/main">
              <a:ext uri="{FF2B5EF4-FFF2-40B4-BE49-F238E27FC236}">
                <a16:creationId xmlns:a16="http://schemas.microsoft.com/office/drawing/2014/main" id="{661626F2-4925-4FE3-AF2A-B040D2567BA1}"/>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システム構成とデータの境界</a:t>
            </a:r>
          </a:p>
        </p:txBody>
      </p:sp>
      <p:sp>
        <p:nvSpPr>
          <p:cNvPr id="2" name="">
            <a:extLst xmlns:a="http://schemas.openxmlformats.org/drawingml/2006/main">
              <a:ext uri="{FF2B5EF4-FFF2-40B4-BE49-F238E27FC236}">
                <a16:creationId xmlns:a16="http://schemas.microsoft.com/office/drawing/2014/main" id="{5B2C7998-E33B-4851-8032-DC48707AF283}"/>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7</a:t>
            </a:r>
          </a:p>
        </p:txBody>
      </p:sp>
      <p:sp>
        <p:nvSpPr>
          <p:cNvPr id="3" name="">
            <a:extLst xmlns:a="http://schemas.openxmlformats.org/drawingml/2006/main">
              <a:ext uri="{FF2B5EF4-FFF2-40B4-BE49-F238E27FC236}">
                <a16:creationId xmlns:a16="http://schemas.microsoft.com/office/drawing/2014/main" id="{38A37FA7-6C3B-4299-85ED-5F67D42B733C}"/>
              </a:ext>
            </a:extLst>
          </p:cNvPr>
          <p:cNvSpPr>
            <a:spLocks xmlns:a="http://schemas.openxmlformats.org/drawingml/2006/main" noGrp="1"/>
          </p:cNvSpPr>
          <p:nvPr/>
        </p:nvSpPr>
        <p:spPr>
          <a:xfrm xmlns:a="http://schemas.openxmlformats.org/drawingml/2006/main">
            <a:off x="609600" y="2143125"/>
            <a:ext cx="21907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ブラウザー</a:t>
            </a:r>
          </a:p>
        </p:txBody>
      </p:sp>
      <p:sp>
        <p:nvSpPr>
          <p:cNvPr id="4" name="">
            <a:extLst xmlns:a="http://schemas.openxmlformats.org/drawingml/2006/main">
              <a:ext uri="{FF2B5EF4-FFF2-40B4-BE49-F238E27FC236}">
                <a16:creationId xmlns:a16="http://schemas.microsoft.com/office/drawing/2014/main" id="{46815DB1-E311-4FB3-9A66-A42A6E22A4FE}"/>
              </a:ext>
            </a:extLst>
          </p:cNvPr>
          <p:cNvSpPr>
            <a:spLocks xmlns:a="http://schemas.openxmlformats.org/drawingml/2006/main" noGrp="1"/>
          </p:cNvSpPr>
          <p:nvPr/>
        </p:nvSpPr>
        <p:spPr>
          <a:xfrm xmlns:a="http://schemas.openxmlformats.org/drawingml/2006/main">
            <a:off x="4619625" y="2143125"/>
            <a:ext cx="2476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Next.js</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画面・API</a:t>
            </a:r>
          </a:p>
        </p:txBody>
      </p:sp>
      <p:sp>
        <p:nvSpPr>
          <p:cNvPr id="5" name="">
            <a:extLst xmlns:a="http://schemas.openxmlformats.org/drawingml/2006/main">
              <a:ext uri="{FF2B5EF4-FFF2-40B4-BE49-F238E27FC236}">
                <a16:creationId xmlns:a16="http://schemas.microsoft.com/office/drawing/2014/main" id="{07BBCA77-81B8-46D1-8E7C-5389530518CE}"/>
              </a:ext>
            </a:extLst>
          </p:cNvPr>
          <p:cNvSpPr>
            <a:spLocks xmlns:a="http://schemas.openxmlformats.org/drawingml/2006/main" noGrp="1"/>
          </p:cNvSpPr>
          <p:nvPr/>
        </p:nvSpPr>
        <p:spPr>
          <a:xfrm xmlns:a="http://schemas.openxmlformats.org/drawingml/2006/main">
            <a:off x="8524875" y="2143125"/>
            <a:ext cx="3048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Supabase</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Auth / DB / Storage</a:t>
            </a:r>
          </a:p>
        </p:txBody>
      </p:sp>
      <p:sp>
        <p:nvSpPr>
          <p:cNvPr id="8" name="">
            <a:extLst xmlns:a="http://schemas.openxmlformats.org/drawingml/2006/main">
              <a:ext uri="{FF2B5EF4-FFF2-40B4-BE49-F238E27FC236}">
                <a16:creationId xmlns:a16="http://schemas.microsoft.com/office/drawing/2014/main" id="{B37AA91C-5735-43E6-A91E-2156156EB7D9}"/>
              </a:ext>
            </a:extLst>
          </p:cNvPr>
          <p:cNvSpPr>
            <a:spLocks xmlns:a="http://schemas.openxmlformats.org/drawingml/2006/main" noGrp="1"/>
          </p:cNvSpPr>
          <p:nvPr/>
        </p:nvSpPr>
        <p:spPr>
          <a:xfrm xmlns:a="http://schemas.openxmlformats.org/drawingml/2006/main">
            <a:off x="4619625" y="4429125"/>
            <a:ext cx="3333750" cy="1066800"/>
          </a:xfrm>
          <a:prstGeom xmlns:a="http://schemas.openxmlformats.org/drawingml/2006/main" prst="rect">
            <a:avLst/>
          </a:prstGeom>
          <a:solidFill xmlns:a="http://schemas.openxmlformats.org/drawingml/2006/main">
            <a:srgbClr val="FFFFFF"/>
          </a:solidFill>
          <a:ln xmlns:a="http://schemas.openxmlformats.org/drawingml/2006/main" w="19050">
            <a:solidFill>
              <a:srgbClr val="203948"/>
            </a:solidFill>
          </a:ln>
        </p:spPr>
        <p:txBody>
          <a:bodyPr xmlns:a="http://schemas.openxmlformats.org/drawingml/2006/main" lIns="95250" tIns="95250" rIns="95250" bIns="95250" anchor="ctr"/>
          <a:lstStyle xmlns:a="http://schemas.openxmlformats.org/drawingml/2006/main">
            <a:defPPr algn="ctr">
              <a:defRPr sz="2025" b="1">
                <a:solidFill>
                  <a:srgbClr val="203948"/>
                </a:solidFill>
                <a:latin typeface="Yu Gothic"/>
                <a:ea typeface="Yu Gothic"/>
                <a:cs typeface="Yu Gothic"/>
              </a:defRPr>
            </a:defPPr>
          </a:lstStyle>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ローカルAIワーカー</a:t>
            </a:r>
          </a:p>
          <a:p xmlns:a="http://schemas.openxmlformats.org/drawingml/2006/main">
            <a:pPr algn="ctr">
              <a:defRPr sz="2025" b="1">
                <a:solidFill>
                  <a:srgbClr val="203948"/>
                </a:solidFill>
                <a:latin typeface="Yu Gothic"/>
                <a:ea typeface="Yu Gothic"/>
                <a:cs typeface="Yu Gothic"/>
              </a:defRPr>
            </a:pPr>
            <a:r>
              <a:rPr sz="2025" b="1">
                <a:solidFill>
                  <a:srgbClr val="203948"/>
                </a:solidFill>
                <a:latin typeface="Yu Gothic"/>
                <a:ea typeface="Yu Gothic"/>
                <a:cs typeface="Yu Gothic"/>
              </a:rPr>
              <a:t>Ollama</a:t>
            </a:r>
          </a:p>
        </p:txBody>
      </p:sp>
      <p:sp>
        <p:nvSpPr>
          <p:cNvPr id="10" name="">
            <a:extLst xmlns:a="http://schemas.openxmlformats.org/drawingml/2006/main">
              <a:ext uri="{FF2B5EF4-FFF2-40B4-BE49-F238E27FC236}">
                <a16:creationId xmlns:a16="http://schemas.microsoft.com/office/drawing/2014/main" id="{F3AD80B3-35AA-4457-8788-3593086A70D5}"/>
              </a:ext>
            </a:extLst>
          </p:cNvPr>
          <p:cNvSpPr>
            <a:spLocks xmlns:a="http://schemas.openxmlformats.org/drawingml/2006/main" noGrp="1"/>
          </p:cNvSpPr>
          <p:nvPr/>
        </p:nvSpPr>
        <p:spPr>
          <a:xfrm xmlns:a="http://schemas.openxmlformats.org/drawingml/2006/main">
            <a:off x="2990850" y="166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本人のセッション</a:t>
            </a:r>
          </a:p>
        </p:txBody>
      </p:sp>
      <p:sp>
        <p:nvSpPr>
          <p:cNvPr id="11" name="">
            <a:extLst xmlns:a="http://schemas.openxmlformats.org/drawingml/2006/main">
              <a:ext uri="{FF2B5EF4-FFF2-40B4-BE49-F238E27FC236}">
                <a16:creationId xmlns:a16="http://schemas.microsoft.com/office/drawing/2014/main" id="{BF75B5BE-A13A-4749-A7ED-F83DAA607886}"/>
              </a:ext>
            </a:extLst>
          </p:cNvPr>
          <p:cNvSpPr>
            <a:spLocks xmlns:a="http://schemas.openxmlformats.org/drawingml/2006/main" noGrp="1"/>
          </p:cNvSpPr>
          <p:nvPr/>
        </p:nvSpPr>
        <p:spPr>
          <a:xfrm xmlns:a="http://schemas.openxmlformats.org/drawingml/2006/main">
            <a:off x="7277100" y="16668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RLSで範囲を制限</a:t>
            </a:r>
          </a:p>
        </p:txBody>
      </p:sp>
      <p:sp>
        <p:nvSpPr>
          <p:cNvPr id="12" name="">
            <a:extLst xmlns:a="http://schemas.openxmlformats.org/drawingml/2006/main">
              <a:ext uri="{FF2B5EF4-FFF2-40B4-BE49-F238E27FC236}">
                <a16:creationId xmlns:a16="http://schemas.microsoft.com/office/drawing/2014/main" id="{43F89224-5204-4BFA-84A0-5B4A5E88488C}"/>
              </a:ext>
            </a:extLst>
          </p:cNvPr>
          <p:cNvSpPr>
            <a:spLocks xmlns:a="http://schemas.openxmlformats.org/drawingml/2006/main" noGrp="1"/>
          </p:cNvSpPr>
          <p:nvPr/>
        </p:nvSpPr>
        <p:spPr>
          <a:xfrm xmlns:a="http://schemas.openxmlformats.org/drawingml/2006/main">
            <a:off x="8382000" y="42291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AIジョブを取得し</a:t>
            </a:r>
          </a:p>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結果を書き戻す</a:t>
            </a:r>
          </a:p>
        </p:txBody>
      </p:sp>
      <p:sp>
        <p:nvSpPr>
          <p:cNvPr id="13" name="">
            <a:extLst xmlns:a="http://schemas.openxmlformats.org/drawingml/2006/main">
              <a:ext uri="{FF2B5EF4-FFF2-40B4-BE49-F238E27FC236}">
                <a16:creationId xmlns:a16="http://schemas.microsoft.com/office/drawing/2014/main" id="{AC9A82AA-393D-4EF2-A475-7FB02BF5B21F}"/>
              </a:ext>
            </a:extLst>
          </p:cNvPr>
          <p:cNvSpPr>
            <a:spLocks xmlns:a="http://schemas.openxmlformats.org/drawingml/2006/main" noGrp="1"/>
          </p:cNvSpPr>
          <p:nvPr/>
        </p:nvSpPr>
        <p:spPr>
          <a:xfrm xmlns:a="http://schemas.openxmlformats.org/drawingml/2006/main">
            <a:off x="609600" y="5981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学校デモが対象。本番運用は現時点で予定していません</a:t>
            </a:r>
          </a:p>
        </p:txBody>
      </p:sp>
    </p:spTree>
    <p:extLst>
      <p:ext uri="{BB962C8B-B14F-4D97-AF65-F5344CB8AC3E}">
        <p14:creationId xmlns:p14="http://schemas.microsoft.com/office/powerpoint/2010/main" val="1447686963"/>
      </p:ext>
    </p:extLst>
  </p:cSld>
</p:sld>
</file>

<file path=ppt/slides/slide8.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534969-2A39-4C40-A8E9-85ABEE938CF2}"/>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AI補助と手動操作の分担</a:t>
            </a:r>
          </a:p>
        </p:txBody>
      </p:sp>
      <p:sp>
        <p:nvSpPr>
          <p:cNvPr id="2" name="">
            <a:extLst xmlns:a="http://schemas.openxmlformats.org/drawingml/2006/main">
              <a:ext uri="{FF2B5EF4-FFF2-40B4-BE49-F238E27FC236}">
                <a16:creationId xmlns:a16="http://schemas.microsoft.com/office/drawing/2014/main" id="{64ECD03C-8805-456F-921F-2E4200934195}"/>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8</a:t>
            </a:r>
          </a:p>
        </p:txBody>
      </p:sp>
      <p:graphicFrame>
        <p:nvGraphicFramePr>
          <p:cNvPr id="3" name="">
            <a:extLst xmlns:a="http://schemas.openxmlformats.org/drawingml/2006/main">
              <a:ext uri="{FF2B5EF4-FFF2-40B4-BE49-F238E27FC236}">
                <a16:creationId xmlns:a16="http://schemas.microsoft.com/office/drawing/2014/main" id="{8B1B2E2F-38FE-4163-86AB-F93438A35D1A}"/>
              </a:ext>
            </a:extLst>
          </p:cNvPr>
          <p:cNvGraphicFramePr/>
          <p:nvPr/>
        </p:nvGraphicFramePr>
        <p:xfrm>
          <a:off xmlns:a="http://schemas.openxmlformats.org/drawingml/2006/main" x="609600" y="1657350"/>
          <a:ext xmlns:a="http://schemas.openxmlformats.org/drawingml/2006/main" cx="10972800" cy="3352800"/>
        </p:xfrm>
        <a:graphic xmlns:a="http://schemas.openxmlformats.org/drawingml/2006/main">
          <a:graphicData uri="http://schemas.openxmlformats.org/drawingml/2006/table">
            <a:tbl>
              <a:tblPr/>
              <a:tblGrid>
                <a:gridCol w="2571750"/>
                <a:gridCol w="3762375"/>
                <a:gridCol w="4638675"/>
              </a:tblGrid>
              <a:tr h="838200">
                <a:tc>
                  <a:txBody>
                    <a:bodyPr/>
                    <a:lstStyle/>
                    <a:p>
                      <a:r>
                        <a:rPr sz="2175" b="1">
                          <a:solidFill>
                            <a:srgbClr val="FFFFFF"/>
                          </a:solidFill>
                          <a:latin typeface="Yu Gothic"/>
                          <a:ea typeface="Yu Gothic"/>
                          <a:cs typeface="Yu Gothic"/>
                        </a:rPr>
                        <a:t>作業</a:t>
                      </a:r>
                    </a:p>
                  </a:txBody>
                  <a:tcPr marL="171450" marR="133350" marT="142875" marB="114300" anchor="ctr">
                    <a:solidFill>
                      <a:srgbClr val="203948"/>
                    </a:solidFill>
                  </a:tcPr>
                </a:tc>
                <a:tc>
                  <a:txBody>
                    <a:bodyPr/>
                    <a:lstStyle/>
                    <a:p>
                      <a:r>
                        <a:rPr sz="2175" b="1">
                          <a:solidFill>
                            <a:srgbClr val="FFFFFF"/>
                          </a:solidFill>
                          <a:latin typeface="Yu Gothic"/>
                          <a:ea typeface="Yu Gothic"/>
                          <a:cs typeface="Yu Gothic"/>
                        </a:rPr>
                        <a:t>AI補助</a:t>
                      </a:r>
                    </a:p>
                  </a:txBody>
                  <a:tcPr marL="171450" marR="133350" marT="142875" marB="114300" anchor="ctr">
                    <a:solidFill>
                      <a:srgbClr val="203948"/>
                    </a:solidFill>
                  </a:tcPr>
                </a:tc>
                <a:tc>
                  <a:txBody>
                    <a:bodyPr/>
                    <a:lstStyle/>
                    <a:p>
                      <a:r>
                        <a:rPr sz="2175" b="1">
                          <a:solidFill>
                            <a:srgbClr val="FFFFFF"/>
                          </a:solidFill>
                          <a:latin typeface="Yu Gothic"/>
                          <a:ea typeface="Yu Gothic"/>
                          <a:cs typeface="Yu Gothic"/>
                        </a:rPr>
                        <a:t>利用できない場合</a:t>
                      </a:r>
                    </a:p>
                  </a:txBody>
                  <a:tcPr marL="171450" marR="133350" marT="142875" marB="114300" anchor="ctr">
                    <a:solidFill>
                      <a:srgbClr val="203948"/>
                    </a:solidFill>
                  </a:tcPr>
                </a:tc>
              </a:tr>
              <a:tr h="838200">
                <a:tc>
                  <a:txBody>
                    <a:bodyPr/>
                    <a:lstStyle/>
                    <a:p>
                      <a:r>
                        <a:rPr sz="2175">
                          <a:solidFill>
                            <a:srgbClr val="203948"/>
                          </a:solidFill>
                          <a:latin typeface="Yu Gothic"/>
                          <a:ea typeface="Yu Gothic"/>
                          <a:cs typeface="Yu Gothic"/>
                        </a:rPr>
                        <a:t>提出内容の確認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分類・不備候補</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担当者が内容を読む</a:t>
                      </a:r>
                    </a:p>
                  </a:txBody>
                  <a:tcPr marL="171450" marR="133350" marT="142875" marB="114300" anchor="ctr">
                    <a:solidFill>
                      <a:srgbClr val="FFFFFF"/>
                    </a:solidFill>
                  </a:tcPr>
                </a:tc>
              </a:tr>
              <a:tr h="838200">
                <a:tc>
                  <a:txBody>
                    <a:bodyPr/>
                    <a:lstStyle/>
                    <a:p>
                      <a:r>
                        <a:rPr sz="2175">
                          <a:solidFill>
                            <a:srgbClr val="203948"/>
                          </a:solidFill>
                          <a:latin typeface="Yu Gothic"/>
                          <a:ea typeface="Yu Gothic"/>
                          <a:cs typeface="Yu Gothic"/>
                        </a:rPr>
                        <a:t>返信文の作成</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文章の下書き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コメントを手入力</a:t>
                      </a:r>
                    </a:p>
                  </a:txBody>
                  <a:tcPr marL="171450" marR="133350" marT="142875" marB="114300" anchor="ctr">
                    <a:solidFill>
                      <a:srgbClr val="FFFFFF"/>
                    </a:solidFill>
                  </a:tcPr>
                </a:tc>
              </a:tr>
              <a:tr h="838200">
                <a:tc>
                  <a:txBody>
                    <a:bodyPr/>
                    <a:lstStyle/>
                    <a:p>
                      <a:r>
                        <a:rPr sz="2175">
                          <a:solidFill>
                            <a:srgbClr val="203948"/>
                          </a:solidFill>
                          <a:latin typeface="Yu Gothic"/>
                          <a:ea typeface="Yu Gothic"/>
                          <a:cs typeface="Yu Gothic"/>
                        </a:rPr>
                        <a:t>最終判断</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担当者が結果を確認</a:t>
                      </a:r>
                    </a:p>
                  </a:txBody>
                  <a:tcPr marL="171450" marR="133350" marT="142875" marB="114300" anchor="ctr">
                    <a:solidFill>
                      <a:srgbClr val="FFFFFF"/>
                    </a:solidFill>
                  </a:tcPr>
                </a:tc>
                <a:tc>
                  <a:txBody>
                    <a:bodyPr/>
                    <a:lstStyle/>
                    <a:p>
                      <a:r>
                        <a:rPr sz="2175">
                          <a:solidFill>
                            <a:srgbClr val="203948"/>
                          </a:solidFill>
                          <a:latin typeface="Yu Gothic"/>
                          <a:ea typeface="Yu Gothic"/>
                          <a:cs typeface="Yu Gothic"/>
                        </a:rPr>
                        <a:t>同じ確認手順を続ける</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3D6AEF-EC6F-480D-A618-98C6108CCD40}"/>
              </a:ext>
            </a:extLst>
          </p:cNvPr>
          <p:cNvSpPr>
            <a:spLocks xmlns:a="http://schemas.openxmlformats.org/drawingml/2006/main" noGrp="1"/>
          </p:cNvSpPr>
          <p:nvPr/>
        </p:nvSpPr>
        <p:spPr>
          <a:xfrm xmlns:a="http://schemas.openxmlformats.org/drawingml/2006/main">
            <a:off x="609600" y="55626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54F76"/>
                </a:solidFill>
                <a:latin typeface="Yu Gothic"/>
                <a:ea typeface="Yu Gothic"/>
                <a:cs typeface="Yu Gothic"/>
              </a:defRPr>
            </a:defPPr>
          </a:lstStyle>
          <a:p xmlns:a="http://schemas.openxmlformats.org/drawingml/2006/main">
            <a:pPr>
              <a:defRPr sz="2175" b="1">
                <a:solidFill>
                  <a:srgbClr val="C54F76"/>
                </a:solidFill>
                <a:latin typeface="Yu Gothic"/>
                <a:ea typeface="Yu Gothic"/>
                <a:cs typeface="Yu Gothic"/>
              </a:defRPr>
            </a:pPr>
            <a:r>
              <a:rPr sz="2175" b="1">
                <a:solidFill>
                  <a:srgbClr val="C54F76"/>
                </a:solidFill>
                <a:latin typeface="Yu Gothic"/>
                <a:ea typeface="Yu Gothic"/>
                <a:cs typeface="Yu Gothic"/>
              </a:rPr>
              <a:t>開発用Agent AIの契約は、チーム参加の条件にしません</a:t>
            </a:r>
          </a:p>
        </p:txBody>
      </p:sp>
    </p:spTree>
    <p:extLst>
      <p:ext uri="{BB962C8B-B14F-4D97-AF65-F5344CB8AC3E}">
        <p14:creationId xmlns:p14="http://schemas.microsoft.com/office/powerpoint/2010/main" val="1609682905"/>
      </p:ext>
    </p:extLst>
  </p:cSld>
</p:sld>
</file>

<file path=ppt/slides/slide9.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41FE6F-C200-46B1-A6FE-E4F2626E5115}"/>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実装と検証の記録</a:t>
            </a:r>
          </a:p>
        </p:txBody>
      </p:sp>
      <p:sp>
        <p:nvSpPr>
          <p:cNvPr id="2" name="">
            <a:extLst xmlns:a="http://schemas.openxmlformats.org/drawingml/2006/main">
              <a:ext uri="{FF2B5EF4-FFF2-40B4-BE49-F238E27FC236}">
                <a16:creationId xmlns:a16="http://schemas.microsoft.com/office/drawing/2014/main" id="{59915035-5C06-450C-BA48-15FB91EF0D7E}"/>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9</a:t>
            </a:r>
          </a:p>
        </p:txBody>
      </p:sp>
      <p:sp>
        <p:nvSpPr>
          <p:cNvPr id="3" name="">
            <a:extLst xmlns:a="http://schemas.openxmlformats.org/drawingml/2006/main">
              <a:ext uri="{FF2B5EF4-FFF2-40B4-BE49-F238E27FC236}">
                <a16:creationId xmlns:a16="http://schemas.microsoft.com/office/drawing/2014/main" id="{4443DA8E-BB67-4C75-8A4F-293405DF5E3C}"/>
              </a:ext>
            </a:extLst>
          </p:cNvPr>
          <p:cNvSpPr>
            <a:spLocks xmlns:a="http://schemas.openxmlformats.org/drawingml/2006/main" noGrp="1"/>
          </p:cNvSpPr>
          <p:nvPr/>
        </p:nvSpPr>
        <p:spPr>
          <a:xfrm xmlns:a="http://schemas.openxmlformats.org/drawingml/2006/main">
            <a:off x="609600" y="15240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60747F"/>
                </a:solidFill>
                <a:latin typeface="Yu Gothic"/>
                <a:ea typeface="Yu Gothic"/>
                <a:cs typeface="Yu Gothic"/>
              </a:defRPr>
            </a:defPPr>
          </a:lstStyle>
          <a:p xmlns:a="http://schemas.openxmlformats.org/drawingml/2006/main">
            <a:pPr>
              <a:defRPr sz="2100">
                <a:solidFill>
                  <a:srgbClr val="60747F"/>
                </a:solidFill>
                <a:latin typeface="Yu Gothic"/>
                <a:ea typeface="Yu Gothic"/>
                <a:cs typeface="Yu Gothic"/>
              </a:defRPr>
            </a:pPr>
            <a:r>
              <a:rPr sz="2100">
                <a:solidFill>
                  <a:srgbClr val="60747F"/>
                </a:solidFill>
                <a:latin typeface="Yu Gothic"/>
                <a:ea typeface="Yu Gothic"/>
                <a:cs typeface="Yu Gothic"/>
              </a:rPr>
              <a:t>PR #70 の記録済み検証</a:t>
            </a:r>
          </a:p>
        </p:txBody>
      </p:sp>
      <p:sp>
        <p:nvSpPr>
          <p:cNvPr id="4" name="">
            <a:extLst xmlns:a="http://schemas.openxmlformats.org/drawingml/2006/main">
              <a:ext uri="{FF2B5EF4-FFF2-40B4-BE49-F238E27FC236}">
                <a16:creationId xmlns:a16="http://schemas.microsoft.com/office/drawing/2014/main" id="{772D4AC2-6451-4830-B1BB-FA4863B3AD06}"/>
              </a:ext>
            </a:extLst>
          </p:cNvPr>
          <p:cNvSpPr>
            <a:spLocks xmlns:a="http://schemas.openxmlformats.org/drawingml/2006/main" noGrp="1"/>
          </p:cNvSpPr>
          <p:nvPr/>
        </p:nvSpPr>
        <p:spPr>
          <a:xfrm xmlns:a="http://schemas.openxmlformats.org/drawingml/2006/main">
            <a:off x="609600" y="230505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C54F76"/>
                </a:solidFill>
                <a:latin typeface="Yu Gothic"/>
                <a:ea typeface="Yu Gothic"/>
                <a:cs typeface="Yu Gothic"/>
              </a:defRPr>
            </a:defPPr>
          </a:lstStyle>
          <a:p xmlns:a="http://schemas.openxmlformats.org/drawingml/2006/main">
            <a:pPr>
              <a:defRPr sz="6900" b="1">
                <a:solidFill>
                  <a:srgbClr val="C54F76"/>
                </a:solidFill>
                <a:latin typeface="Yu Gothic"/>
                <a:ea typeface="Yu Gothic"/>
                <a:cs typeface="Yu Gothic"/>
              </a:defRPr>
            </a:pPr>
            <a:r>
              <a:rPr sz="6900" b="1">
                <a:solidFill>
                  <a:srgbClr val="C54F76"/>
                </a:solidFill>
                <a:latin typeface="Yu Gothic"/>
                <a:ea typeface="Yu Gothic"/>
                <a:cs typeface="Yu Gothic"/>
              </a:rPr>
              <a:t>649</a:t>
            </a:r>
          </a:p>
        </p:txBody>
      </p:sp>
      <p:sp>
        <p:nvSpPr>
          <p:cNvPr id="5" name="">
            <a:extLst xmlns:a="http://schemas.openxmlformats.org/drawingml/2006/main">
              <a:ext uri="{FF2B5EF4-FFF2-40B4-BE49-F238E27FC236}">
                <a16:creationId xmlns:a16="http://schemas.microsoft.com/office/drawing/2014/main" id="{40C32EAC-BA2B-42A6-B598-C8A75AF7256B}"/>
              </a:ext>
            </a:extLst>
          </p:cNvPr>
          <p:cNvSpPr>
            <a:spLocks xmlns:a="http://schemas.openxmlformats.org/drawingml/2006/main" noGrp="1"/>
          </p:cNvSpPr>
          <p:nvPr/>
        </p:nvSpPr>
        <p:spPr>
          <a:xfrm xmlns:a="http://schemas.openxmlformats.org/drawingml/2006/main">
            <a:off x="609600" y="36004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948"/>
                </a:solidFill>
                <a:latin typeface="Yu Gothic"/>
                <a:ea typeface="Yu Gothic"/>
                <a:cs typeface="Yu Gothic"/>
              </a:defRPr>
            </a:defPPr>
          </a:lstStyle>
          <a:p xmlns:a="http://schemas.openxmlformats.org/drawingml/2006/main">
            <a:pPr>
              <a:defRPr sz="2100">
                <a:solidFill>
                  <a:srgbClr val="203948"/>
                </a:solidFill>
                <a:latin typeface="Yu Gothic"/>
                <a:ea typeface="Yu Gothic"/>
                <a:cs typeface="Yu Gothic"/>
              </a:defRPr>
            </a:pPr>
            <a:r>
              <a:rPr sz="2100">
                <a:solidFill>
                  <a:srgbClr val="203948"/>
                </a:solidFill>
                <a:latin typeface="Yu Gothic"/>
                <a:ea typeface="Yu Gothic"/>
                <a:cs typeface="Yu Gothic"/>
              </a:rPr>
              <a:t>単体・DB関連の成功件数</a:t>
            </a:r>
          </a:p>
        </p:txBody>
      </p:sp>
      <p:sp>
        <p:nvSpPr>
          <p:cNvPr id="6" name="">
            <a:extLst xmlns:a="http://schemas.openxmlformats.org/drawingml/2006/main">
              <a:ext uri="{FF2B5EF4-FFF2-40B4-BE49-F238E27FC236}">
                <a16:creationId xmlns:a16="http://schemas.microsoft.com/office/drawing/2014/main" id="{9ADB3CEF-47C1-4736-8E4C-02CC63D38782}"/>
              </a:ext>
            </a:extLst>
          </p:cNvPr>
          <p:cNvSpPr>
            <a:spLocks xmlns:a="http://schemas.openxmlformats.org/drawingml/2006/main" noGrp="1"/>
          </p:cNvSpPr>
          <p:nvPr/>
        </p:nvSpPr>
        <p:spPr>
          <a:xfrm xmlns:a="http://schemas.openxmlformats.org/drawingml/2006/main">
            <a:off x="6524625" y="230505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C54F76"/>
                </a:solidFill>
                <a:latin typeface="Yu Gothic"/>
                <a:ea typeface="Yu Gothic"/>
                <a:cs typeface="Yu Gothic"/>
              </a:defRPr>
            </a:defPPr>
          </a:lstStyle>
          <a:p xmlns:a="http://schemas.openxmlformats.org/drawingml/2006/main">
            <a:pPr>
              <a:defRPr sz="6900" b="1">
                <a:solidFill>
                  <a:srgbClr val="C54F76"/>
                </a:solidFill>
                <a:latin typeface="Yu Gothic"/>
                <a:ea typeface="Yu Gothic"/>
                <a:cs typeface="Yu Gothic"/>
              </a:defRPr>
            </a:pPr>
            <a:r>
              <a:rPr sz="6900" b="1">
                <a:solidFill>
                  <a:srgbClr val="C54F76"/>
                </a:solidFill>
                <a:latin typeface="Yu Gothic"/>
                <a:ea typeface="Yu Gothic"/>
                <a:cs typeface="Yu Gothic"/>
              </a:rPr>
              <a:t>28</a:t>
            </a:r>
          </a:p>
        </p:txBody>
      </p:sp>
      <p:sp>
        <p:nvSpPr>
          <p:cNvPr id="7" name="">
            <a:extLst xmlns:a="http://schemas.openxmlformats.org/drawingml/2006/main">
              <a:ext uri="{FF2B5EF4-FFF2-40B4-BE49-F238E27FC236}">
                <a16:creationId xmlns:a16="http://schemas.microsoft.com/office/drawing/2014/main" id="{96ECE6EB-4D26-49A0-BBC8-B61FF64F2607}"/>
              </a:ext>
            </a:extLst>
          </p:cNvPr>
          <p:cNvSpPr>
            <a:spLocks xmlns:a="http://schemas.openxmlformats.org/drawingml/2006/main" noGrp="1"/>
          </p:cNvSpPr>
          <p:nvPr/>
        </p:nvSpPr>
        <p:spPr>
          <a:xfrm xmlns:a="http://schemas.openxmlformats.org/drawingml/2006/main">
            <a:off x="6524625" y="3600450"/>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203948"/>
                </a:solidFill>
                <a:latin typeface="Yu Gothic"/>
                <a:ea typeface="Yu Gothic"/>
                <a:cs typeface="Yu Gothic"/>
              </a:defRPr>
            </a:defPPr>
          </a:lstStyle>
          <a:p xmlns:a="http://schemas.openxmlformats.org/drawingml/2006/main">
            <a:pPr>
              <a:defRPr sz="2100">
                <a:solidFill>
                  <a:srgbClr val="203948"/>
                </a:solidFill>
                <a:latin typeface="Yu Gothic"/>
                <a:ea typeface="Yu Gothic"/>
                <a:cs typeface="Yu Gothic"/>
              </a:defRPr>
            </a:pPr>
            <a:r>
              <a:rPr sz="2100">
                <a:solidFill>
                  <a:srgbClr val="203948"/>
                </a:solidFill>
                <a:latin typeface="Yu Gothic"/>
                <a:ea typeface="Yu Gothic"/>
                <a:cs typeface="Yu Gothic"/>
              </a:rPr>
              <a:t>Chromeブラウザー操作の成功件数</a:t>
            </a:r>
          </a:p>
        </p:txBody>
      </p:sp>
      <p:sp>
        <p:nvSpPr>
          <p:cNvPr id="8" name="">
            <a:extLst xmlns:a="http://schemas.openxmlformats.org/drawingml/2006/main">
              <a:ext uri="{FF2B5EF4-FFF2-40B4-BE49-F238E27FC236}">
                <a16:creationId xmlns:a16="http://schemas.microsoft.com/office/drawing/2014/main" id="{EB864963-50AF-406B-BBB0-9BBD446B9E46}"/>
              </a:ext>
            </a:extLst>
          </p:cNvPr>
          <p:cNvSpPr>
            <a:spLocks xmlns:a="http://schemas.openxmlformats.org/drawingml/2006/main" noGrp="1"/>
          </p:cNvSpPr>
          <p:nvPr/>
        </p:nvSpPr>
        <p:spPr>
          <a:xfrm xmlns:a="http://schemas.openxmlformats.org/drawingml/2006/main">
            <a:off x="609600" y="49815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03948"/>
                </a:solidFill>
                <a:latin typeface="Yu Gothic"/>
                <a:ea typeface="Yu Gothic"/>
                <a:cs typeface="Yu Gothic"/>
              </a:defRPr>
            </a:defPPr>
          </a:lstStyle>
          <a:p xmlns:a="http://schemas.openxmlformats.org/drawingml/2006/main">
            <a:pPr>
              <a:defRPr sz="2250" b="1">
                <a:solidFill>
                  <a:srgbClr val="203948"/>
                </a:solidFill>
                <a:latin typeface="Yu Gothic"/>
                <a:ea typeface="Yu Gothic"/>
                <a:cs typeface="Yu Gothic"/>
              </a:defRPr>
            </a:pPr>
            <a:r>
              <a:rPr sz="2250" b="1">
                <a:solidFill>
                  <a:srgbClr val="203948"/>
                </a:solidFill>
                <a:latin typeface="Yu Gothic"/>
                <a:ea typeface="Yu Gothic"/>
                <a:cs typeface="Yu Gothic"/>
              </a:rPr>
              <a:t>今回の追加機能は統合検証中</a:t>
            </a:r>
          </a:p>
        </p:txBody>
      </p:sp>
      <p:sp>
        <p:nvSpPr>
          <p:cNvPr id="9" name="">
            <a:extLst xmlns:a="http://schemas.openxmlformats.org/drawingml/2006/main">
              <a:ext uri="{FF2B5EF4-FFF2-40B4-BE49-F238E27FC236}">
                <a16:creationId xmlns:a16="http://schemas.microsoft.com/office/drawing/2014/main" id="{979DC41E-08E3-42C7-84B1-1AB8A21129E7}"/>
              </a:ext>
            </a:extLst>
          </p:cNvPr>
          <p:cNvSpPr>
            <a:spLocks xmlns:a="http://schemas.openxmlformats.org/drawingml/2006/main" noGrp="1"/>
          </p:cNvSpPr>
          <p:nvPr/>
        </p:nvSpPr>
        <p:spPr>
          <a:xfrm xmlns:a="http://schemas.openxmlformats.org/drawingml/2006/main">
            <a:off x="609600" y="5619750"/>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60747F"/>
                </a:solidFill>
                <a:latin typeface="Yu Gothic"/>
                <a:ea typeface="Yu Gothic"/>
                <a:cs typeface="Yu Gothic"/>
              </a:defRPr>
            </a:defPPr>
          </a:lstStyle>
          <a:p xmlns:a="http://schemas.openxmlformats.org/drawingml/2006/main">
            <a:pPr>
              <a:defRPr sz="2025">
                <a:solidFill>
                  <a:srgbClr val="60747F"/>
                </a:solidFill>
                <a:latin typeface="Yu Gothic"/>
                <a:ea typeface="Yu Gothic"/>
                <a:cs typeface="Yu Gothic"/>
              </a:defRPr>
            </a:pPr>
            <a:r>
              <a:rPr sz="2025">
                <a:solidFill>
                  <a:srgbClr val="60747F"/>
                </a:solidFill>
                <a:latin typeface="Yu Gothic"/>
                <a:ea typeface="Yu Gothic"/>
                <a:cs typeface="Yu Gothic"/>
              </a:rPr>
              <a:t>実端末・性能・使い勝手は別途確認します</a:t>
            </a:r>
          </a:p>
        </p:txBody>
      </p:sp>
    </p:spTree>
    <p:extLst>
      <p:ext uri="{BB962C8B-B14F-4D97-AF65-F5344CB8AC3E}">
        <p14:creationId xmlns:p14="http://schemas.microsoft.com/office/powerpoint/2010/main" val="1027184488"/>
      </p:ext>
    </p:extLst>
  </p:cSld>
</p:sld>
</file>

<file path=ppt/slides/slide10.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090553-78B6-4961-A2A3-0231588711C8}"/>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評価方法と未測定の項目</a:t>
            </a:r>
          </a:p>
        </p:txBody>
      </p:sp>
      <p:sp>
        <p:nvSpPr>
          <p:cNvPr id="2" name="">
            <a:extLst xmlns:a="http://schemas.openxmlformats.org/drawingml/2006/main">
              <a:ext uri="{FF2B5EF4-FFF2-40B4-BE49-F238E27FC236}">
                <a16:creationId xmlns:a16="http://schemas.microsoft.com/office/drawing/2014/main" id="{1EDA385B-4621-45BB-BD3D-B1AF331FCA1E}"/>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10</a:t>
            </a:r>
          </a:p>
        </p:txBody>
      </p:sp>
      <p:graphicFrame>
        <p:nvGraphicFramePr>
          <p:cNvPr id="3" name="">
            <a:extLst xmlns:a="http://schemas.openxmlformats.org/drawingml/2006/main">
              <a:ext uri="{FF2B5EF4-FFF2-40B4-BE49-F238E27FC236}">
                <a16:creationId xmlns:a16="http://schemas.microsoft.com/office/drawing/2014/main" id="{15AB9AF9-E46D-4819-9368-1B27196CAF78}"/>
              </a:ext>
            </a:extLst>
          </p:cNvPr>
          <p:cNvGraphicFramePr/>
          <p:nvPr/>
        </p:nvGraphicFramePr>
        <p:xfrm>
          <a:off xmlns:a="http://schemas.openxmlformats.org/drawingml/2006/main" x="609600" y="1609725"/>
          <a:ext xmlns:a="http://schemas.openxmlformats.org/drawingml/2006/main" cx="10972800" cy="4133850"/>
        </p:xfrm>
        <a:graphic xmlns:a="http://schemas.openxmlformats.org/drawingml/2006/main">
          <a:graphicData uri="http://schemas.openxmlformats.org/drawingml/2006/table">
            <a:tbl>
              <a:tblPr/>
              <a:tblGrid>
                <a:gridCol w="2857500"/>
                <a:gridCol w="5143500"/>
                <a:gridCol w="2971800"/>
              </a:tblGrid>
              <a:tr h="826770">
                <a:tc>
                  <a:txBody>
                    <a:bodyPr/>
                    <a:lstStyle/>
                    <a:p>
                      <a:r>
                        <a:rPr sz="2100" b="1">
                          <a:solidFill>
                            <a:srgbClr val="FFFFFF"/>
                          </a:solidFill>
                          <a:latin typeface="Yu Gothic"/>
                          <a:ea typeface="Yu Gothic"/>
                          <a:cs typeface="Yu Gothic"/>
                        </a:rPr>
                        <a:t>観点</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確認する方法</a:t>
                      </a:r>
                    </a:p>
                  </a:txBody>
                  <a:tcPr marL="171450" marR="133350" marT="142875" marB="114300" anchor="ctr">
                    <a:solidFill>
                      <a:srgbClr val="203948"/>
                    </a:solidFill>
                  </a:tcPr>
                </a:tc>
                <a:tc>
                  <a:txBody>
                    <a:bodyPr/>
                    <a:lstStyle/>
                    <a:p>
                      <a:r>
                        <a:rPr sz="2100" b="1">
                          <a:solidFill>
                            <a:srgbClr val="FFFFFF"/>
                          </a:solidFill>
                          <a:latin typeface="Yu Gothic"/>
                          <a:ea typeface="Yu Gothic"/>
                          <a:cs typeface="Yu Gothic"/>
                        </a:rPr>
                        <a:t>現状</a:t>
                      </a:r>
                    </a:p>
                  </a:txBody>
                  <a:tcPr marL="171450" marR="133350" marT="142875" marB="114300" anchor="ctr">
                    <a:solidFill>
                      <a:srgbClr val="203948"/>
                    </a:solidFill>
                  </a:tcPr>
                </a:tc>
              </a:tr>
              <a:tr h="826770">
                <a:tc>
                  <a:txBody>
                    <a:bodyPr/>
                    <a:lstStyle/>
                    <a:p>
                      <a:r>
                        <a:rPr sz="2100">
                          <a:solidFill>
                            <a:srgbClr val="203948"/>
                          </a:solidFill>
                          <a:latin typeface="Yu Gothic"/>
                          <a:ea typeface="Yu Gothic"/>
                          <a:cs typeface="Yu Gothic"/>
                        </a:rPr>
                        <a:t>権限・業務状態</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RLS・API・画面の自動試験</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版ごとに記録</a:t>
                      </a:r>
                    </a:p>
                  </a:txBody>
                  <a:tcPr marL="171450" marR="133350" marT="142875" marB="114300" anchor="ctr">
                    <a:solidFill>
                      <a:srgbClr val="FFFFFF"/>
                    </a:solidFill>
                  </a:tcPr>
                </a:tc>
              </a:tr>
              <a:tr h="826770">
                <a:tc>
                  <a:txBody>
                    <a:bodyPr/>
                    <a:lstStyle/>
                    <a:p>
                      <a:r>
                        <a:rPr sz="2100">
                          <a:solidFill>
                            <a:srgbClr val="203948"/>
                          </a:solidFill>
                          <a:latin typeface="Yu Gothic"/>
                          <a:ea typeface="Yu Gothic"/>
                          <a:cs typeface="Yu Gothic"/>
                        </a:rPr>
                        <a:t>障害時の動作</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DB・Storageの失敗を再現</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自動試験を追加</a:t>
                      </a:r>
                    </a:p>
                  </a:txBody>
                  <a:tcPr marL="171450" marR="133350" marT="142875" marB="114300" anchor="ctr">
                    <a:solidFill>
                      <a:srgbClr val="FFFFFF"/>
                    </a:solidFill>
                  </a:tcPr>
                </a:tc>
              </a:tr>
              <a:tr h="826770">
                <a:tc>
                  <a:txBody>
                    <a:bodyPr/>
                    <a:lstStyle/>
                    <a:p>
                      <a:r>
                        <a:rPr sz="2100">
                          <a:solidFill>
                            <a:srgbClr val="203948"/>
                          </a:solidFill>
                          <a:latin typeface="Yu Gothic"/>
                          <a:ea typeface="Yu Gothic"/>
                          <a:cs typeface="Yu Gothic"/>
                        </a:rPr>
                        <a:t>実端末・操作性</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同じ課題を人が操作する</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未実施</a:t>
                      </a:r>
                    </a:p>
                  </a:txBody>
                  <a:tcPr marL="171450" marR="133350" marT="142875" marB="114300" anchor="ctr">
                    <a:solidFill>
                      <a:srgbClr val="FFFFFF"/>
                    </a:solidFill>
                  </a:tcPr>
                </a:tc>
              </a:tr>
              <a:tr h="826770">
                <a:tc>
                  <a:txBody>
                    <a:bodyPr/>
                    <a:lstStyle/>
                    <a:p>
                      <a:r>
                        <a:rPr sz="2100">
                          <a:solidFill>
                            <a:srgbClr val="203948"/>
                          </a:solidFill>
                          <a:latin typeface="Yu Gothic"/>
                          <a:ea typeface="Yu Gothic"/>
                          <a:cs typeface="Yu Gothic"/>
                        </a:rPr>
                        <a:t>性能・作業時間</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所要時間と遅い処理を測る</a:t>
                      </a:r>
                    </a:p>
                  </a:txBody>
                  <a:tcPr marL="171450" marR="133350" marT="142875" marB="114300" anchor="ctr">
                    <a:solidFill>
                      <a:srgbClr val="FFFFFF"/>
                    </a:solidFill>
                  </a:tcPr>
                </a:tc>
                <a:tc>
                  <a:txBody>
                    <a:bodyPr/>
                    <a:lstStyle/>
                    <a:p>
                      <a:r>
                        <a:rPr sz="2100">
                          <a:solidFill>
                            <a:srgbClr val="203948"/>
                          </a:solidFill>
                          <a:latin typeface="Yu Gothic"/>
                          <a:ea typeface="Yu Gothic"/>
                          <a:cs typeface="Yu Gothic"/>
                        </a:rPr>
                        <a:t>未測定</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D85BD9-C050-4C10-AB94-903AEE0A8C83}"/>
              </a:ext>
            </a:extLst>
          </p:cNvPr>
          <p:cNvSpPr>
            <a:spLocks xmlns:a="http://schemas.openxmlformats.org/drawingml/2006/main" noGrp="1"/>
          </p:cNvSpPr>
          <p:nvPr/>
        </p:nvSpPr>
        <p:spPr>
          <a:xfrm xmlns:a="http://schemas.openxmlformats.org/drawingml/2006/main">
            <a:off x="609600" y="59817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60747F"/>
                </a:solidFill>
                <a:latin typeface="Yu Gothic"/>
                <a:ea typeface="Yu Gothic"/>
                <a:cs typeface="Yu Gothic"/>
              </a:defRPr>
            </a:defPPr>
          </a:lstStyle>
          <a:p xmlns:a="http://schemas.openxmlformats.org/drawingml/2006/main">
            <a:pPr>
              <a:defRPr sz="1875">
                <a:solidFill>
                  <a:srgbClr val="60747F"/>
                </a:solidFill>
                <a:latin typeface="Yu Gothic"/>
                <a:ea typeface="Yu Gothic"/>
                <a:cs typeface="Yu Gothic"/>
              </a:defRPr>
            </a:pPr>
            <a:r>
              <a:rPr sz="1875">
                <a:solidFill>
                  <a:srgbClr val="60747F"/>
                </a:solidFill>
                <a:latin typeface="Yu Gothic"/>
                <a:ea typeface="Yu Gothic"/>
                <a:cs typeface="Yu Gothic"/>
              </a:rPr>
              <a:t>校内の模擬評価と、実際の式場での導入効果を区別します</a:t>
            </a:r>
          </a:p>
        </p:txBody>
      </p:sp>
    </p:spTree>
    <p:extLst>
      <p:ext uri="{BB962C8B-B14F-4D97-AF65-F5344CB8AC3E}">
        <p14:creationId xmlns:p14="http://schemas.microsoft.com/office/powerpoint/2010/main" val="59211458"/>
      </p:ext>
    </p:extLst>
  </p:cSld>
</p:sld>
</file>

<file path=ppt/slides/slide11.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1FCC6D-1283-4DB5-9F90-CE7354C1A12B}"/>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948"/>
                </a:solidFill>
                <a:latin typeface="Yu Gothic"/>
                <a:ea typeface="Yu Gothic"/>
                <a:cs typeface="Yu Gothic"/>
              </a:defRPr>
            </a:defPPr>
          </a:lstStyle>
          <a:p xmlns:a="http://schemas.openxmlformats.org/drawingml/2006/main">
            <a:pPr>
              <a:defRPr sz="3300" b="1">
                <a:solidFill>
                  <a:srgbClr val="203948"/>
                </a:solidFill>
                <a:latin typeface="Yu Gothic"/>
                <a:ea typeface="Yu Gothic"/>
                <a:cs typeface="Yu Gothic"/>
              </a:defRPr>
            </a:pPr>
            <a:r>
              <a:rPr sz="3300" b="1">
                <a:solidFill>
                  <a:srgbClr val="203948"/>
                </a:solidFill>
                <a:latin typeface="Yu Gothic"/>
                <a:ea typeface="Yu Gothic"/>
                <a:cs typeface="Yu Gothic"/>
              </a:rPr>
              <a:t>2月の学校発表までの予定</a:t>
            </a:r>
          </a:p>
        </p:txBody>
      </p:sp>
      <p:sp>
        <p:nvSpPr>
          <p:cNvPr id="2" name="">
            <a:extLst xmlns:a="http://schemas.openxmlformats.org/drawingml/2006/main">
              <a:ext uri="{FF2B5EF4-FFF2-40B4-BE49-F238E27FC236}">
                <a16:creationId xmlns:a16="http://schemas.microsoft.com/office/drawing/2014/main" id="{9CEEB54C-F2DA-4FF7-804F-EB22E7893356}"/>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0747F"/>
                </a:solidFill>
                <a:latin typeface="Yu Gothic"/>
                <a:ea typeface="Yu Gothic"/>
                <a:cs typeface="Yu Gothic"/>
              </a:defRPr>
            </a:defPPr>
          </a:lstStyle>
          <a:p xmlns:a="http://schemas.openxmlformats.org/drawingml/2006/main">
            <a:pPr algn="r">
              <a:defRPr sz="1350">
                <a:solidFill>
                  <a:srgbClr val="60747F"/>
                </a:solidFill>
                <a:latin typeface="Yu Gothic"/>
                <a:ea typeface="Yu Gothic"/>
                <a:cs typeface="Yu Gothic"/>
              </a:defRPr>
            </a:pPr>
            <a:r>
              <a:rPr sz="1350">
                <a:solidFill>
                  <a:srgbClr val="60747F"/>
                </a:solidFill>
                <a:latin typeface="Yu Gothic"/>
                <a:ea typeface="Yu Gothic"/>
                <a:cs typeface="Yu Gothic"/>
              </a:rPr>
              <a:t>11</a:t>
            </a:r>
          </a:p>
        </p:txBody>
      </p:sp>
      <p:graphicFrame>
        <p:nvGraphicFramePr>
          <p:cNvPr id="3" name="">
            <a:extLst xmlns:a="http://schemas.openxmlformats.org/drawingml/2006/main">
              <a:ext uri="{FF2B5EF4-FFF2-40B4-BE49-F238E27FC236}">
                <a16:creationId xmlns:a16="http://schemas.microsoft.com/office/drawing/2014/main" id="{CD7A9B3B-CCE6-4A2C-A6E4-BCD5A9B929CE}"/>
              </a:ext>
            </a:extLst>
          </p:cNvPr>
          <p:cNvGraphicFramePr/>
          <p:nvPr/>
        </p:nvGraphicFramePr>
        <p:xfrm>
          <a:off xmlns:a="http://schemas.openxmlformats.org/drawingml/2006/main" x="609600" y="1543050"/>
          <a:ext xmlns:a="http://schemas.openxmlformats.org/drawingml/2006/main" cx="10972800" cy="4324350"/>
        </p:xfrm>
        <a:graphic xmlns:a="http://schemas.openxmlformats.org/drawingml/2006/main">
          <a:graphicData uri="http://schemas.openxmlformats.org/drawingml/2006/table">
            <a:tbl>
              <a:tblPr/>
              <a:tblGrid>
                <a:gridCol w="1314450"/>
                <a:gridCol w="4714875"/>
                <a:gridCol w="4943475"/>
              </a:tblGrid>
              <a:tr h="720725">
                <a:tc>
                  <a:txBody>
                    <a:bodyPr/>
                    <a:lstStyle/>
                    <a:p>
                      <a:r>
                        <a:rPr sz="1950" b="1">
                          <a:solidFill>
                            <a:srgbClr val="FFFFFF"/>
                          </a:solidFill>
                          <a:latin typeface="Yu Gothic"/>
                          <a:ea typeface="Yu Gothic"/>
                          <a:cs typeface="Yu Gothic"/>
                        </a:rPr>
                        <a:t>月</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主な作業</a:t>
                      </a:r>
                    </a:p>
                  </a:txBody>
                  <a:tcPr marL="171450" marR="133350" marT="142875" marB="114300" anchor="ctr">
                    <a:solidFill>
                      <a:srgbClr val="203948"/>
                    </a:solidFill>
                  </a:tcPr>
                </a:tc>
                <a:tc>
                  <a:txBody>
                    <a:bodyPr/>
                    <a:lstStyle/>
                    <a:p>
                      <a:r>
                        <a:rPr sz="1950" b="1">
                          <a:solidFill>
                            <a:srgbClr val="FFFFFF"/>
                          </a:solidFill>
                          <a:latin typeface="Yu Gothic"/>
                          <a:ea typeface="Yu Gothic"/>
                          <a:cs typeface="Yu Gothic"/>
                        </a:rPr>
                        <a:t>揃える成果物</a:t>
                      </a:r>
                    </a:p>
                  </a:txBody>
                  <a:tcPr marL="171450" marR="133350" marT="142875" marB="114300" anchor="ctr">
                    <a:solidFill>
                      <a:srgbClr val="203948"/>
                    </a:solidFill>
                  </a:tcPr>
                </a:tc>
              </a:tr>
              <a:tr h="720725">
                <a:tc>
                  <a:txBody>
                    <a:bodyPr/>
                    <a:lstStyle/>
                    <a:p>
                      <a:r>
                        <a:rPr sz="1950">
                          <a:solidFill>
                            <a:srgbClr val="203948"/>
                          </a:solidFill>
                          <a:latin typeface="Yu Gothic"/>
                          <a:ea typeface="Yu Gothic"/>
                          <a:cs typeface="Yu Gothic"/>
                        </a:rPr>
                        <a:t>10月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製造・資料作成</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コード・詳細設計図・発表資料</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11月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製造・テスト技法・中間発表・AWS</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コード・演習/発表の記録</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12月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仕様書作成・テスト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テスト仕様書・エビデンス</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1月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テスト・最終発表の準備</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最終コード・資料・エビデンス</a:t>
                      </a:r>
                    </a:p>
                  </a:txBody>
                  <a:tcPr marL="171450" marR="133350" marT="142875" marB="114300" anchor="ctr">
                    <a:solidFill>
                      <a:srgbClr val="FFFFFF"/>
                    </a:solidFill>
                  </a:tcPr>
                </a:tc>
              </a:tr>
              <a:tr h="720725">
                <a:tc>
                  <a:txBody>
                    <a:bodyPr/>
                    <a:lstStyle/>
                    <a:p>
                      <a:r>
                        <a:rPr sz="1950">
                          <a:solidFill>
                            <a:srgbClr val="203948"/>
                          </a:solidFill>
                          <a:latin typeface="Yu Gothic"/>
                          <a:ea typeface="Yu Gothic"/>
                          <a:cs typeface="Yu Gothic"/>
                        </a:rPr>
                        <a:t>2月</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学校の最終発表・デモ・まとめ</a:t>
                      </a:r>
                    </a:p>
                  </a:txBody>
                  <a:tcPr marL="171450" marR="133350" marT="142875" marB="114300" anchor="ctr">
                    <a:solidFill>
                      <a:srgbClr val="FFFFFF"/>
                    </a:solidFill>
                  </a:tcPr>
                </a:tc>
                <a:tc>
                  <a:txBody>
                    <a:bodyPr/>
                    <a:lstStyle/>
                    <a:p>
                      <a:r>
                        <a:rPr sz="1950">
                          <a:solidFill>
                            <a:srgbClr val="203948"/>
                          </a:solidFill>
                          <a:latin typeface="Yu Gothic"/>
                          <a:ea typeface="Yu Gothic"/>
                          <a:cs typeface="Yu Gothic"/>
                        </a:rPr>
                        <a:t>発表記録・実績付きWBS</a:t>
                      </a:r>
                    </a:p>
                  </a:txBody>
                  <a:tcPr marL="171450" marR="133350" marT="142875"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783B1D-FFC2-4800-BEF6-2EEE5E629915}"/>
              </a:ext>
            </a:extLst>
          </p:cNvPr>
          <p:cNvSpPr>
            <a:spLocks xmlns:a="http://schemas.openxmlformats.org/drawingml/2006/main" noGrp="1"/>
          </p:cNvSpPr>
          <p:nvPr/>
        </p:nvSpPr>
        <p:spPr>
          <a:xfrm xmlns:a="http://schemas.openxmlformats.org/drawingml/2006/main">
            <a:off x="609600" y="60483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0747F"/>
                </a:solidFill>
                <a:latin typeface="Yu Gothic"/>
                <a:ea typeface="Yu Gothic"/>
                <a:cs typeface="Yu Gothic"/>
              </a:defRPr>
            </a:defPPr>
          </a:lstStyle>
          <a:p xmlns:a="http://schemas.openxmlformats.org/drawingml/2006/main">
            <a:pPr>
              <a:defRPr sz="1800">
                <a:solidFill>
                  <a:srgbClr val="60747F"/>
                </a:solidFill>
                <a:latin typeface="Yu Gothic"/>
                <a:ea typeface="Yu Gothic"/>
                <a:cs typeface="Yu Gothic"/>
              </a:defRPr>
            </a:pPr>
            <a:r>
              <a:rPr sz="1800">
                <a:solidFill>
                  <a:srgbClr val="60747F"/>
                </a:solidFill>
                <a:latin typeface="Yu Gothic"/>
                <a:ea typeface="Yu Gothic"/>
                <a:cs typeface="Yu Gothic"/>
              </a:rPr>
              <a:t>前倒し可。具体的な学校の提出日があれば、その期限を優先します</a:t>
            </a:r>
          </a:p>
        </p:txBody>
      </p:sp>
    </p:spTree>
    <p:extLst>
      <p:ext uri="{BB962C8B-B14F-4D97-AF65-F5344CB8AC3E}">
        <p14:creationId xmlns:p14="http://schemas.microsoft.com/office/powerpoint/2010/main" val="58367099"/>
      </p:ext>
    </p:extLst>
  </p:cSld>
</p:sld>
</file>

<file path=ppt/slides/slide12.xml><?xml version="1.0" encoding="utf-8"?>
<p:sld xmlns:p="http://schemas.openxmlformats.org/presentationml/2006/main">
  <p:cSld>
    <p:bg>
      <p:bgPr>
        <a:solidFill xmlns:a="http://schemas.openxmlformats.org/drawingml/2006/main">
          <a:srgbClr val="20394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C286AD-2E98-4E8E-9515-262BCF969939}"/>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Yu Gothic"/>
                <a:ea typeface="Yu Gothic"/>
                <a:cs typeface="Yu Gothic"/>
              </a:defRPr>
            </a:defPPr>
          </a:lstStyle>
          <a:p xmlns:a="http://schemas.openxmlformats.org/drawingml/2006/main">
            <a:pPr>
              <a:defRPr sz="3300" b="1">
                <a:solidFill>
                  <a:srgbClr val="FFFFFF"/>
                </a:solidFill>
                <a:latin typeface="Yu Gothic"/>
                <a:ea typeface="Yu Gothic"/>
                <a:cs typeface="Yu Gothic"/>
              </a:defRPr>
            </a:pPr>
            <a:r>
              <a:rPr sz="3300" b="1">
                <a:solidFill>
                  <a:srgbClr val="FFFFFF"/>
                </a:solidFill>
                <a:latin typeface="Yu Gothic"/>
                <a:ea typeface="Yu Gothic"/>
                <a:cs typeface="Yu Gothic"/>
              </a:rPr>
              <a:t>質疑応答</a:t>
            </a:r>
          </a:p>
        </p:txBody>
      </p:sp>
      <p:sp>
        <p:nvSpPr>
          <p:cNvPr id="2" name="">
            <a:extLst xmlns:a="http://schemas.openxmlformats.org/drawingml/2006/main">
              <a:ext uri="{FF2B5EF4-FFF2-40B4-BE49-F238E27FC236}">
                <a16:creationId xmlns:a16="http://schemas.microsoft.com/office/drawing/2014/main" id="{E9E2D918-99E9-4FDE-B13B-38ABA7ED3201}"/>
              </a:ext>
            </a:extLst>
          </p:cNvPr>
          <p:cNvSpPr>
            <a:spLocks xmlns:a="http://schemas.openxmlformats.org/drawingml/2006/main" noGrp="1"/>
          </p:cNvSpPr>
          <p:nvPr/>
        </p:nvSpPr>
        <p:spPr>
          <a:xfrm xmlns:a="http://schemas.openxmlformats.org/drawingml/2006/main">
            <a:off x="11049000" y="63817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CBD5DC"/>
                </a:solidFill>
                <a:latin typeface="Yu Gothic"/>
                <a:ea typeface="Yu Gothic"/>
                <a:cs typeface="Yu Gothic"/>
              </a:defRPr>
            </a:defPPr>
          </a:lstStyle>
          <a:p xmlns:a="http://schemas.openxmlformats.org/drawingml/2006/main">
            <a:pPr algn="r">
              <a:defRPr sz="1350">
                <a:solidFill>
                  <a:srgbClr val="CBD5DC"/>
                </a:solidFill>
                <a:latin typeface="Yu Gothic"/>
                <a:ea typeface="Yu Gothic"/>
                <a:cs typeface="Yu Gothic"/>
              </a:defRPr>
            </a:pPr>
            <a:r>
              <a:rPr sz="1350">
                <a:solidFill>
                  <a:srgbClr val="CBD5DC"/>
                </a:solidFill>
                <a:latin typeface="Yu Gothic"/>
                <a:ea typeface="Yu Gothic"/>
                <a:cs typeface="Yu Gothic"/>
              </a:rPr>
              <a:t>12</a:t>
            </a:r>
          </a:p>
        </p:txBody>
      </p:sp>
      <p:sp>
        <p:nvSpPr>
          <p:cNvPr id="3" name="">
            <a:extLst xmlns:a="http://schemas.openxmlformats.org/drawingml/2006/main">
              <a:ext uri="{FF2B5EF4-FFF2-40B4-BE49-F238E27FC236}">
                <a16:creationId xmlns:a16="http://schemas.microsoft.com/office/drawing/2014/main" id="{F693036E-4C29-435E-BF84-00F6F7410810}"/>
              </a:ext>
            </a:extLst>
          </p:cNvPr>
          <p:cNvSpPr>
            <a:spLocks xmlns:a="http://schemas.openxmlformats.org/drawingml/2006/main" noGrp="1"/>
          </p:cNvSpPr>
          <p:nvPr/>
        </p:nvSpPr>
        <p:spPr>
          <a:xfrm xmlns:a="http://schemas.openxmlformats.org/drawingml/2006/main">
            <a:off x="609600" y="2009775"/>
            <a:ext cx="1081087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Yu Gothic"/>
                <a:ea typeface="Yu Gothic"/>
                <a:cs typeface="Yu Gothic"/>
              </a:defRPr>
            </a:defPPr>
          </a:lstStyle>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次の確認は</a:t>
            </a:r>
          </a:p>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同じ版でのデモ再現と</a:t>
            </a:r>
          </a:p>
          <a:p xmlns:a="http://schemas.openxmlformats.org/drawingml/2006/main">
            <a:pPr>
              <a:defRPr sz="3900" b="1">
                <a:solidFill>
                  <a:srgbClr val="FFFFFF"/>
                </a:solidFill>
                <a:latin typeface="Yu Gothic"/>
                <a:ea typeface="Yu Gothic"/>
                <a:cs typeface="Yu Gothic"/>
              </a:defRPr>
            </a:pPr>
            <a:r>
              <a:rPr sz="3900" b="1">
                <a:solidFill>
                  <a:srgbClr val="FFFFFF"/>
                </a:solidFill>
                <a:latin typeface="Yu Gothic"/>
                <a:ea typeface="Yu Gothic"/>
                <a:cs typeface="Yu Gothic"/>
              </a:rPr>
              <a:t>メンバーによる操作評価</a:t>
            </a:r>
          </a:p>
        </p:txBody>
      </p:sp>
      <p:sp>
        <p:nvSpPr>
          <p:cNvPr id="4" name="">
            <a:extLst xmlns:a="http://schemas.openxmlformats.org/drawingml/2006/main">
              <a:ext uri="{FF2B5EF4-FFF2-40B4-BE49-F238E27FC236}">
                <a16:creationId xmlns:a16="http://schemas.microsoft.com/office/drawing/2014/main" id="{4B5EB7CE-CB40-405C-8BD5-894C8E98FFB9}"/>
              </a:ext>
            </a:extLst>
          </p:cNvPr>
          <p:cNvSpPr>
            <a:spLocks xmlns:a="http://schemas.openxmlformats.org/drawingml/2006/main" noGrp="1"/>
          </p:cNvSpPr>
          <p:nvPr/>
        </p:nvSpPr>
        <p:spPr>
          <a:xfrm xmlns:a="http://schemas.openxmlformats.org/drawingml/2006/main">
            <a:off x="609600" y="5476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DCE4E8"/>
                </a:solidFill>
                <a:latin typeface="Yu Gothic"/>
                <a:ea typeface="Yu Gothic"/>
                <a:cs typeface="Yu Gothic"/>
              </a:defRPr>
            </a:defPPr>
          </a:lstStyle>
          <a:p xmlns:a="http://schemas.openxmlformats.org/drawingml/2006/main">
            <a:pPr>
              <a:defRPr sz="2100">
                <a:solidFill>
                  <a:srgbClr val="DCE4E8"/>
                </a:solidFill>
                <a:latin typeface="Yu Gothic"/>
                <a:ea typeface="Yu Gothic"/>
                <a:cs typeface="Yu Gothic"/>
              </a:defRPr>
            </a:pPr>
            <a:r>
              <a:rPr sz="2100">
                <a:solidFill>
                  <a:srgbClr val="DCE4E8"/>
                </a:solidFill>
                <a:latin typeface="Yu Gothic"/>
                <a:ea typeface="Yu Gothic"/>
                <a:cs typeface="Yu Gothic"/>
              </a:rPr>
              <a:t>にこまる　結婚式準備進行管理アプリ</a:t>
            </a:r>
          </a:p>
        </p:txBody>
      </p:sp>
    </p:spTree>
    <p:extLst>
      <p:ext uri="{BB962C8B-B14F-4D97-AF65-F5344CB8AC3E}">
        <p14:creationId xmlns:p14="http://schemas.microsoft.com/office/powerpoint/2010/main" val="146128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2026-10-09T02:26:16.8790000Z</dcterms:created>
  <dcterms:modified xsi:type="dcterms:W3CDTF">2026-10-09T02:26:16.8790000Z</dcterms:modified>
</coreProperties>
</file>