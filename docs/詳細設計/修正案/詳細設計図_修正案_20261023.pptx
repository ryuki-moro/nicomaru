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にこまる｜詳細設計図（レビュー反映版）｜2026-10-23｜学校発表・模擬データ用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786384"/>
            <a:ext cx="1124712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A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A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にこまる 詳細設計図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レビュー反映版（図01〜12）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元の図：docs/詳細設計/詳細設計図.pdf（2026-10-09）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反映したレビュー：Issue #50のコメント（2026-10-15、見やすさ：幸地／内容：AIでコードと照合）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直した点の一覧は最後のスライドにあります。</a:t>
            </a:r>
            <a:endParaRPr lang="en-US" sz="14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6" name="Text 1"/>
          <p:cNvSpPr/>
          <p:nvPr>
            <p:ph idx="102" type="body" hasCustomPrompt="1"/>
          </p:nvPr>
        </p:nvSpPr>
        <p:spPr>
          <a:xfrm>
            <a:off x="457200" y="786384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A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　構成と責任分担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786384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利用者の通信と、限られたシステム通信を分ける。ローカルのAI（LLM）は外へ公開しない。</a:t>
            </a:r>
            <a:endParaRPr lang="en-US" sz="1300" dirty="0"/>
          </a:p>
        </p:txBody>
      </p:sp>
      <p:sp>
        <p:nvSpPr>
          <p:cNvPr id="4" name="box:ブラウザ／ホーム画面アプリ"/>
          <p:cNvSpPr/>
          <p:nvPr/>
        </p:nvSpPr>
        <p:spPr>
          <a:xfrm>
            <a:off x="457200" y="13716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2646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ブラウザ／ホーム画面アプリ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新郎新婦・プランナー・管理者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Service Workerは個人情報を保存しない</a:t>
            </a:r>
            <a:endParaRPr lang="en-US" sz="1500" dirty="0"/>
          </a:p>
        </p:txBody>
      </p:sp>
      <p:sp>
        <p:nvSpPr>
          <p:cNvPr id="6" name="box:Next.js／Vercel"/>
          <p:cNvSpPr/>
          <p:nvPr/>
        </p:nvSpPr>
        <p:spPr>
          <a:xfrm>
            <a:off x="4494276" y="13716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85716" y="142646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Next.js／Vercel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画面・入力チェック・認証・Origin検証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RLS付きでDBを読み書き</a:t>
            </a:r>
            <a:endParaRPr lang="en-US" sz="1500" dirty="0"/>
          </a:p>
        </p:txBody>
      </p:sp>
      <p:sp>
        <p:nvSpPr>
          <p:cNvPr id="8" name="box:Supabase Auth"/>
          <p:cNvSpPr/>
          <p:nvPr/>
        </p:nvSpPr>
        <p:spPr>
          <a:xfrm>
            <a:off x="8531352" y="13716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22792" y="142646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Supabase Auth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OTP・パスワード・セッション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有効な利用者か照合</a:t>
            </a:r>
            <a:endParaRPr lang="en-US" sz="1500" dirty="0"/>
          </a:p>
        </p:txBody>
      </p:sp>
      <p:sp>
        <p:nvSpPr>
          <p:cNvPr id="10" name="box:pg_cron／GitHub Actions"/>
          <p:cNvSpPr/>
          <p:nvPr/>
        </p:nvSpPr>
        <p:spPr>
          <a:xfrm>
            <a:off x="457200" y="310896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6382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pg_cron／GitHub Actions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pg_cron：定期処理を呼び出す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Actions：死活確認だけ</a:t>
            </a:r>
            <a:endParaRPr lang="en-US" sz="1500" dirty="0"/>
          </a:p>
        </p:txBody>
      </p:sp>
      <p:sp>
        <p:nvSpPr>
          <p:cNvPr id="12" name="box:Supabase DB／Storage"/>
          <p:cNvSpPr/>
          <p:nvPr/>
        </p:nvSpPr>
        <p:spPr>
          <a:xfrm>
            <a:off x="4494276" y="310896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85716" y="316382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Supabase DB／Storage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RPCでまとめて確定＋RLSで行を制限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非公開ファイル＋短時間だけ有効なURL</a:t>
            </a:r>
            <a:endParaRPr lang="en-US" sz="1500" dirty="0"/>
          </a:p>
        </p:txBody>
      </p:sp>
      <p:sp>
        <p:nvSpPr>
          <p:cNvPr id="14" name="box:LINE／Resend（メール）"/>
          <p:cNvSpPr/>
          <p:nvPr/>
        </p:nvSpPr>
        <p:spPr>
          <a:xfrm>
            <a:off x="8531352" y="310896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22792" y="316382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LINE／Resend（メール）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通知を外へ送る専用の出口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送信結果・上限・代替を記録</a:t>
            </a:r>
            <a:endParaRPr lang="en-US" sz="1500" dirty="0"/>
          </a:p>
        </p:txBody>
      </p:sp>
      <p:sp>
        <p:nvSpPr>
          <p:cNvPr id="16" name="box:校内・自宅のAI worker"/>
          <p:cNvSpPr/>
          <p:nvPr/>
        </p:nvSpPr>
        <p:spPr>
          <a:xfrm>
            <a:off x="4494276" y="48463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85716" y="490118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校内・自宅のAI worker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専用のDB権限で30秒ごとに取りに行く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強い権限（Service Role）は渡さない</a:t>
            </a:r>
            <a:endParaRPr lang="en-US" sz="1500" dirty="0"/>
          </a:p>
        </p:txBody>
      </p:sp>
      <p:sp>
        <p:nvSpPr>
          <p:cNvPr id="18" name="box:Ollama（ローカルAI）"/>
          <p:cNvSpPr/>
          <p:nvPr/>
        </p:nvSpPr>
        <p:spPr>
          <a:xfrm>
            <a:off x="8531352" y="48463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22792" y="490118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Ollama（ローカルAI）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必要最小限の入力・JSONで出力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人が確認・修正してから採用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0" y="1920240"/>
            <a:ext cx="836676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3657600" y="1353312"/>
            <a:ext cx="8366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94676" y="1920240"/>
            <a:ext cx="836676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7694676" y="1353312"/>
            <a:ext cx="8366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本人確認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94476" y="2468880"/>
            <a:ext cx="914" cy="640080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6185916" y="2468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JWT／RLS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20356" y="2468880"/>
            <a:ext cx="1385316" cy="640080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8302752" y="2523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必要な通知だけ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flipV="1">
            <a:off x="3383280" y="2468880"/>
            <a:ext cx="1385316" cy="640080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1280160" y="2743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内部API（共有secret）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 flipV="1">
            <a:off x="6094476" y="4206240"/>
            <a:ext cx="914" cy="640080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6185916" y="4206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ジョブ取得・結果を保存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94676" y="5394960"/>
            <a:ext cx="836676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7694676" y="4828032"/>
            <a:ext cx="8366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05332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対象は学校の最終発表・デモ。常時の本番運用・商用は今回の予定に含めない。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A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　公開画面と役割別の画面遷移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786384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31画面。画面IDと画面名は「機能画面対応.md」（正本）と同じ。</a:t>
            </a:r>
            <a:endParaRPr lang="en-US" sz="1300" dirty="0"/>
          </a:p>
        </p:txBody>
      </p:sp>
      <p:sp>
        <p:nvSpPr>
          <p:cNvPr id="4" name="box:P01 ログイン"/>
          <p:cNvSpPr/>
          <p:nvPr/>
        </p:nvSpPr>
        <p:spPr>
          <a:xfrm>
            <a:off x="457200" y="128016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35024"/>
            <a:ext cx="24688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P01 ログイン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ログインなしで開ける</a:t>
            </a:r>
            <a:endParaRPr lang="en-US" sz="1400" dirty="0"/>
          </a:p>
        </p:txBody>
      </p:sp>
      <p:sp>
        <p:nvSpPr>
          <p:cNvPr id="6" name="box:P02 初回登録"/>
          <p:cNvSpPr/>
          <p:nvPr/>
        </p:nvSpPr>
        <p:spPr>
          <a:xfrm>
            <a:off x="3332988" y="128016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4428" y="1335024"/>
            <a:ext cx="24688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P02 初回登録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ログインなしで開ける</a:t>
            </a:r>
            <a:endParaRPr lang="en-US" sz="1400" dirty="0"/>
          </a:p>
        </p:txBody>
      </p:sp>
      <p:sp>
        <p:nvSpPr>
          <p:cNvPr id="8" name="box:P03 パスワード再設定"/>
          <p:cNvSpPr/>
          <p:nvPr/>
        </p:nvSpPr>
        <p:spPr>
          <a:xfrm>
            <a:off x="6208776" y="128016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0216" y="1335024"/>
            <a:ext cx="24688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P03 パスワード再設定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ログインなしで開ける</a:t>
            </a:r>
            <a:endParaRPr lang="en-US" sz="1400" dirty="0"/>
          </a:p>
        </p:txBody>
      </p:sp>
      <p:sp>
        <p:nvSpPr>
          <p:cNvPr id="10" name="box:P04 エラー"/>
          <p:cNvSpPr/>
          <p:nvPr/>
        </p:nvSpPr>
        <p:spPr>
          <a:xfrm>
            <a:off x="9084564" y="128016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76004" y="1335024"/>
            <a:ext cx="24688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P04 エラー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ログインなしで開ける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66544"/>
            <a:ext cx="11279124" cy="384048"/>
          </a:xfrm>
          <a:prstGeom prst="roundRect">
            <a:avLst>
              <a:gd name="adj" fmla="val 14286"/>
            </a:avLst>
          </a:prstGeom>
          <a:solidFill>
            <a:srgbClr val="FBEAF0"/>
          </a:solidFill>
          <a:ln w="12700">
            <a:solidFill>
              <a:srgbClr val="FBEA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06654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ログイン後、役割ごとのホーム画面へ：新郎新婦 → M01／プランナー・式場管理 → D01／システム管理 → S03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83080" y="2450592"/>
            <a:ext cx="914" cy="219456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2670048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743200"/>
            <a:ext cx="23774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新郎新婦（couple）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M01 マイページ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M02 宿題一覧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M03 宿題詳細・提出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M04 タイムライン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M05 通知一覧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M06 アカウント/LINE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58868" y="2450592"/>
            <a:ext cx="914" cy="219456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332988" y="2670048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0148" y="2743200"/>
            <a:ext cx="23774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スタッフ共通（planner・admin）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D01 ダッシュボード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K01 案件一覧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K02 案件詳細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K03 案件登録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K04 案件変更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K05 アーカイブ確認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D02 提出物確認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D03 準備シート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D04 フォロー記録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D05 打ち合わせ/起票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N01 staff通知履歴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34656" y="2450592"/>
            <a:ext cx="914" cy="219456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08776" y="2670048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45936" y="2743200"/>
            <a:ext cx="23774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式場管理（admin）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T01 テンプレート一覧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T02 テンプレート編集/新規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T03 プラン種別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U01 利用者一覧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U02 利用者登録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U03 利用者変更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U04 利用者削除確認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410444" y="2450592"/>
            <a:ext cx="914" cy="219456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84564" y="2670048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21724" y="2743200"/>
            <a:ext cx="23774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システム管理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（system_admin）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S01 式場一覧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S02 式場登録/編集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S03 利用状況/ログ</a:t>
            </a:r>
            <a:endParaRPr lang="en-US" sz="1400" dirty="0"/>
          </a:p>
        </p:txBody>
      </p:sp>
      <p:sp>
        <p:nvSpPr>
          <p:cNvPr id="26" name="box:拒否されたとき"/>
          <p:cNvSpPr/>
          <p:nvPr/>
        </p:nvSpPr>
        <p:spPr>
          <a:xfrm>
            <a:off x="457200" y="5596128"/>
            <a:ext cx="11279124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5650992"/>
            <a:ext cx="11096244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拒否されたとき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API：ログインしていない → 401／Origin不正・権限不足 → 403／対象がない、または見る権限がない → 404（データがあるかどうかを教えないため）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画面で権限が足りないときは、その役割のホーム画面へ戻す。招待の期限切れは再発行を依頼。別ブラウザでリンクが開けないときは6桁コードを使う。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A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　案件登録から提出物の確認まで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786384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DBでの確定と、Auth・Storage・外部送信は別に扱う。失敗したときの戻し方も書く。</a:t>
            </a:r>
            <a:endParaRPr lang="en-US" sz="1300" dirty="0"/>
          </a:p>
        </p:txBody>
      </p:sp>
      <p:sp>
        <p:nvSpPr>
          <p:cNvPr id="4" name="box:プランナー"/>
          <p:cNvSpPr/>
          <p:nvPr/>
        </p:nvSpPr>
        <p:spPr>
          <a:xfrm>
            <a:off x="274320" y="126187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316736"/>
            <a:ext cx="1645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プランナー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88720" y="1719072"/>
            <a:ext cx="914" cy="4315968"/>
          </a:xfrm>
          <a:prstGeom prst="line">
            <a:avLst/>
          </a:prstGeom>
          <a:noFill/>
          <a:ln w="12700">
            <a:solidFill>
              <a:srgbClr val="C9C6BC"/>
            </a:solidFill>
            <a:prstDash val="dash"/>
          </a:ln>
        </p:spPr>
      </p:sp>
      <p:sp>
        <p:nvSpPr>
          <p:cNvPr id="7" name="box:Next.js API"/>
          <p:cNvSpPr/>
          <p:nvPr/>
        </p:nvSpPr>
        <p:spPr>
          <a:xfrm>
            <a:off x="2697480" y="126187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88920" y="1316736"/>
            <a:ext cx="1645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Next.js API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11880" y="1719072"/>
            <a:ext cx="914" cy="4315968"/>
          </a:xfrm>
          <a:prstGeom prst="line">
            <a:avLst/>
          </a:prstGeom>
          <a:noFill/>
          <a:ln w="12700">
            <a:solidFill>
              <a:srgbClr val="C9C6BC"/>
            </a:solidFill>
            <a:prstDash val="dash"/>
          </a:ln>
        </p:spPr>
      </p:sp>
      <p:sp>
        <p:nvSpPr>
          <p:cNvPr id="10" name="box:DB／RPC"/>
          <p:cNvSpPr/>
          <p:nvPr/>
        </p:nvSpPr>
        <p:spPr>
          <a:xfrm>
            <a:off x="5120640" y="126187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1316736"/>
            <a:ext cx="1645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DB／RPC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719072"/>
            <a:ext cx="914" cy="4315968"/>
          </a:xfrm>
          <a:prstGeom prst="line">
            <a:avLst/>
          </a:prstGeom>
          <a:noFill/>
          <a:ln w="12700">
            <a:solidFill>
              <a:srgbClr val="C9C6BC"/>
            </a:solidFill>
            <a:prstDash val="dash"/>
          </a:ln>
        </p:spPr>
      </p:sp>
      <p:sp>
        <p:nvSpPr>
          <p:cNvPr id="13" name="box:Auth／通知"/>
          <p:cNvSpPr/>
          <p:nvPr/>
        </p:nvSpPr>
        <p:spPr>
          <a:xfrm>
            <a:off x="7543800" y="126187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35240" y="1316736"/>
            <a:ext cx="1645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Auth／通知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458200" y="1719072"/>
            <a:ext cx="914" cy="4315968"/>
          </a:xfrm>
          <a:prstGeom prst="line">
            <a:avLst/>
          </a:prstGeom>
          <a:noFill/>
          <a:ln w="12700">
            <a:solidFill>
              <a:srgbClr val="C9C6BC"/>
            </a:solidFill>
            <a:prstDash val="dash"/>
          </a:ln>
        </p:spPr>
      </p:sp>
      <p:sp>
        <p:nvSpPr>
          <p:cNvPr id="16" name="box:新郎新婦"/>
          <p:cNvSpPr/>
          <p:nvPr/>
        </p:nvSpPr>
        <p:spPr>
          <a:xfrm>
            <a:off x="9966960" y="126187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0" y="1316736"/>
            <a:ext cx="1645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新郎新婦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881360" y="1719072"/>
            <a:ext cx="914" cy="4315968"/>
          </a:xfrm>
          <a:prstGeom prst="line">
            <a:avLst/>
          </a:prstGeom>
          <a:noFill/>
          <a:ln w="12700">
            <a:solidFill>
              <a:srgbClr val="C9C6B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188720" y="2029968"/>
            <a:ext cx="2423160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1261872" y="17830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案件を入力（POST /api/cases）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11880" y="2359152"/>
            <a:ext cx="2423160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3685032" y="211226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create_wedding_case：案件・招待2件・履歴をまとめて登録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 flipH="1">
            <a:off x="3611880" y="2688336"/>
            <a:ext cx="2423160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3685032" y="24414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IDを返す（招待URLは1回だけ表示）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188720" y="3017520"/>
            <a:ext cx="2423160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1261872" y="27706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別の操作で宿題を割り当て・招待を送る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11880" y="3346704"/>
            <a:ext cx="4846320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3685032" y="309981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通知を送る（未設定・失敗は記録して区別）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 flipH="1">
            <a:off x="3611880" y="3675888"/>
            <a:ext cx="7269480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3685032" y="34290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招待URLから初回登録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11880" y="4005072"/>
            <a:ext cx="2423160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3685032" y="375818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consume_invitation：期限・回数・取り消しを確認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11880" y="4334256"/>
            <a:ext cx="4846320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3685032" y="4087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Authを作成（失敗したらrestore_invitation）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 flipH="1">
            <a:off x="3611880" y="4663440"/>
            <a:ext cx="7269480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3685032" y="44165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宿題を提出（ファイルは先にStorageへ）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11880" y="4992624"/>
            <a:ext cx="2423160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3685032" y="474573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submit_task_atomic：最新の提出を更新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188720" y="5321808"/>
            <a:ext cx="2423160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1261872" y="50749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 または 不備コメント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11880" y="5650992"/>
            <a:ext cx="2423160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3685032" y="540410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review_submission：古い提出でないか確認し更新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05332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不備のときは新郎新婦が再提出する。AIの案は補助だけで、提出・確認・通知を自動では確定しない。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A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　宿題・提出の状態の変わり方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786384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宿題＝新郎新婦がプランナーに提出するもの（ゲスト名簿、席次表、アレルギー情報など）。</a:t>
            </a:r>
            <a:endParaRPr lang="en-US" sz="1300" dirty="0"/>
          </a:p>
        </p:txBody>
      </p:sp>
      <p:sp>
        <p:nvSpPr>
          <p:cNvPr id="4" name="box:未着手"/>
          <p:cNvSpPr/>
          <p:nvPr/>
        </p:nvSpPr>
        <p:spPr>
          <a:xfrm>
            <a:off x="457200" y="13716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2646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未着手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まだ提出していない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（not_started）</a:t>
            </a:r>
            <a:endParaRPr lang="en-US" sz="1500" dirty="0"/>
          </a:p>
        </p:txBody>
      </p:sp>
      <p:sp>
        <p:nvSpPr>
          <p:cNvPr id="6" name="box:確認待ち"/>
          <p:cNvSpPr/>
          <p:nvPr/>
        </p:nvSpPr>
        <p:spPr>
          <a:xfrm>
            <a:off x="4494276" y="13716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85716" y="142646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確認待ち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提出済み、プランナーの確認待ち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（submitted）</a:t>
            </a:r>
            <a:endParaRPr lang="en-US" sz="1500" dirty="0"/>
          </a:p>
        </p:txBody>
      </p:sp>
      <p:sp>
        <p:nvSpPr>
          <p:cNvPr id="8" name="box:確認済み"/>
          <p:cNvSpPr/>
          <p:nvPr/>
        </p:nvSpPr>
        <p:spPr>
          <a:xfrm>
            <a:off x="8531352" y="13716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22792" y="142646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確認済み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プランナーがOKを出した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（confirmed）</a:t>
            </a:r>
            <a:endParaRPr lang="en-US" sz="1500" dirty="0"/>
          </a:p>
        </p:txBody>
      </p:sp>
      <p:sp>
        <p:nvSpPr>
          <p:cNvPr id="10" name="box:不備あり"/>
          <p:cNvSpPr/>
          <p:nvPr/>
        </p:nvSpPr>
        <p:spPr>
          <a:xfrm>
            <a:off x="4494276" y="310896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5716" y="316382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不備あり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不備コメントを見て直して再提出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（needs_fix）</a:t>
            </a:r>
            <a:endParaRPr lang="en-US" sz="1500" dirty="0"/>
          </a:p>
        </p:txBody>
      </p:sp>
      <p:sp>
        <p:nvSpPr>
          <p:cNvPr id="12" name="box:対応不要"/>
          <p:cNvSpPr/>
          <p:nvPr/>
        </p:nvSpPr>
        <p:spPr>
          <a:xfrm>
            <a:off x="457200" y="48463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90118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対応不要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プラン変更などで不要になった宿題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（waived）</a:t>
            </a:r>
            <a:endParaRPr lang="en-US" sz="1500" dirty="0"/>
          </a:p>
        </p:txBody>
      </p:sp>
      <p:sp>
        <p:nvSpPr>
          <p:cNvPr id="14" name="box:提出を促す通知"/>
          <p:cNvSpPr/>
          <p:nvPr/>
        </p:nvSpPr>
        <p:spPr>
          <a:xfrm>
            <a:off x="1024128" y="3108960"/>
            <a:ext cx="2633472" cy="1097280"/>
          </a:xfrm>
          <a:prstGeom prst="roundRect">
            <a:avLst>
              <a:gd name="adj" fmla="val 6667"/>
            </a:avLst>
          </a:prstGeom>
          <a:solidFill>
            <a:srgbClr val="FBEAF0"/>
          </a:solidFill>
          <a:ln w="15875">
            <a:solidFill>
              <a:srgbClr val="E4B8C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15568" y="3163824"/>
            <a:ext cx="245059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提出を促す通知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期限7日前：期限のご案内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（アプリ内）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期限切れ：ご確認のお願い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（LINE、送れなければメール）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0" y="1920240"/>
            <a:ext cx="836676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657600" y="1353312"/>
            <a:ext cx="8366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94676" y="1920240"/>
            <a:ext cx="836676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7694676" y="1353312"/>
            <a:ext cx="8366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82996" y="2468880"/>
            <a:ext cx="914" cy="640080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677156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V="1">
            <a:off x="6505956" y="2468880"/>
            <a:ext cx="914" cy="640080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6597396" y="2468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再提出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flipV="1">
            <a:off x="2340864" y="2468880"/>
            <a:ext cx="914" cy="640080"/>
          </a:xfrm>
          <a:prstGeom prst="line">
            <a:avLst/>
          </a:prstGeom>
          <a:noFill/>
          <a:ln w="22225">
            <a:solidFill>
              <a:srgbClr val="993556"/>
            </a:solidFill>
            <a:prstDash val="dash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657600" y="3657600"/>
            <a:ext cx="836676" cy="914"/>
          </a:xfrm>
          <a:prstGeom prst="line">
            <a:avLst/>
          </a:prstGeom>
          <a:noFill/>
          <a:ln w="22225">
            <a:solidFill>
              <a:srgbClr val="993556"/>
            </a:solidFill>
            <a:prstDash val="dash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2432304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催促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" y="2468880"/>
            <a:ext cx="914" cy="2377440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841248" y="2468880"/>
            <a:ext cx="914" cy="2377440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3794760" y="489204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左端の2本：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↓ 対応不要にする／↑ 解除して未着手に戻す（スタッフの操作。未着手の宿題だけ）</a:t>
            </a:r>
            <a:endParaRPr lang="en-US" sz="1100" dirty="0"/>
          </a:p>
        </p:txBody>
      </p:sp>
      <p:sp>
        <p:nvSpPr>
          <p:cNvPr id="30" name="box:一時保存（下書き）"/>
          <p:cNvSpPr/>
          <p:nvPr/>
        </p:nvSpPr>
        <p:spPr>
          <a:xfrm>
            <a:off x="8531352" y="310896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22792" y="316382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一時保存（下書き）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本人ごとに保存できる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相手の提出を邪魔しない</a:t>
            </a:r>
            <a:endParaRPr lang="en-US" sz="1500" dirty="0"/>
          </a:p>
        </p:txBody>
      </p:sp>
      <p:sp>
        <p:nvSpPr>
          <p:cNvPr id="32" name="box:提出の記録"/>
          <p:cNvSpPr/>
          <p:nvPr/>
        </p:nvSpPr>
        <p:spPr>
          <a:xfrm>
            <a:off x="8531352" y="48463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22792" y="490118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提出の記録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提出するたびに1回目・2回目…と残す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同時に出しても最新が混ざらない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0131552" y="4206240"/>
            <a:ext cx="914" cy="640080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10222992" y="4206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提出として確定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05332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古い提出を「確認」しようとしたときは、もっと新しい提出があるので止める（409）。状態はDB（RPC）で確定し、画面だけでは変えない。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A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　招待URLの状態と、利用者の状態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786384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上：招待URLが使えるかどうか／下：利用者のアカウントの状態（別の話なので枠を分ける）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1548872" cy="2514600"/>
          </a:xfrm>
          <a:prstGeom prst="roundRect">
            <a:avLst>
              <a:gd name="adj" fmla="val 2182"/>
            </a:avLst>
          </a:prstGeom>
          <a:solidFill>
            <a:srgbClr val="F6F4EF"/>
          </a:solidFill>
          <a:ln w="12700">
            <a:solidFill>
              <a:srgbClr val="C9C6BC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招待URLの状態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3794760"/>
            <a:ext cx="11548872" cy="2587752"/>
          </a:xfrm>
          <a:prstGeom prst="roundRect">
            <a:avLst>
              <a:gd name="adj" fmla="val 2120"/>
            </a:avLst>
          </a:prstGeom>
          <a:solidFill>
            <a:srgbClr val="F6F4EF"/>
          </a:solidFill>
          <a:ln w="12700">
            <a:solidFill>
              <a:srgbClr val="C9C6BC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45720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利用者の状態</a:t>
            </a:r>
            <a:endParaRPr lang="en-US" sz="1200" dirty="0"/>
          </a:p>
        </p:txBody>
      </p:sp>
      <p:sp>
        <p:nvSpPr>
          <p:cNvPr id="8" name="box:招待を発行"/>
          <p:cNvSpPr/>
          <p:nvPr/>
        </p:nvSpPr>
        <p:spPr>
          <a:xfrm>
            <a:off x="457200" y="150876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563624"/>
            <a:ext cx="301752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招待を発行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URLは発行したときに1回だけ表示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（DBには元に戻せないハッシュ値だけ保存）</a:t>
            </a:r>
            <a:endParaRPr lang="en-US" sz="1500" dirty="0"/>
          </a:p>
        </p:txBody>
      </p:sp>
      <p:sp>
        <p:nvSpPr>
          <p:cNvPr id="10" name="box:使えるか確認"/>
          <p:cNvSpPr/>
          <p:nvPr/>
        </p:nvSpPr>
        <p:spPr>
          <a:xfrm>
            <a:off x="4494276" y="150876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5716" y="1563624"/>
            <a:ext cx="301752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使えるか確認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期限・使用回数・取り消しを確認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（consume_invitation）</a:t>
            </a:r>
            <a:endParaRPr lang="en-US" sz="1500" dirty="0"/>
          </a:p>
        </p:txBody>
      </p:sp>
      <p:sp>
        <p:nvSpPr>
          <p:cNvPr id="12" name="box:登録して使用済みに"/>
          <p:cNvSpPr/>
          <p:nvPr/>
        </p:nvSpPr>
        <p:spPr>
          <a:xfrm>
            <a:off x="8531352" y="150876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22792" y="1563624"/>
            <a:ext cx="301752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登録して使用済みに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アカウントを作成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失敗したら招待を元に戻す</a:t>
            </a:r>
            <a:endParaRPr lang="en-US" sz="1500" dirty="0"/>
          </a:p>
        </p:txBody>
      </p:sp>
      <p:sp>
        <p:nvSpPr>
          <p:cNvPr id="14" name="box:期限切れ・取り消し・上限"/>
          <p:cNvSpPr/>
          <p:nvPr/>
        </p:nvSpPr>
        <p:spPr>
          <a:xfrm>
            <a:off x="457200" y="2724912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779776"/>
            <a:ext cx="301752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期限切れ・取り消し・上限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使えない。K02で再発行する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（古いURLは使えるように戻さない）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0" y="1943100"/>
            <a:ext cx="836676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657600" y="1376172"/>
            <a:ext cx="8366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URLを開く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94676" y="1943100"/>
            <a:ext cx="836676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7694676" y="1376172"/>
            <a:ext cx="8366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条件に合う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57400" y="2377440"/>
            <a:ext cx="914" cy="347472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2148840" y="2377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時間切れ・取り消し</a:t>
            </a:r>
            <a:endParaRPr lang="en-US" sz="1100" dirty="0"/>
          </a:p>
        </p:txBody>
      </p:sp>
      <p:sp>
        <p:nvSpPr>
          <p:cNvPr id="22" name="box:管理者がスタッフを追加"/>
          <p:cNvSpPr/>
          <p:nvPr/>
        </p:nvSpPr>
        <p:spPr>
          <a:xfrm>
            <a:off x="457200" y="411480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169664"/>
            <a:ext cx="301752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管理者がスタッフを追加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プランナーなどを登録する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（式場の登録時はシステム管理者が追加）</a:t>
            </a:r>
            <a:endParaRPr lang="en-US" sz="1500" dirty="0"/>
          </a:p>
        </p:txBody>
      </p:sp>
      <p:sp>
        <p:nvSpPr>
          <p:cNvPr id="24" name="box:invited（招待中）"/>
          <p:cNvSpPr/>
          <p:nvPr/>
        </p:nvSpPr>
        <p:spPr>
          <a:xfrm>
            <a:off x="4494276" y="411480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85716" y="4169664"/>
            <a:ext cx="301752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invited（招待中）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初回パスワード設定待ち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まだ業務の操作はできない</a:t>
            </a:r>
            <a:endParaRPr lang="en-US" sz="1500" dirty="0"/>
          </a:p>
        </p:txBody>
      </p:sp>
      <p:sp>
        <p:nvSpPr>
          <p:cNvPr id="26" name="box:active（利用中）"/>
          <p:cNvSpPr/>
          <p:nvPr/>
        </p:nvSpPr>
        <p:spPr>
          <a:xfrm>
            <a:off x="8531352" y="411480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22792" y="4169664"/>
            <a:ext cx="301752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active（利用中）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業務の操作ができる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式場・案件の範囲はRLSで制限</a:t>
            </a:r>
            <a:endParaRPr lang="en-US" sz="1500" dirty="0"/>
          </a:p>
        </p:txBody>
      </p:sp>
      <p:sp>
        <p:nvSpPr>
          <p:cNvPr id="28" name="box:suspended（停止中）"/>
          <p:cNvSpPr/>
          <p:nvPr/>
        </p:nvSpPr>
        <p:spPr>
          <a:xfrm>
            <a:off x="8531352" y="534924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22792" y="5404104"/>
            <a:ext cx="301752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suspended（停止中）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管理者が停止・復帰する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担当の引き継ぎを確認</a:t>
            </a:r>
            <a:endParaRPr lang="en-US" sz="1500" dirty="0"/>
          </a:p>
        </p:txBody>
      </p:sp>
      <p:sp>
        <p:nvSpPr>
          <p:cNvPr id="30" name="box:deleted（削除）"/>
          <p:cNvSpPr/>
          <p:nvPr/>
        </p:nvSpPr>
        <p:spPr>
          <a:xfrm>
            <a:off x="4494276" y="534924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85716" y="5404104"/>
            <a:ext cx="301752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deleted（削除）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データは消さずに削除扱い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招待中・利用中・停止中から削除できる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3657600" y="4549140"/>
            <a:ext cx="836676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3657600" y="3982212"/>
            <a:ext cx="8366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694676" y="4549140"/>
            <a:ext cx="836676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7694676" y="3982212"/>
            <a:ext cx="8366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設定完了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131552" y="2377440"/>
            <a:ext cx="914" cy="1737360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8531352" y="2651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新郎新婦は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そのままactive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720072" y="4983480"/>
            <a:ext cx="914" cy="365760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8714232" y="4983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停止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 flipV="1">
            <a:off x="10543032" y="4983480"/>
            <a:ext cx="914" cy="365760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10634472" y="4983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復帰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 flipH="1">
            <a:off x="7694676" y="5783580"/>
            <a:ext cx="836676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094476" y="4983480"/>
            <a:ext cx="914" cy="365760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H="1">
            <a:off x="7466076" y="4983480"/>
            <a:ext cx="1293876" cy="365760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A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　通知の送り方と、定期処理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786384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LINEの上限はDBで先に確保する。送れなかった通知や未送信を「送信済み」にしない。</a:t>
            </a:r>
            <a:endParaRPr lang="en-US" sz="1300" dirty="0"/>
          </a:p>
        </p:txBody>
      </p:sp>
      <p:sp>
        <p:nvSpPr>
          <p:cNvPr id="4" name="box:送る通知の待ち行列"/>
          <p:cNvSpPr/>
          <p:nvPr/>
        </p:nvSpPr>
        <p:spPr>
          <a:xfrm>
            <a:off x="457200" y="13716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2646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送る通知の待ち行列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新しい通知／毎日の催促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（期限7日前・期限切れ）</a:t>
            </a:r>
            <a:endParaRPr lang="en-US" sz="1500" dirty="0"/>
          </a:p>
        </p:txBody>
      </p:sp>
      <p:sp>
        <p:nvSpPr>
          <p:cNvPr id="6" name="box:送る方法を選ぶ"/>
          <p:cNvSpPr/>
          <p:nvPr/>
        </p:nvSpPr>
        <p:spPr>
          <a:xfrm>
            <a:off x="4494276" y="13716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85716" y="142646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送る方法を選ぶ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LINE連携済み＋重要な通知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（期限切れ・不備）＋上限内ならLINE</a:t>
            </a:r>
            <a:endParaRPr lang="en-US" sz="1500" dirty="0"/>
          </a:p>
        </p:txBody>
      </p:sp>
      <p:sp>
        <p:nvSpPr>
          <p:cNvPr id="8" name="box:LINEで送る"/>
          <p:cNvSpPr/>
          <p:nvPr/>
        </p:nvSpPr>
        <p:spPr>
          <a:xfrm>
            <a:off x="8531352" y="13716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22792" y="142646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LINEで送る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上限の範囲内の重要な通知</a:t>
            </a:r>
            <a:endParaRPr lang="en-US" sz="1500" dirty="0"/>
          </a:p>
        </p:txBody>
      </p:sp>
      <p:sp>
        <p:nvSpPr>
          <p:cNvPr id="10" name="box:メールで送る"/>
          <p:cNvSpPr/>
          <p:nvPr/>
        </p:nvSpPr>
        <p:spPr>
          <a:xfrm>
            <a:off x="4494276" y="310896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5716" y="316382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メールで送る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LINE未連携・上限超え・対象外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（Resendの設定と結果を確認）</a:t>
            </a:r>
            <a:endParaRPr lang="en-US" sz="1500" dirty="0"/>
          </a:p>
        </p:txBody>
      </p:sp>
      <p:sp>
        <p:nvSpPr>
          <p:cNvPr id="12" name="box:送信結果"/>
          <p:cNvSpPr/>
          <p:nvPr/>
        </p:nvSpPr>
        <p:spPr>
          <a:xfrm>
            <a:off x="8531352" y="310896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22792" y="316382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送信結果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成功・失敗を記録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切り替えた理由も残す</a:t>
            </a:r>
            <a:endParaRPr lang="en-US" sz="1500" dirty="0"/>
          </a:p>
        </p:txBody>
      </p:sp>
      <p:sp>
        <p:nvSpPr>
          <p:cNvPr id="14" name="box:定期実行の登録"/>
          <p:cNvSpPr/>
          <p:nvPr/>
        </p:nvSpPr>
        <p:spPr>
          <a:xfrm>
            <a:off x="457200" y="48463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90118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定期実行の登録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pg_cronに登録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アプリのURLが変わったら登録し直す</a:t>
            </a:r>
            <a:endParaRPr lang="en-US" sz="1500" dirty="0"/>
          </a:p>
        </p:txBody>
      </p:sp>
      <p:sp>
        <p:nvSpPr>
          <p:cNvPr id="16" name="box:内部APIの認証"/>
          <p:cNvSpPr/>
          <p:nvPr/>
        </p:nvSpPr>
        <p:spPr>
          <a:xfrm>
            <a:off x="4494276" y="48463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85716" y="490118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内部APIの認証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共有secretが必要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ログイン中の情報は使わない</a:t>
            </a:r>
            <a:endParaRPr lang="en-US" sz="1500" dirty="0"/>
          </a:p>
        </p:txBody>
      </p:sp>
      <p:sp>
        <p:nvSpPr>
          <p:cNvPr id="18" name="box:実行の記録"/>
          <p:cNvSpPr/>
          <p:nvPr/>
        </p:nvSpPr>
        <p:spPr>
          <a:xfrm>
            <a:off x="8531352" y="48463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22792" y="490118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実行の記録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開始・終了・件数・失敗した段階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監視の重複や復旧も管理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0" y="1920240"/>
            <a:ext cx="836676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3657600" y="1353312"/>
            <a:ext cx="8366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外部へ送る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94676" y="1920240"/>
            <a:ext cx="836676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7694676" y="1353312"/>
            <a:ext cx="8366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条件に合う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94476" y="2468880"/>
            <a:ext cx="914" cy="640080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6185916" y="2468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条件に合わない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131552" y="2468880"/>
            <a:ext cx="914" cy="640080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10222992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94676" y="3657600"/>
            <a:ext cx="836676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7694676" y="3090672"/>
            <a:ext cx="8366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0" y="5394960"/>
            <a:ext cx="836676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3657600" y="4828032"/>
            <a:ext cx="8366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定期実行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94676" y="5394960"/>
            <a:ext cx="836676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7694676" y="4828032"/>
            <a:ext cx="8366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 flipH="1" flipV="1">
            <a:off x="3383280" y="2468880"/>
            <a:ext cx="1385316" cy="2377440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54864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毎日、催促の通知を作る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05332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送れなかった通知は記録して、翌日の実行でもう一度送る。LINEの障害のときに無条件でメールを送り直す設計ではない。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A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　AIジョブの流れと、AIが止まったときの動き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786384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AIは補助だけ。出力は人が確認・修正してから業務に使う。</a:t>
            </a:r>
            <a:endParaRPr lang="en-US" sz="1300" dirty="0"/>
          </a:p>
        </p:txBody>
      </p:sp>
      <p:sp>
        <p:nvSpPr>
          <p:cNvPr id="4" name="box:画面／業務の出来事"/>
          <p:cNvSpPr/>
          <p:nvPr/>
        </p:nvSpPr>
        <p:spPr>
          <a:xfrm>
            <a:off x="457200" y="13716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2646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画面／業務の出来事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必要最小限の入力にまとめる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AIの返事を待たせない</a:t>
            </a:r>
            <a:endParaRPr lang="en-US" sz="1500" dirty="0"/>
          </a:p>
        </p:txBody>
      </p:sp>
      <p:sp>
        <p:nvSpPr>
          <p:cNvPr id="6" name="box:順番待ち（queued）"/>
          <p:cNvSpPr/>
          <p:nvPr/>
        </p:nvSpPr>
        <p:spPr>
          <a:xfrm>
            <a:off x="4494276" y="13716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85716" y="142646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順番待ち（queued）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workerが専用の方法で取りに来る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指示文（prompt）はDBの設定を使う</a:t>
            </a:r>
            <a:endParaRPr lang="en-US" sz="1500" dirty="0"/>
          </a:p>
        </p:txBody>
      </p:sp>
      <p:sp>
        <p:nvSpPr>
          <p:cNvPr id="8" name="box:処理中（processing）"/>
          <p:cNvSpPr/>
          <p:nvPr/>
        </p:nvSpPr>
        <p:spPr>
          <a:xfrm>
            <a:off x="8531352" y="13716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22792" y="142646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処理中（processing）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Ollamaで作成し、JSONの形を確認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30秒ごとに取りに行く</a:t>
            </a:r>
            <a:endParaRPr lang="en-US" sz="1500" dirty="0"/>
          </a:p>
        </p:txBody>
      </p:sp>
      <p:sp>
        <p:nvSpPr>
          <p:cNvPr id="10" name="box:止まったジョブを回収"/>
          <p:cNvSpPr/>
          <p:nvPr/>
        </p:nvSpPr>
        <p:spPr>
          <a:xfrm>
            <a:off x="4494276" y="310896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5716" y="316382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止まったジョブを回収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30分を超えた処理中のジョブを回収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3回未満なら順番待ちへ戻す</a:t>
            </a:r>
            <a:endParaRPr lang="en-US" sz="1500" dirty="0"/>
          </a:p>
        </p:txBody>
      </p:sp>
      <p:sp>
        <p:nvSpPr>
          <p:cNvPr id="12" name="box:失敗／AIを使えない"/>
          <p:cNvSpPr/>
          <p:nvPr/>
        </p:nvSpPr>
        <p:spPr>
          <a:xfrm>
            <a:off x="457200" y="310896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16382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失敗／AIを使えない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3回失敗・設定不足などを表示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心拍が10分止まると補助は使えない</a:t>
            </a:r>
            <a:endParaRPr lang="en-US" sz="1500" dirty="0"/>
          </a:p>
        </p:txBody>
      </p:sp>
      <p:sp>
        <p:nvSpPr>
          <p:cNvPr id="14" name="box:完了（done）"/>
          <p:cNvSpPr/>
          <p:nvPr/>
        </p:nvSpPr>
        <p:spPr>
          <a:xfrm>
            <a:off x="8531352" y="310896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22792" y="316382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完了（done）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出力は下書き・候補のまま</a:t>
            </a:r>
            <a:endParaRPr lang="en-US" sz="1500" dirty="0"/>
          </a:p>
        </p:txBody>
      </p:sp>
      <p:sp>
        <p:nvSpPr>
          <p:cNvPr id="16" name="box:人の確認・修正"/>
          <p:cNvSpPr/>
          <p:nvPr/>
        </p:nvSpPr>
        <p:spPr>
          <a:xfrm>
            <a:off x="8531352" y="48463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22792" y="490118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人の確認・修正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分類・文面・準備シート・起票案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自動で送信・承認はしない</a:t>
            </a:r>
            <a:endParaRPr lang="en-US" sz="1500" dirty="0"/>
          </a:p>
        </p:txBody>
      </p:sp>
      <p:sp>
        <p:nvSpPr>
          <p:cNvPr id="18" name="box:採用 または 破棄"/>
          <p:cNvSpPr/>
          <p:nvPr/>
        </p:nvSpPr>
        <p:spPr>
          <a:xfrm>
            <a:off x="4494276" y="48463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85716" y="490118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 または 破棄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採用：業務に反映（confirmed）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破棄：使わない（discarded）</a:t>
            </a:r>
            <a:endParaRPr lang="en-US" sz="1500" dirty="0"/>
          </a:p>
        </p:txBody>
      </p:sp>
      <p:sp>
        <p:nvSpPr>
          <p:cNvPr id="20" name="box:通常の操作を続ける"/>
          <p:cNvSpPr/>
          <p:nvPr/>
        </p:nvSpPr>
        <p:spPr>
          <a:xfrm>
            <a:off x="457200" y="48463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901184"/>
            <a:ext cx="3017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通常の操作を続ける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手入力・確認・提出・通知は使える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AIが止まっても主な流れは止めない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57600" y="1920240"/>
            <a:ext cx="836676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657600" y="1353312"/>
            <a:ext cx="8366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94676" y="1920240"/>
            <a:ext cx="836676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7694676" y="1353312"/>
            <a:ext cx="8366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（ロック）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131552" y="2468880"/>
            <a:ext cx="914" cy="640080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10222992" y="2468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正しい形の出力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flipH="1">
            <a:off x="7420356" y="2468880"/>
            <a:ext cx="1385316" cy="640080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4677156" y="24871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30分を超えた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（出力が正しくない・止まった）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 flipV="1">
            <a:off x="4951476" y="2468880"/>
            <a:ext cx="914" cy="640080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3076956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3回未満：やり直し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 flipH="1">
            <a:off x="3657600" y="3657600"/>
            <a:ext cx="836676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3657600" y="3090672"/>
            <a:ext cx="8366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3回目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206240"/>
            <a:ext cx="914" cy="640080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2148840" y="4206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人の操作に切り替え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131552" y="4206240"/>
            <a:ext cx="914" cy="640080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10222992" y="4206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採用の前に確認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 flipH="1">
            <a:off x="7694676" y="5394960"/>
            <a:ext cx="836676" cy="914"/>
          </a:xfrm>
          <a:prstGeom prst="line">
            <a:avLst/>
          </a:prstGeom>
          <a:noFill/>
          <a:ln w="22225">
            <a:solidFill>
              <a:srgbClr val="6F6D66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7694676" y="4828032"/>
            <a:ext cx="8366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05332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FAQ/RAG、リスケジュール案、引き継ぎサマリー、セット提案、翻訳は条件付きの拡張で、今回は対象外。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A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　ER図／案件と利用者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786384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全33テーブルを5枚に分けたもの。主キー（PK）と、外部キー（FK）がどのテーブルを参照するかを示す。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550408" cy="1422559"/>
          </a:xfrm>
          <a:prstGeom prst="roundRect">
            <a:avLst>
              <a:gd name="adj" fmla="val 3857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353312"/>
            <a:ext cx="5257800" cy="1276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wedding_cases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plan_type_id → plan_types.id  [0..N → 0..1]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primary_planner_id → user_profiles.id  [0..N → 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venue_id → venues.id  [0..N → 1]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817177"/>
            <a:ext cx="5550408" cy="1201817"/>
          </a:xfrm>
          <a:prstGeom prst="roundRect">
            <a:avLst>
              <a:gd name="adj" fmla="val 4565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2890329"/>
            <a:ext cx="5257800" cy="1055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case_invitations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case_id → wedding_cases.id  [0..N → 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invited_by → user_profiles.id  [0..N → 1]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133453"/>
            <a:ext cx="5550408" cy="981075"/>
          </a:xfrm>
          <a:prstGeom prst="roundRect">
            <a:avLst>
              <a:gd name="adj" fmla="val 5592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4206605"/>
            <a:ext cx="5257800" cy="834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plan_types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venue_id → venues.id  [0..N → 1]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5228987"/>
            <a:ext cx="5550408" cy="760333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" y="5302139"/>
            <a:ext cx="5257800" cy="614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venues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(id)／RLS有効／外部キーなし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85916" y="1280160"/>
            <a:ext cx="5550408" cy="1201817"/>
          </a:xfrm>
          <a:prstGeom prst="roundRect">
            <a:avLst>
              <a:gd name="adj" fmla="val 4565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2220" y="1353312"/>
            <a:ext cx="5257800" cy="1055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user_profiles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auth_user_id → auth.users.id  [0..1 → 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venue_id → venues.id  [0..N → 0..1]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85916" y="2596436"/>
            <a:ext cx="5550408" cy="1201817"/>
          </a:xfrm>
          <a:prstGeom prst="roundRect">
            <a:avLst>
              <a:gd name="adj" fmla="val 4565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32220" y="2669588"/>
            <a:ext cx="5257800" cy="1055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couple_profiles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case_id → wedding_cases.id  [0..N → 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user_profile_id → user_profiles.id  [0..1 → 0..1]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85916" y="3912711"/>
            <a:ext cx="5550408" cy="1201817"/>
          </a:xfrm>
          <a:prstGeom prst="roundRect">
            <a:avLst>
              <a:gd name="adj" fmla="val 4565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32220" y="3985863"/>
            <a:ext cx="5257800" cy="1055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case_guests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case_id → wedding_cases.id  [0..N → 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created_by_user_id → user_profiles.id  [0..N → 0..1]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0899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読み方：「列 → 参照先」[子の数 → 親の数]。0..N＝いくつでも、0..1＝0か1、1＝必ず1。式場・案件ごとの見える範囲はRLSで守る。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A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　ER図／宿題と提出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786384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全33テーブルを5枚に分けたもの。主キー（PK）と、外部キー（FK）がどのテーブルを参照するかを示す。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550408" cy="1809830"/>
          </a:xfrm>
          <a:prstGeom prst="roundRect">
            <a:avLst>
              <a:gd name="adj" fmla="val 3031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353312"/>
            <a:ext cx="5257800" cy="1663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case_tasks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assigned_to → user_profiles.id  [0..N → 0..1]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case_id → wedding_cases.id  [0..N → 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confirmed_by → user_profiles.id  [0..N → 0..1]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task_template_id → task_templates.id  [0..N → 0..1]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216048"/>
            <a:ext cx="5550408" cy="1323607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3289200"/>
            <a:ext cx="5257800" cy="1177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plan_task_templates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plan_type_id → plan_types.id  [0..N → 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task_template_id → task_templates.id  [0..N → 1]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665713"/>
            <a:ext cx="5550408" cy="1323607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4738865"/>
            <a:ext cx="5257800" cy="1177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timeline_items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case_id → wedding_cases.id  [0..N → 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related_task_id → case_tasks.id  [0..N → 0..1]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85916" y="1280160"/>
            <a:ext cx="5550408" cy="1809830"/>
          </a:xfrm>
          <a:prstGeom prst="roundRect">
            <a:avLst>
              <a:gd name="adj" fmla="val 3031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32220" y="1353312"/>
            <a:ext cx="5257800" cy="1663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task_submissions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case_task_id → case_tasks.id  [0..N → 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file_id → storage_files.id  [0..N → 0..1]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reviewed_by → user_profiles.id  [0..N → 0..1]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submitted_by → user_profiles.id  [0..N → 1]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85916" y="3216048"/>
            <a:ext cx="5550408" cy="1323607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2220" y="3289200"/>
            <a:ext cx="5257800" cy="1177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storage_files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case_id → wedding_cases.id  [0..N → 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uploaded_by → user_profiles.id  [0..N → 1]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85916" y="4665713"/>
            <a:ext cx="5550408" cy="1080496"/>
          </a:xfrm>
          <a:prstGeom prst="roundRect">
            <a:avLst>
              <a:gd name="adj" fmla="val 5078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32220" y="4738865"/>
            <a:ext cx="5257800" cy="93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task_templates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venue_id → venues.id  [0..N → 1]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0899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読み方：「列 → 参照先」[子の数 → 親の数]。0..N＝いくつでも、0..1＝0か1、1＝必ず1。式場・案件ごとの見える範囲はRLSで守る。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A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　ER図／進行支援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786384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全33テーブルを5枚に分けたもの。主キー（PK）と、外部キー（FK）がどのテーブルを参照するかを示す。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550408" cy="1837944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353312"/>
            <a:ext cx="5257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meeting_sheets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ai_draft_job_id → ai_jobs.id  [0..N → 0..1]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case_id → wedding_cases.id  [0..N → 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generated_by → user_profiles.id  [0..N → 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pdf_file_id → storage_files.id  [0..N → 0..1]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5550408" cy="1344168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3319272"/>
            <a:ext cx="52578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follow_logs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case_id → wedding_cases.id  [0..N → 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planner_id → user_profiles.id  [0..N → 1]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718304"/>
            <a:ext cx="555040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4791456"/>
            <a:ext cx="5257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risk_rules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venue_id → venues.id  [0..N → 0..1]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85916" y="1280160"/>
            <a:ext cx="5550408" cy="1344168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32220" y="1353312"/>
            <a:ext cx="52578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risk_score_snapshots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case_id → wedding_cases.id  [0..N → 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risk_rule_id → risk_rules.id  [0..N → 0..1]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85916" y="2752344"/>
            <a:ext cx="5550408" cy="1344168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2220" y="2825496"/>
            <a:ext cx="52578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communication_logs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case_id → wedding_cases.id  [0..N → 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created_by → user_profiles.id  [0..N → 0..1]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85916" y="4224528"/>
            <a:ext cx="5550408" cy="1344168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32220" y="4297680"/>
            <a:ext cx="52578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meeting_notes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case_id → wedding_cases.id  [0..N → 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created_by → user_profiles.id  [0..N → 1]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0899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読み方：「列 → 参照先」[子の数 → 親の数]。0..N＝いくつでも、0..1＝0か1、1＝必ず1。式場・案件ごとの見える範囲はRLSで守る。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A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　ER図／通知とLINE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786384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全33テーブルを5枚に分けたもの。主キー（PK）と、外部キー（FK）がどのテーブルを参照するかを示す。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550408" cy="1837944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353312"/>
            <a:ext cx="5257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notifications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case_id → wedding_cases.id  [0..N → 0..1]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created_by → user_profiles.id  [0..N → 0..1]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recipient_user_id → user_profiles.id  [0..N → 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venue_id → venues.id  [0..N → 1]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555040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3319272"/>
            <a:ext cx="5257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line_link_nonces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user_profile_id → user_profiles.id  [0..N → 1]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471416"/>
            <a:ext cx="5550408" cy="850392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4544568"/>
            <a:ext cx="5257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line_webhook_events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(event_id)／RLS有効／外部キーなし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85916" y="1280160"/>
            <a:ext cx="555040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32220" y="1353312"/>
            <a:ext cx="5257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notification_logs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notification_id → notifications.id  [0..N → 1]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85916" y="2505456"/>
            <a:ext cx="555040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2220" y="2578608"/>
            <a:ext cx="5257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notification_settings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venue_id → venues.id  [0..N → 0..1]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85916" y="3730752"/>
            <a:ext cx="5550408" cy="850392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32220" y="3803904"/>
            <a:ext cx="5257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notification_quota_counters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(id)／RLS有効／外部キーなし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0899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読み方：「列 → 参照先」[子の数 → 親の数]。0..N＝いくつでも、0..1＝0か1、1＝必ず1。式場・案件ごとの見える範囲はRLSで守る。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A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　ER図／AIと運用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786384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全33テーブルを5枚に分けたもの。主キー（PK）と、外部キー（FK）がどのテーブルを参照するかを示す。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550408" cy="1955717"/>
          </a:xfrm>
          <a:prstGeom prst="roundRect">
            <a:avLst>
              <a:gd name="adj" fmla="val 2805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353312"/>
            <a:ext cx="5257800" cy="1809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ai_jobs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case_id → wedding_cases.id  [0..N → 0..1]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confirmed_by → user_profiles.id  [0..N → 0..1]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prompt_template_id → ai_prompt_templates.id  [0..N → 0..1]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related_task_id → case_tasks.id  [0..N → 0..1]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venue_id → venues.id  [0..N → 1]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355965"/>
            <a:ext cx="5550408" cy="797727"/>
          </a:xfrm>
          <a:prstGeom prst="roundRect">
            <a:avLst>
              <a:gd name="adj" fmla="val 6878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3429117"/>
            <a:ext cx="5257800" cy="651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ai_worker_heartbeats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(worker_name)／RLS有効／外部キーなし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273779"/>
            <a:ext cx="5550408" cy="797727"/>
          </a:xfrm>
          <a:prstGeom prst="roundRect">
            <a:avLst>
              <a:gd name="adj" fmla="val 6878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4346931"/>
            <a:ext cx="5257800" cy="651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batch_runs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(id)／RLS有効／外部キーなし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5191593"/>
            <a:ext cx="5550408" cy="797727"/>
          </a:xfrm>
          <a:prstGeom prst="roundRect">
            <a:avLst>
              <a:gd name="adj" fmla="val 6878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" y="5264745"/>
            <a:ext cx="5257800" cy="651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system_alerts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(alert_key)／RLS有効／外部キーなし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85916" y="1280160"/>
            <a:ext cx="5550408" cy="1029325"/>
          </a:xfrm>
          <a:prstGeom prst="roundRect">
            <a:avLst>
              <a:gd name="adj" fmla="val 5330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2220" y="1353312"/>
            <a:ext cx="5257800" cy="88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ai_prompt_templates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venue_id → venues.id  [0..N → 0..1]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85916" y="2429572"/>
            <a:ext cx="5550408" cy="1029325"/>
          </a:xfrm>
          <a:prstGeom prst="roundRect">
            <a:avLst>
              <a:gd name="adj" fmla="val 5330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32220" y="2502724"/>
            <a:ext cx="5257800" cy="88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audit_logs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actor_user_id → user_profiles.id  [0..N → 0..1]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85916" y="3578985"/>
            <a:ext cx="5550408" cy="797727"/>
          </a:xfrm>
          <a:prstGeom prst="roundRect">
            <a:avLst>
              <a:gd name="adj" fmla="val 6878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32220" y="3652137"/>
            <a:ext cx="5257800" cy="651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auth_rate_limits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(id)／RLS有効／外部キーなし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85916" y="4496799"/>
            <a:ext cx="5550408" cy="797727"/>
          </a:xfrm>
          <a:prstGeom prst="roundRect">
            <a:avLst>
              <a:gd name="adj" fmla="val 6878"/>
            </a:avLst>
          </a:prstGeom>
          <a:solidFill>
            <a:srgbClr val="FFFFFF"/>
          </a:solidFill>
          <a:ln w="15875">
            <a:solidFill>
              <a:srgbClr val="C9C6B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32220" y="4569951"/>
            <a:ext cx="5257800" cy="651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usage_snapshots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 (measured_on)／RLS有効／外部キーなし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0899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読み方：「列 → 参照先」[子の数 → 親の数]。0..N＝いくつでも、0..1＝0か1、1＝必ず1。式場・案件ごとの見える範囲はRLSで守る。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A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直した点（Issue #50のレビューを反映）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786384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元の図からの変更。図の担当者の確認用。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見やすさ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矢印のラベルを線の途中・横に移し、矢印の先（三角）が隠れないようにした（図01・06・07）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矢印のラベルを11ptに大きくした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枠の中の文字を中央揃えにした（図01・03〜07）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図02の役割別の枠は、文字を上に詰めた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ER図（図08〜12）の文字を大きくした（約8pt → 13.5pt）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図05は「招待URL」と「利用者」の枠を分けた</a:t>
            </a:r>
            <a:endParaRPr lang="en-US" sz="1500" dirty="0"/>
          </a:p>
          <a:p>
            <a:pPr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用語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「不可視404」→「対象がない、または見る権限がない → 404」（図02）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「宿題」の説明を追加。状態名は日本語を主にした（図04）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「免除」→ 画面と同じ「対応不要」（図04）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9935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内容（実装に合わせた）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図01：pg_cronの矢印をNext.jsの内部APIへ。GitHub Actionsは死活確認だけ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図02：権限不足は「役割ごとのホーム画面へ戻す」と明記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図04：期限前・期限切れの「提出を促す通知」を追加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図04：「対応不要を解除 → 未着手」の矢印を追加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図05：「管理者がスタッフを追加 → invited」「新郎新婦はそのままactive」を追加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図05：招待URLは「ハッシュ値だけ保存」と明記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図05：「停止 → 復帰」の矢印と、招待中・停止中からの削除を追加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図06：内部APIが毎日の催促通知を作る矢印を追加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図07：回収の矢印を「処理中が30分を超えたとき」に修正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図07：「3回未満でやり直し」「採用／破棄」を追加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A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にこまる 詳細設計図（レビュー反映版）</dc:title>
  <dc:subject>PptxGenJS Presentation</dc:subject>
  <dc:creator>PptxGenJS</dc:creator>
  <cp:lastModifiedBy>PptxGenJS</cp:lastModifiedBy>
  <cp:revision>1</cp:revision>
  <dcterms:created xsi:type="dcterms:W3CDTF">2026-10-23T05:13:39Z</dcterms:created>
  <dcterms:modified xsi:type="dcterms:W3CDTF">2026-10-23T05:13:39Z</dcterms:modified>
</cp:coreProperties>
</file>