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発表" id="{ef3f61a6-2a98-253e-afae-940d920959e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これから、私たちのグループが開発している「結婚式準備の進行管理アプリ」について、中間発表を行います。よろしくお願いします。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まず、開発の経緯です。</a:t>
            </a:r>
          </a:p>
          <a:p>
            <a:r>
              <a:t>私たちの学校では、授業の一環として、さまざまな業界のDX化に取り組んでいます。</a:t>
            </a:r>
          </a:p>
          <a:p>
            <a:r>
              <a:t>その中で私たちのグループは、元ブライダル業界の方にアポイントを取り、実際の現場の声を直接伺いました。</a:t>
            </a:r>
          </a:p>
          <a:p>
            <a:r>
              <a:t>そこで聞いた様々な問題を、この授業を通して解決したい、という思いから開発を始めました。</a:t>
            </a:r>
          </a:p>
          <a:p/>
          <a:p>
            <a:r>
              <a:t>【スライドから省いた詳細】授業の一環で、さまざまな業界のDX化に取り組むことになった。元ブライダル業界の方にアポイントを取り、現場の生の声を伺った。伺った様々な問題を、授業を通して解決するために開発をスタート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次に、システムの内容です。</a:t>
            </a:r>
          </a:p>
          <a:p>
            <a:r>
              <a:t>一言でいうと、「LINEやメールの招待URLから始められる、結婚式準備の進行管理アプリ」です。主な機能は6つあります。</a:t>
            </a:r>
          </a:p>
          <a:p/>
          <a:p>
            <a:r>
              <a:t>1つ目は、招待URLでの簡単登録です。プランナーが案件を登録すると、宿題の割り当てと準備のタイムラインが自動で作られます。新郎新婦は、招待URLを開くだけで使い始められます。</a:t>
            </a:r>
          </a:p>
          <a:p/>
          <a:p>
            <a:r>
              <a:t>2つ目は、宿題・提出物の管理です。新郎新婦がスマホから宿題を提出し、プランナーが「確認済」か「不備あり」を付けて、進捗を管理します。</a:t>
            </a:r>
          </a:p>
          <a:p/>
          <a:p>
            <a:r>
              <a:t>3つ目は、遅延リスクの可視化です。未提出や、連絡が途絶えたカップルを、ルールで自動的に判定し、根拠つきでダッシュボードに表示します。なお、新郎新婦にはスコアを見せず、「次にやること」として伝えます。</a:t>
            </a:r>
          </a:p>
          <a:p/>
          <a:p>
            <a:r>
              <a:t>4つ目は、LINEとメールの自動通知です。重要な連絡だけをLINEで送り、LINEの無料枠を超えたら、自動でメールに切り替えます。</a:t>
            </a:r>
          </a:p>
          <a:p/>
          <a:p>
            <a:r>
              <a:t>5つ目は、打ち合わせ前の準備シートです。提出状況や連絡履歴を1枚にまとめ、印刷やPDFで出力できます。</a:t>
            </a:r>
          </a:p>
          <a:p/>
          <a:p>
            <a:r>
              <a:t>6つ目は、AI補助です。ローカルLLMを使い、不備チェックや通知文の下書きなどを、個人情報を外部に出さずに行います。AIは下書きまでで、最終的な判断は必ずプランナーが行います。</a:t>
            </a:r>
          </a:p>
          <a:p/>
          <a:p>
            <a:r>
              <a:t>【スライドから省いた詳細】</a:t>
            </a:r>
          </a:p>
          <a:p>
            <a:r>
              <a:t>・招待URL：プランナーが案件を登録すると宿題とタイムラインが自動で完成。新郎新婦はURLを開くだけ。</a:t>
            </a:r>
          </a:p>
          <a:p>
            <a:r>
              <a:t>・宿題・提出物：新郎新婦がスマホから提出し、プランナーが「確認済」「不備あり」を付けて進捗管理。</a:t>
            </a:r>
          </a:p>
          <a:p>
            <a:r>
              <a:t>・遅延リスク：未提出や連絡が途絶えたカップルを自動判定。新郎新婦には「次にやること」だけを伝える。</a:t>
            </a:r>
          </a:p>
          <a:p>
            <a:r>
              <a:t>・自動通知：重要な連絡だけLINEで送信。無料枠を超えたら自動でメールに切り替え。</a:t>
            </a:r>
          </a:p>
          <a:p>
            <a:r>
              <a:t>・準備シート：提出状況や連絡履歴を1枚にまとめ、印刷やPDFでも出力可能。</a:t>
            </a:r>
          </a:p>
          <a:p>
            <a:r>
              <a:t>・AI補助：不備チェックや通知文の下書きを個人情報を外に出さず実行。最終判断はプランナー。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続いて、システムの規模です。</a:t>
            </a:r>
          </a:p>
          <a:p>
            <a:r>
              <a:t>機能は全部で49個。そのうち基本機能が38個、AI拡張が5個含まれています。画面は31画面で、ログイン、マイページ、案件管理、ダッシュボードなど、8つの分類に分かれています。データベースのテーブルは32、APIは約38本、利用者の種類は4つのロールです。開発期間は12ヶ月を想定しています。</a:t>
            </a:r>
          </a:p>
          <a:p/>
          <a:p>
            <a:r>
              <a:t>右側は、設計書に書かれた運用規模の想定です。</a:t>
            </a:r>
          </a:p>
          <a:p>
            <a:r>
              <a:t>登録案件数は300件、年間100組かける3式場です。同時アクセスは30ユーザー。マイページとダッシュボードは、3秒以内に表示します。ファイルは1件5MBまで、1案件あたり合計100MBまでです。LINE通知は、無料枠の月200通程度を前提に、式場全体で月180通までとしています。</a:t>
            </a:r>
          </a:p>
          <a:p/>
          <a:p>
            <a:r>
              <a:t>（画面の内訳：ログイン系4、マイページ6、案件管理5、ダッシュボード5、テンプレート管理3、利用者管理4、通知1、システム管理3）</a:t>
            </a:r>
          </a:p>
          <a:p/>
          <a:p>
            <a:r>
              <a:t>【スライドから省いた詳細】</a:t>
            </a:r>
          </a:p>
          <a:p>
            <a:r>
              <a:t>・機能49個（基本38・AI拡張5を含む）、画面31（8つの分類）、DBテーブル32、APIは約38本（システム内の連携の窓口）、利用者の役割4種類（ロール＝権限の数）、開発期間12ヶ月。</a:t>
            </a:r>
          </a:p>
          <a:p>
            <a:r>
              <a:t>・運用規模の想定（設計書より）：登録案件数300件（年間100組×3式場）、同時アクセス30ユーザー、マイページ・ダッシュボードは3秒以内に表示、ファイルは1件5MBまで・1案件あたり合計100MBまで、LINE通知は無料枠（月200通程度）前提で式場全体で月180通ま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こちらが、これまでの開発スケジュールと実績です。</a:t>
            </a:r>
          </a:p>
          <a:p>
            <a:r>
              <a:t>6月は、業界を選び、バトル発表を行い、業界の方にインタビューをしました。</a:t>
            </a:r>
          </a:p>
          <a:p>
            <a:r>
              <a:t>7月は、要件定義書と基本設計を作成しました。</a:t>
            </a:r>
          </a:p>
          <a:p>
            <a:r>
              <a:t>8月と9月は、夏休みと秋休みです。</a:t>
            </a:r>
          </a:p>
          <a:p>
            <a:r>
              <a:t>10月は、詳細設計を作成し、中間発表で使う部分までの画面とシステムのコーディングを完成させ、このプレゼンテーションを作成しました。</a:t>
            </a:r>
          </a:p>
          <a:p/>
          <a:p>
            <a:r>
              <a:t>【スライドから省いた詳細】</a:t>
            </a:r>
          </a:p>
          <a:p>
            <a:r>
              <a:t>・6月：業界選択、バトル発表、業界人へのインタビュー。</a:t>
            </a:r>
          </a:p>
          <a:p>
            <a:r>
              <a:t>・7月：要件定義書の作成、基本設計の作成。</a:t>
            </a:r>
          </a:p>
          <a:p>
            <a:r>
              <a:t>・8・9月：夏休み＆秋休み。</a:t>
            </a:r>
          </a:p>
          <a:p>
            <a:r>
              <a:t>・10月：詳細設計の作成、中間発表で使う画面・システムのコーディング完成、中間発表のプレゼン資料の作成。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ここからは、実際の画面をお見せしながら、デモンストレーションを行います。（説明時間：約3分）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4400" b="1" dirty="0">
                <a:solidFill>
                  <a:schemeClr val="bg1"/>
                </a:solidFill>
              </a:rPr>
              <a:t>結婚式準備の</a:t>
            </a:r>
            <a:endParaRPr lang="ja-JP" sz="4400" dirty="0"/>
          </a:p>
          <a:p>
            <a:pPr algn="l" indent="0" marL="0">
              <a:buNone/>
            </a:pPr>
            <a:r>
              <a:rPr lang="ja-JP" altLang="en-US" sz="4400" b="1" dirty="0">
                <a:solidFill>
                  <a:schemeClr val="bg1"/>
                </a:solidFill>
              </a:rPr>
              <a:t>進行管理アプリ</a:t>
            </a:r>
            <a:endParaRPr lang="ja-JP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chemeClr val="accent6"/>
                </a:solidFill>
              </a:rPr>
              <a:t>LINE・メールの招待URLから始められる</a:t>
            </a:r>
            <a:endParaRPr lang="ja-JP" sz="2400" dirty="0"/>
          </a:p>
          <a:p>
            <a:pPr algn="l" indent="0" marL="0">
              <a:buNone/>
            </a:pPr>
            <a:r>
              <a:rPr lang="ja-JP" altLang="en-US" sz="2400" dirty="0">
                <a:solidFill>
                  <a:schemeClr val="accent6"/>
                </a:solidFill>
              </a:rPr>
              <a:t>中間発表</a:t>
            </a:r>
            <a:endParaRPr lang="ja-JP" sz="2400" dirty="0"/>
          </a:p>
        </p:txBody>
      </p:sp>
      <p:sp>
        <p:nvSpPr>
          <p:cNvPr id="4" name="リング1"/>
          <p:cNvSpPr/>
          <p:nvPr/>
        </p:nvSpPr>
        <p:spPr>
          <a:xfrm>
            <a:off x="7863840" y="1737360"/>
            <a:ext cx="2926080" cy="2926080"/>
          </a:xfrm>
          <a:prstGeom prst="ellipse">
            <a:avLst/>
          </a:prstGeom>
          <a:ln w="76200">
            <a:solidFill>
              <a:schemeClr val="accent3"/>
            </a:solidFill>
            <a:prstDash val="solid"/>
          </a:ln>
        </p:spPr>
      </p:sp>
      <p:sp>
        <p:nvSpPr>
          <p:cNvPr id="5" name="リング2"/>
          <p:cNvSpPr/>
          <p:nvPr/>
        </p:nvSpPr>
        <p:spPr>
          <a:xfrm>
            <a:off x="9144000" y="2468880"/>
            <a:ext cx="2926080" cy="2926080"/>
          </a:xfrm>
          <a:prstGeom prst="ellipse">
            <a:avLst/>
          </a:prstGeom>
          <a:ln w="762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2"/>
                </a:solidFill>
              </a:rPr>
              <a:t>システム開発の経緯</a:t>
            </a:r>
            <a:endParaRPr lang="ja-JP" sz="3400" dirty="0"/>
          </a:p>
        </p:txBody>
      </p:sp>
      <p:sp>
        <p:nvSpPr>
          <p:cNvPr id="3" name="リード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accent2"/>
                </a:solidFill>
              </a:rPr>
              <a:t>現場の声を聞くところから始まった開発</a:t>
            </a:r>
            <a:endParaRPr lang="ja-JP" sz="2800" dirty="0"/>
          </a:p>
        </p:txBody>
      </p:sp>
      <p:sp>
        <p:nvSpPr>
          <p:cNvPr id="4" name="カード1"/>
          <p:cNvSpPr/>
          <p:nvPr/>
        </p:nvSpPr>
        <p:spPr>
          <a:xfrm>
            <a:off x="548640" y="2103120"/>
            <a:ext cx="3429000" cy="40233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丸1"/>
          <p:cNvSpPr/>
          <p:nvPr/>
        </p:nvSpPr>
        <p:spPr>
          <a:xfrm>
            <a:off x="822959" y="2423160"/>
            <a:ext cx="1188720" cy="11887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授業のテーマ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97479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59" y="3886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chemeClr val="tx2"/>
                </a:solidFill>
              </a:rPr>
              <a:t>授業のテーマ</a:t>
            </a:r>
            <a:endParaRPr lang="ja-JP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59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</a:rPr>
              <a:t>さまざまな業界の
DX化に挑戦</a:t>
            </a:r>
            <a:endParaRPr lang="ja-JP" sz="2400" dirty="0"/>
          </a:p>
        </p:txBody>
      </p:sp>
      <p:sp>
        <p:nvSpPr>
          <p:cNvPr id="9" name="矢印1"/>
          <p:cNvSpPr/>
          <p:nvPr/>
        </p:nvSpPr>
        <p:spPr>
          <a:xfrm>
            <a:off x="4014215" y="3950208"/>
            <a:ext cx="329184" cy="32918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カード2"/>
          <p:cNvSpPr/>
          <p:nvPr/>
        </p:nvSpPr>
        <p:spPr>
          <a:xfrm>
            <a:off x="4379976" y="2103120"/>
            <a:ext cx="3429000" cy="40233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丸2"/>
          <p:cNvSpPr/>
          <p:nvPr/>
        </p:nvSpPr>
        <p:spPr>
          <a:xfrm>
            <a:off x="4654296" y="2423160"/>
            <a:ext cx="1188720" cy="11887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1" descr="現場へのヒアリン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697479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4296" y="3886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chemeClr val="tx2"/>
                </a:solidFill>
              </a:rPr>
              <a:t>現場へのヒアリング</a:t>
            </a:r>
            <a:endParaRPr lang="ja-JP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654296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</a:rPr>
              <a:t>元ブライダル業界の
方に直接取材</a:t>
            </a:r>
            <a:endParaRPr lang="ja-JP" sz="2400" dirty="0"/>
          </a:p>
        </p:txBody>
      </p:sp>
      <p:sp>
        <p:nvSpPr>
          <p:cNvPr id="15" name="矢印2"/>
          <p:cNvSpPr/>
          <p:nvPr/>
        </p:nvSpPr>
        <p:spPr>
          <a:xfrm>
            <a:off x="7845551" y="3950208"/>
            <a:ext cx="329184" cy="32918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カード3"/>
          <p:cNvSpPr/>
          <p:nvPr/>
        </p:nvSpPr>
        <p:spPr>
          <a:xfrm>
            <a:off x="8211312" y="2103120"/>
            <a:ext cx="3429000" cy="40233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丸3"/>
          <p:cNvSpPr/>
          <p:nvPr/>
        </p:nvSpPr>
        <p:spPr>
          <a:xfrm>
            <a:off x="8485632" y="2423160"/>
            <a:ext cx="1188720" cy="11887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2" descr="課題の解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2697479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85632" y="3886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chemeClr val="tx2"/>
                </a:solidFill>
              </a:rPr>
              <a:t>課題の解決</a:t>
            </a:r>
            <a:endParaRPr lang="ja-JP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485632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</a:rPr>
              <a:t>聞いた課題を
開発で解決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2"/>
                </a:solidFill>
              </a:rPr>
              <a:t>システムの内容</a:t>
            </a:r>
            <a:endParaRPr lang="ja-JP" sz="3400" dirty="0"/>
          </a:p>
        </p:txBody>
      </p:sp>
      <p:sp>
        <p:nvSpPr>
          <p:cNvPr id="3" name="キャッチ背景"/>
          <p:cNvSpPr/>
          <p:nvPr/>
        </p:nvSpPr>
        <p:spPr>
          <a:xfrm>
            <a:off x="548640" y="1143000"/>
            <a:ext cx="11091672" cy="73152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キャッチ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bg1"/>
                </a:solidFill>
              </a:rPr>
              <a:t>LINE・メールの招待URLから始められる、結婚式準備の進行管理アプリ</a:t>
            </a:r>
            <a:endParaRPr lang="ja-JP" sz="2400" dirty="0"/>
          </a:p>
        </p:txBody>
      </p:sp>
      <p:sp>
        <p:nvSpPr>
          <p:cNvPr id="5" name="機能カード1"/>
          <p:cNvSpPr/>
          <p:nvPr/>
        </p:nvSpPr>
        <p:spPr>
          <a:xfrm>
            <a:off x="548640" y="2057400"/>
            <a:ext cx="35204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機能丸1"/>
          <p:cNvSpPr/>
          <p:nvPr/>
        </p:nvSpPr>
        <p:spPr>
          <a:xfrm>
            <a:off x="777240" y="22402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mage 0" descr="招待URLで簡単登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2"/>
                </a:solidFill>
              </a:rPr>
              <a:t>招待URLで簡単登録</a:t>
            </a:r>
            <a:endParaRPr lang="ja-JP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</a:rPr>
              <a:t>URLを開くだけで開始</a:t>
            </a:r>
            <a:endParaRPr lang="ja-JP" sz="1800" dirty="0"/>
          </a:p>
        </p:txBody>
      </p:sp>
      <p:sp>
        <p:nvSpPr>
          <p:cNvPr id="10" name="機能カード2"/>
          <p:cNvSpPr/>
          <p:nvPr/>
        </p:nvSpPr>
        <p:spPr>
          <a:xfrm>
            <a:off x="4334255" y="2057400"/>
            <a:ext cx="35204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機能丸2"/>
          <p:cNvSpPr/>
          <p:nvPr/>
        </p:nvSpPr>
        <p:spPr>
          <a:xfrm>
            <a:off x="4562855" y="22402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1" descr="宿題・提出物管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231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62855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2"/>
                </a:solidFill>
              </a:rPr>
              <a:t>宿題・提出物管理</a:t>
            </a:r>
            <a:endParaRPr lang="ja-JP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62855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</a:rPr>
              <a:t>スマホから提出・確認</a:t>
            </a:r>
            <a:endParaRPr lang="ja-JP" sz="1800" dirty="0"/>
          </a:p>
        </p:txBody>
      </p:sp>
      <p:sp>
        <p:nvSpPr>
          <p:cNvPr id="15" name="機能カード3"/>
          <p:cNvSpPr/>
          <p:nvPr/>
        </p:nvSpPr>
        <p:spPr>
          <a:xfrm>
            <a:off x="8119871" y="2057400"/>
            <a:ext cx="35204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機能丸3"/>
          <p:cNvSpPr/>
          <p:nvPr/>
        </p:nvSpPr>
        <p:spPr>
          <a:xfrm>
            <a:off x="8348471" y="22402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mage 2" descr="遅延リスクの可視化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1" y="2423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48471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2"/>
                </a:solidFill>
              </a:rPr>
              <a:t>遅延リスクの可視化</a:t>
            </a:r>
            <a:endParaRPr lang="ja-JP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48471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</a:rPr>
              <a:t>遅れそうな案件を自動判定</a:t>
            </a:r>
            <a:endParaRPr lang="ja-JP" sz="1800" dirty="0"/>
          </a:p>
        </p:txBody>
      </p:sp>
      <p:sp>
        <p:nvSpPr>
          <p:cNvPr id="20" name="機能カード4"/>
          <p:cNvSpPr/>
          <p:nvPr/>
        </p:nvSpPr>
        <p:spPr>
          <a:xfrm>
            <a:off x="548640" y="4251960"/>
            <a:ext cx="35204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機能丸4"/>
          <p:cNvSpPr/>
          <p:nvPr/>
        </p:nvSpPr>
        <p:spPr>
          <a:xfrm>
            <a:off x="777240" y="4434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Image 3" descr="LINE・メール自動通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617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5257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2"/>
                </a:solidFill>
              </a:rPr>
              <a:t>LINE・メール自動通知</a:t>
            </a:r>
            <a:endParaRPr lang="ja-JP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760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</a:rPr>
              <a:t>重要な連絡をLINEで送信</a:t>
            </a:r>
            <a:endParaRPr lang="ja-JP" sz="1800" dirty="0"/>
          </a:p>
        </p:txBody>
      </p:sp>
      <p:sp>
        <p:nvSpPr>
          <p:cNvPr id="25" name="機能カード5"/>
          <p:cNvSpPr/>
          <p:nvPr/>
        </p:nvSpPr>
        <p:spPr>
          <a:xfrm>
            <a:off x="4334255" y="4251960"/>
            <a:ext cx="35204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機能丸5"/>
          <p:cNvSpPr/>
          <p:nvPr/>
        </p:nvSpPr>
        <p:spPr>
          <a:xfrm>
            <a:off x="4562855" y="4434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7" name="Image 4" descr="打ち合わせ前準備シート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6177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62855" y="5257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2"/>
                </a:solidFill>
              </a:rPr>
              <a:t>打ち合わせ前準備シート</a:t>
            </a:r>
            <a:endParaRPr lang="ja-JP" sz="2200" dirty="0"/>
          </a:p>
        </p:txBody>
      </p:sp>
      <p:sp>
        <p:nvSpPr>
          <p:cNvPr id="29" name="Text 22"/>
          <p:cNvSpPr txBox="1"/>
          <p:nvPr/>
        </p:nvSpPr>
        <p:spPr>
          <a:xfrm>
            <a:off x="4562855" y="5760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</a:rPr>
              <a:t>1枚にまとめて印刷・PDF</a:t>
            </a:r>
            <a:endParaRPr lang="ja-JP" sz="1800" dirty="0"/>
          </a:p>
        </p:txBody>
      </p:sp>
      <p:sp>
        <p:nvSpPr>
          <p:cNvPr id="30" name="機能カード6"/>
          <p:cNvSpPr/>
          <p:nvPr/>
        </p:nvSpPr>
        <p:spPr>
          <a:xfrm>
            <a:off x="8119871" y="4251960"/>
            <a:ext cx="35204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機能丸6"/>
          <p:cNvSpPr/>
          <p:nvPr/>
        </p:nvSpPr>
        <p:spPr>
          <a:xfrm>
            <a:off x="8348471" y="443484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2" name="Image 5" descr="AI補助（ローカルLLM）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1" y="461772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48471" y="5257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2"/>
                </a:solidFill>
              </a:rPr>
              <a:t>ローカルLLM補助</a:t>
            </a:r>
            <a:endParaRPr lang="ja-JP" sz="2200" dirty="0"/>
          </a:p>
        </p:txBody>
      </p:sp>
      <p:sp>
        <p:nvSpPr>
          <p:cNvPr id="34" name="Text 26"/>
          <p:cNvSpPr txBox="1"/>
          <p:nvPr/>
        </p:nvSpPr>
        <p:spPr>
          <a:xfrm>
            <a:off x="8348471" y="5760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</a:rPr>
              <a:t>個人情報を外に出さない</a:t>
            </a:r>
            <a:endParaRPr lang="ja-JP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2"/>
                </a:solidFill>
              </a:rPr>
              <a:t>システムの規模</a:t>
            </a:r>
            <a:endParaRPr lang="ja-JP" sz="3400" dirty="0"/>
          </a:p>
        </p:txBody>
      </p:sp>
      <p:sp>
        <p:nvSpPr>
          <p:cNvPr id="3" name="統計カード1"/>
          <p:cNvSpPr/>
          <p:nvPr/>
        </p:nvSpPr>
        <p:spPr>
          <a:xfrm>
            <a:off x="548640" y="1417320"/>
            <a:ext cx="2194560" cy="2286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数字1"/>
          <p:cNvSpPr txBox="1"/>
          <p:nvPr/>
        </p:nvSpPr>
        <p:spPr>
          <a:xfrm>
            <a:off x="73152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tx2"/>
                </a:solidFill>
              </a:rPr>
              <a:t>49</a:t>
            </a:r>
            <a:pPr indent="0" marL="0"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個</a:t>
            </a:r>
            <a:endParaRPr lang="ja-JP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</a:rPr>
              <a:t>機能</a:t>
            </a:r>
            <a:endParaRPr lang="ja-JP" sz="2400" dirty="0"/>
          </a:p>
        </p:txBody>
      </p:sp>
      <p:sp>
        <p:nvSpPr>
          <p:cNvPr id="7" name="統計カード2"/>
          <p:cNvSpPr/>
          <p:nvPr/>
        </p:nvSpPr>
        <p:spPr>
          <a:xfrm>
            <a:off x="2926080" y="1417320"/>
            <a:ext cx="2194560" cy="2286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数字2"/>
          <p:cNvSpPr txBox="1"/>
          <p:nvPr/>
        </p:nvSpPr>
        <p:spPr>
          <a:xfrm>
            <a:off x="310896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tx2"/>
                </a:solidFill>
              </a:rPr>
              <a:t>31</a:t>
            </a:r>
            <a:pPr indent="0" marL="0"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画面</a:t>
            </a:r>
            <a:endParaRPr lang="ja-JP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</a:rPr>
              <a:t>画面</a:t>
            </a:r>
            <a:endParaRPr lang="ja-JP" sz="2400" dirty="0"/>
          </a:p>
        </p:txBody>
      </p:sp>
      <p:sp>
        <p:nvSpPr>
          <p:cNvPr id="11" name="統計カード3"/>
          <p:cNvSpPr/>
          <p:nvPr/>
        </p:nvSpPr>
        <p:spPr>
          <a:xfrm>
            <a:off x="5303520" y="1417320"/>
            <a:ext cx="2194560" cy="2286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数字3"/>
          <p:cNvSpPr txBox="1"/>
          <p:nvPr/>
        </p:nvSpPr>
        <p:spPr>
          <a:xfrm>
            <a:off x="548640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tx2"/>
                </a:solidFill>
              </a:rPr>
              <a:t>32</a:t>
            </a:r>
            <a:pPr indent="0" marL="0"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個</a:t>
            </a:r>
            <a:endParaRPr lang="ja-JP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</a:rPr>
              <a:t>DBテーブル</a:t>
            </a:r>
            <a:endParaRPr lang="ja-JP" sz="2400" dirty="0"/>
          </a:p>
        </p:txBody>
      </p:sp>
      <p:sp>
        <p:nvSpPr>
          <p:cNvPr id="15" name="統計カード4"/>
          <p:cNvSpPr/>
          <p:nvPr/>
        </p:nvSpPr>
        <p:spPr>
          <a:xfrm>
            <a:off x="548640" y="3931920"/>
            <a:ext cx="2194560" cy="2286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数字4"/>
          <p:cNvSpPr txBox="1"/>
          <p:nvPr/>
        </p:nvSpPr>
        <p:spPr>
          <a:xfrm>
            <a:off x="731520" y="4206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約</a:t>
            </a:r>
            <a:pPr indent="0" marL="0">
              <a:buNone/>
            </a:pPr>
            <a:r>
              <a:rPr lang="ja-JP" altLang="en-US" sz="5400" b="1" dirty="0">
                <a:solidFill>
                  <a:schemeClr val="tx2"/>
                </a:solidFill>
              </a:rPr>
              <a:t>38</a:t>
            </a:r>
            <a:pPr indent="0" marL="0"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本</a:t>
            </a:r>
            <a:endParaRPr lang="ja-JP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03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</a:rPr>
              <a:t>API</a:t>
            </a:r>
            <a:endParaRPr lang="ja-JP" sz="2400" dirty="0"/>
          </a:p>
        </p:txBody>
      </p:sp>
      <p:sp>
        <p:nvSpPr>
          <p:cNvPr id="19" name="統計カード5"/>
          <p:cNvSpPr/>
          <p:nvPr/>
        </p:nvSpPr>
        <p:spPr>
          <a:xfrm>
            <a:off x="2926080" y="3931920"/>
            <a:ext cx="2194560" cy="2286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数字5"/>
          <p:cNvSpPr txBox="1"/>
          <p:nvPr/>
        </p:nvSpPr>
        <p:spPr>
          <a:xfrm>
            <a:off x="3108960" y="4206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tx2"/>
                </a:solidFill>
              </a:rPr>
              <a:t>4</a:t>
            </a:r>
            <a:pPr indent="0" marL="0"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種類</a:t>
            </a:r>
            <a:endParaRPr lang="ja-JP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5303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</a:rPr>
              <a:t>利用者の役割</a:t>
            </a:r>
            <a:endParaRPr lang="ja-JP" sz="2200" dirty="0"/>
          </a:p>
        </p:txBody>
      </p:sp>
      <p:sp>
        <p:nvSpPr>
          <p:cNvPr id="23" name="統計カード6"/>
          <p:cNvSpPr/>
          <p:nvPr/>
        </p:nvSpPr>
        <p:spPr>
          <a:xfrm>
            <a:off x="5303520" y="3931920"/>
            <a:ext cx="2194560" cy="2286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数字6"/>
          <p:cNvSpPr txBox="1"/>
          <p:nvPr/>
        </p:nvSpPr>
        <p:spPr>
          <a:xfrm>
            <a:off x="5486400" y="4206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tx2"/>
                </a:solidFill>
              </a:rPr>
              <a:t>12</a:t>
            </a:r>
            <a:pPr indent="0" marL="0"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ヶ月</a:t>
            </a:r>
            <a:endParaRPr lang="ja-JP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5303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</a:rPr>
              <a:t>開発期間</a:t>
            </a:r>
            <a:endParaRPr lang="ja-JP" sz="2400" dirty="0"/>
          </a:p>
        </p:txBody>
      </p:sp>
      <p:sp>
        <p:nvSpPr>
          <p:cNvPr id="26" name="運用想定パネル"/>
          <p:cNvSpPr/>
          <p:nvPr/>
        </p:nvSpPr>
        <p:spPr>
          <a:xfrm>
            <a:off x="7772400" y="1417320"/>
            <a:ext cx="3867912" cy="4846320"/>
          </a:xfrm>
          <a:prstGeom prst="roundRect">
            <a:avLst>
              <a:gd name="adj" fmla="val 2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160020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chemeClr val="bg1"/>
                </a:solidFill>
              </a:rPr>
              <a:t>運用規模の想定</a:t>
            </a:r>
            <a:endParaRPr lang="ja-JP" sz="2600" dirty="0"/>
          </a:p>
        </p:txBody>
      </p:sp>
      <p:sp>
        <p:nvSpPr>
          <p:cNvPr id="29" name="想定1"/>
          <p:cNvSpPr txBox="1"/>
          <p:nvPr/>
        </p:nvSpPr>
        <p:spPr>
          <a:xfrm>
            <a:off x="8046720" y="228600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3"/>
                </a:solidFill>
              </a:rPr>
              <a:t>登録案件数</a:t>
            </a:r>
            <a:endParaRPr lang="ja-JP" sz="1800" dirty="0"/>
          </a:p>
          <a:p>
            <a:pPr indent="0" marL="0">
              <a:buNone/>
            </a:pPr>
            <a:r>
              <a:rPr lang="ja-JP" altLang="en-US" sz="2600" dirty="0">
                <a:solidFill>
                  <a:schemeClr val="bg1"/>
                </a:solidFill>
              </a:rPr>
              <a:t>300件</a:t>
            </a:r>
            <a:endParaRPr lang="ja-JP" sz="2600" dirty="0"/>
          </a:p>
        </p:txBody>
      </p:sp>
      <p:sp>
        <p:nvSpPr>
          <p:cNvPr id="30" name="想定2"/>
          <p:cNvSpPr txBox="1"/>
          <p:nvPr/>
        </p:nvSpPr>
        <p:spPr>
          <a:xfrm>
            <a:off x="8046720" y="306324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3"/>
                </a:solidFill>
              </a:rPr>
              <a:t>同時アクセス</a:t>
            </a:r>
            <a:endParaRPr lang="ja-JP" sz="1800" dirty="0"/>
          </a:p>
          <a:p>
            <a:pPr indent="0" marL="0">
              <a:buNone/>
            </a:pPr>
            <a:r>
              <a:rPr lang="ja-JP" altLang="en-US" sz="2600" dirty="0">
                <a:solidFill>
                  <a:schemeClr val="bg1"/>
                </a:solidFill>
              </a:rPr>
              <a:t>30ユーザー</a:t>
            </a:r>
            <a:endParaRPr lang="ja-JP" sz="2600" dirty="0"/>
          </a:p>
        </p:txBody>
      </p:sp>
      <p:sp>
        <p:nvSpPr>
          <p:cNvPr id="31" name="想定3"/>
          <p:cNvSpPr txBox="1"/>
          <p:nvPr/>
        </p:nvSpPr>
        <p:spPr>
          <a:xfrm>
            <a:off x="8046720" y="384048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3"/>
                </a:solidFill>
              </a:rPr>
              <a:t>画面表示速度</a:t>
            </a:r>
            <a:endParaRPr lang="ja-JP" sz="1800" dirty="0"/>
          </a:p>
          <a:p>
            <a:pPr indent="0" marL="0">
              <a:buNone/>
            </a:pPr>
            <a:r>
              <a:rPr lang="ja-JP" altLang="en-US" sz="2600" dirty="0">
                <a:solidFill>
                  <a:schemeClr val="bg1"/>
                </a:solidFill>
              </a:rPr>
              <a:t>3秒以内</a:t>
            </a:r>
            <a:endParaRPr lang="ja-JP" sz="2600" dirty="0"/>
          </a:p>
        </p:txBody>
      </p:sp>
      <p:sp>
        <p:nvSpPr>
          <p:cNvPr id="32" name="想定4"/>
          <p:cNvSpPr txBox="1"/>
          <p:nvPr/>
        </p:nvSpPr>
        <p:spPr>
          <a:xfrm>
            <a:off x="8046720" y="461772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3"/>
                </a:solidFill>
              </a:rPr>
              <a:t>ファイル容量</a:t>
            </a:r>
            <a:endParaRPr lang="ja-JP" sz="1800" dirty="0"/>
          </a:p>
          <a:p>
            <a:pPr indent="0" marL="0">
              <a:buNone/>
            </a:pPr>
            <a:r>
              <a:rPr lang="ja-JP" altLang="en-US" sz="2600" dirty="0">
                <a:solidFill>
                  <a:schemeClr val="bg1"/>
                </a:solidFill>
              </a:rPr>
              <a:t>1件5MBまで</a:t>
            </a:r>
            <a:endParaRPr lang="ja-JP" sz="2600" dirty="0"/>
          </a:p>
        </p:txBody>
      </p:sp>
      <p:sp>
        <p:nvSpPr>
          <p:cNvPr id="33" name="想定5"/>
          <p:cNvSpPr txBox="1"/>
          <p:nvPr/>
        </p:nvSpPr>
        <p:spPr>
          <a:xfrm>
            <a:off x="8046720" y="539496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3"/>
                </a:solidFill>
              </a:rPr>
              <a:t>LINE通知</a:t>
            </a:r>
            <a:endParaRPr lang="ja-JP" sz="1800" dirty="0"/>
          </a:p>
          <a:p>
            <a:pPr indent="0" marL="0">
              <a:buNone/>
            </a:pPr>
            <a:r>
              <a:rPr lang="ja-JP" altLang="en-US" sz="2600" dirty="0">
                <a:solidFill>
                  <a:schemeClr val="bg1"/>
                </a:solidFill>
              </a:rPr>
              <a:t>月180通まで</a:t>
            </a:r>
            <a:endParaRPr lang="ja-JP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2"/>
                </a:solidFill>
              </a:rPr>
              <a:t>開発スケジュールと実績</a:t>
            </a:r>
            <a:endParaRPr lang="ja-JP" sz="3400" dirty="0"/>
          </a:p>
        </p:txBody>
      </p:sp>
      <p:sp>
        <p:nvSpPr>
          <p:cNvPr id="3" name="月1"/>
          <p:cNvSpPr/>
          <p:nvPr/>
        </p:nvSpPr>
        <p:spPr>
          <a:xfrm>
            <a:off x="548640" y="1737360"/>
            <a:ext cx="2788920" cy="777240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bg1"/>
                </a:solidFill>
              </a:rPr>
              <a:t>6月</a:t>
            </a:r>
            <a:endParaRPr lang="ja-JP" sz="2400" dirty="0"/>
          </a:p>
        </p:txBody>
      </p:sp>
      <p:sp>
        <p:nvSpPr>
          <p:cNvPr id="5" name="予定カード1"/>
          <p:cNvSpPr/>
          <p:nvPr/>
        </p:nvSpPr>
        <p:spPr>
          <a:xfrm>
            <a:off x="548640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予定1"/>
          <p:cNvSpPr txBox="1"/>
          <p:nvPr/>
        </p:nvSpPr>
        <p:spPr>
          <a:xfrm>
            <a:off x="777240" y="31089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業界選択</a:t>
            </a:r>
            <a:endParaRPr lang="ja-JP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バトル発表</a:t>
            </a:r>
            <a:endParaRPr lang="ja-JP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インタビュー</a:t>
            </a:r>
            <a:endParaRPr lang="ja-JP" sz="2400" dirty="0"/>
          </a:p>
        </p:txBody>
      </p:sp>
      <p:sp>
        <p:nvSpPr>
          <p:cNvPr id="7" name="月2"/>
          <p:cNvSpPr/>
          <p:nvPr/>
        </p:nvSpPr>
        <p:spPr>
          <a:xfrm>
            <a:off x="3374136" y="1737360"/>
            <a:ext cx="2788920" cy="777240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48456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bg1"/>
                </a:solidFill>
              </a:rPr>
              <a:t>7月</a:t>
            </a:r>
            <a:endParaRPr lang="ja-JP" sz="2400" dirty="0"/>
          </a:p>
        </p:txBody>
      </p:sp>
      <p:sp>
        <p:nvSpPr>
          <p:cNvPr id="9" name="予定カード2"/>
          <p:cNvSpPr/>
          <p:nvPr/>
        </p:nvSpPr>
        <p:spPr>
          <a:xfrm>
            <a:off x="3374136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予定2"/>
          <p:cNvSpPr txBox="1"/>
          <p:nvPr/>
        </p:nvSpPr>
        <p:spPr>
          <a:xfrm>
            <a:off x="3602736" y="31089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要件定義</a:t>
            </a:r>
            <a:endParaRPr lang="ja-JP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基本設計</a:t>
            </a:r>
            <a:endParaRPr lang="ja-JP" sz="2400" dirty="0"/>
          </a:p>
        </p:txBody>
      </p:sp>
      <p:sp>
        <p:nvSpPr>
          <p:cNvPr id="11" name="月3"/>
          <p:cNvSpPr/>
          <p:nvPr/>
        </p:nvSpPr>
        <p:spPr>
          <a:xfrm>
            <a:off x="6199632" y="1737360"/>
            <a:ext cx="2788920" cy="777240"/>
          </a:xfrm>
          <a:prstGeom prst="homePlat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bg1"/>
                </a:solidFill>
              </a:rPr>
              <a:t>8・9月</a:t>
            </a:r>
            <a:endParaRPr lang="ja-JP" sz="2400" dirty="0"/>
          </a:p>
        </p:txBody>
      </p:sp>
      <p:sp>
        <p:nvSpPr>
          <p:cNvPr id="13" name="予定カード3"/>
          <p:cNvSpPr/>
          <p:nvPr/>
        </p:nvSpPr>
        <p:spPr>
          <a:xfrm>
            <a:off x="6199632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予定3"/>
          <p:cNvSpPr txBox="1"/>
          <p:nvPr/>
        </p:nvSpPr>
        <p:spPr>
          <a:xfrm>
            <a:off x="6428232" y="31089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accent4"/>
                </a:solidFill>
              </a:rPr>
              <a:t>夏・秋休み</a:t>
            </a:r>
            <a:endParaRPr lang="ja-JP" sz="2400" dirty="0"/>
          </a:p>
        </p:txBody>
      </p:sp>
      <p:sp>
        <p:nvSpPr>
          <p:cNvPr id="15" name="月4"/>
          <p:cNvSpPr/>
          <p:nvPr/>
        </p:nvSpPr>
        <p:spPr>
          <a:xfrm>
            <a:off x="9025128" y="1737360"/>
            <a:ext cx="2788920" cy="77724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9448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bg1"/>
                </a:solidFill>
              </a:rPr>
              <a:t>10月</a:t>
            </a:r>
            <a:endParaRPr lang="ja-JP" sz="2400" dirty="0"/>
          </a:p>
        </p:txBody>
      </p:sp>
      <p:sp>
        <p:nvSpPr>
          <p:cNvPr id="17" name="予定カード4"/>
          <p:cNvSpPr/>
          <p:nvPr/>
        </p:nvSpPr>
        <p:spPr>
          <a:xfrm>
            <a:off x="9025128" y="288036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予定4"/>
          <p:cNvSpPr txBox="1"/>
          <p:nvPr/>
        </p:nvSpPr>
        <p:spPr>
          <a:xfrm>
            <a:off x="9253728" y="31089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詳細設計</a:t>
            </a:r>
            <a:endParaRPr lang="ja-JP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コーディング</a:t>
            </a:r>
            <a:endParaRPr lang="ja-JP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400" dirty="0">
                <a:solidFill>
                  <a:schemeClr val="tx1"/>
                </a:solidFill>
              </a:rPr>
              <a:t>発表資料作成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2"/>
                </a:solidFill>
              </a:rPr>
              <a:t>デモンストレーション</a:t>
            </a:r>
            <a:endParaRPr lang="ja-JP" sz="3400" dirty="0"/>
          </a:p>
        </p:txBody>
      </p:sp>
      <p:sp>
        <p:nvSpPr>
          <p:cNvPr id="3" name="スクショ枠"/>
          <p:cNvSpPr/>
          <p:nvPr/>
        </p:nvSpPr>
        <p:spPr>
          <a:xfrm>
            <a:off x="548640" y="1371600"/>
            <a:ext cx="1109167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4" name="枠の説明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400" dirty="0">
                <a:solidFill>
                  <a:schemeClr val="accent4"/>
                </a:solidFill>
              </a:rPr>
              <a:t>デモ画面のスクリーンショットをここに配置（説明時間：約3分）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2"/>
                </a:solidFill>
              </a:rPr>
              <a:t>工夫した点／課題点と改善点</a:t>
            </a:r>
            <a:endParaRPr lang="ja-JP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2"/>
                </a:solidFill>
              </a:rPr>
              <a:t>質疑応答</a:t>
            </a:r>
            <a:endParaRPr lang="ja-JP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dding DX">
  <a:themeElements>
    <a:clrScheme name="Wedding DX">
      <a:dk1>
        <a:srgbClr val="2B1B24"/>
      </a:dk1>
      <a:lt1>
        <a:srgbClr val="FFFFFF"/>
      </a:lt1>
      <a:dk2>
        <a:srgbClr val="6D2E46"/>
      </a:dk2>
      <a:lt2>
        <a:srgbClr val="F8EEF1"/>
      </a:lt2>
      <a:accent1>
        <a:srgbClr val="6D2E46"/>
      </a:accent1>
      <a:accent2>
        <a:srgbClr val="B76E79"/>
      </a:accent2>
      <a:accent3>
        <a:srgbClr val="C9A45C"/>
      </a:accent3>
      <a:accent4>
        <a:srgbClr val="8A8089"/>
      </a:accent4>
      <a:accent5>
        <a:srgbClr val="3F7F78"/>
      </a:accent5>
      <a:accent6>
        <a:srgbClr val="E3C6CD"/>
      </a:accent6>
      <a:hlink>
        <a:srgbClr val="6D2E46"/>
      </a:hlink>
      <a:folHlink>
        <a:srgbClr val="8A8089"/>
      </a:folHlink>
    </a:clrScheme>
    <a:fontScheme name="Wedding DX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結婚式準備の進行管理アプリ 中間発表</dc:title>
  <dc:subject>PptxGenJS Presentation</dc:subject>
  <dc:creator>PptxGenJS</dc:creator>
  <cp:lastModifiedBy>PptxGenJS</cp:lastModifiedBy>
  <cp:revision>1</cp:revision>
  <dcterms:created xsi:type="dcterms:W3CDTF">2026-10-09T02:51:24Z</dcterms:created>
  <dcterms:modified xsi:type="dcterms:W3CDTF">2026-10-09T02:51:24Z</dcterms:modified>
</cp:coreProperties>
</file>